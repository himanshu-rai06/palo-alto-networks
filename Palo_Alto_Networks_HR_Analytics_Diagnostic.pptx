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4.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5.xml" ContentType="application/vnd.openxmlformats-officedocument.drawingml.chart+xml"/>
  <Override PartName="/ppt/charts/chart6.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2A4A"/>
                </a:solidFill>
                <a:latin typeface="Arial"/>
              </a:defRPr>
            </a:pPr>
            <a:r>
              <a:rPr sz="1300" b="0" i="0" u="none" strike="noStrike">
                <a:solidFill>
                  <a:srgbClr val="1B2A4A"/>
                </a:solidFill>
                <a:latin typeface="Arial"/>
              </a:rPr>
              <a:t>Engagement Tier Distribution (%)</a:t>
            </a:r>
          </a:p>
        </c:rich>
      </c:tx>
      <c:layout/>
      <c:overlay val="0"/>
    </c:title>
    <c:autoTitleDeleted val="0"/>
    <c:plotArea>
      <c:layout/>
      <c:doughnutChart>
        <c:varyColors val="1"/>
        <c:ser>
          <c:idx val="0"/>
          <c:order val="0"/>
          <c:tx>
            <c:strRef>
              <c:f>Sheet1!$B$1</c:f>
              <c:strCache>
                <c:ptCount val="1"/>
                <c:pt idx="0">
                  <c:v>Engagement Tier</c:v>
                </c:pt>
              </c:strCache>
            </c:strRef>
          </c:tx>
          <c:spPr>
            <a:solidFill>
              <a:schemeClr val="accent1"/>
            </a:solidFill>
            <a:ln w="9525" cap="flat">
              <a:solidFill>
                <a:srgbClr val="F9F9F9"/>
              </a:solidFill>
              <a:prstDash val="solid"/>
              <a:round/>
            </a:ln>
            <a:effectLst/>
          </c:spPr>
          <c:dPt>
            <c:idx val="0"/>
            <c:bubble3D val="0"/>
            <c:spPr>
              <a:solidFill>
                <a:srgbClr val="3E9C6E"/>
              </a:solidFill>
              <a:effectLst/>
            </c:spPr>
          </c:dPt>
          <c:dPt>
            <c:idx val="1"/>
            <c:bubble3D val="0"/>
            <c:spPr>
              <a:solidFill>
                <a:srgbClr val="E3A23D"/>
              </a:solidFill>
              <a:effectLst/>
            </c:spPr>
          </c:dPt>
          <c:dPt>
            <c:idx val="2"/>
            <c:bubble3D val="0"/>
            <c:spPr>
              <a:solidFill>
                <a:srgbClr val="D6584F"/>
              </a:solidFill>
              <a:effectLst/>
            </c:spPr>
          </c:dPt>
          <c:dLbls>
            <c:dLbl>
              <c:idx val="0"/>
              <c:numFmt formatCode="0&quot;%&quot;" sourceLinked="0"/>
              <c:spPr/>
              <c:txPr>
                <a:bodyPr/>
                <a:lstStyle/>
                <a:p>
                  <a:pPr>
                    <a:defRPr sz="1200" b="0" i="0" u="none" strike="noStrike">
                      <a:solidFill>
                        <a:srgbClr val="FFFFFF"/>
                      </a:solidFill>
                      <a:latin typeface="Arial"/>
                    </a:defRPr>
                  </a:pPr>
                </a:p>
              </c:txPr>
              <c:showLegendKey val="0"/>
              <c:showVal val="1"/>
              <c:showCatName val="0"/>
              <c:showSerName val="0"/>
              <c:showPercent val="0"/>
              <c:showBubbleSize val="0"/>
            </c:dLbl>
            <c:dLbl>
              <c:idx val="1"/>
              <c:numFmt formatCode="0&quot;%&quot;" sourceLinked="0"/>
              <c:spPr/>
              <c:txPr>
                <a:bodyPr/>
                <a:lstStyle/>
                <a:p>
                  <a:pPr>
                    <a:defRPr sz="1200" b="0" i="0" u="none" strike="noStrike">
                      <a:solidFill>
                        <a:srgbClr val="FFFFFF"/>
                      </a:solidFill>
                      <a:latin typeface="Arial"/>
                    </a:defRPr>
                  </a:pPr>
                </a:p>
              </c:txPr>
              <c:showLegendKey val="0"/>
              <c:showVal val="1"/>
              <c:showCatName val="0"/>
              <c:showSerName val="0"/>
              <c:showPercent val="0"/>
              <c:showBubbleSize val="0"/>
            </c:dLbl>
            <c:dLbl>
              <c:idx val="2"/>
              <c:numFmt formatCode="0&quot;%&quot;" sourceLinked="0"/>
              <c:spPr/>
              <c:txPr>
                <a:bodyPr/>
                <a:lstStyle/>
                <a:p>
                  <a:pPr>
                    <a:defRPr sz="1200" b="0" i="0" u="none" strike="noStrike">
                      <a:solidFill>
                        <a:srgbClr val="FFFFFF"/>
                      </a:solidFill>
                      <a:latin typeface="Arial"/>
                    </a:defRPr>
                  </a:pPr>
                </a:p>
              </c:txPr>
              <c:showLegendKey val="0"/>
              <c:showVal val="1"/>
              <c:showCatName val="0"/>
              <c:showSerName val="0"/>
              <c:showPercent val="0"/>
              <c:showBubbleSize val="0"/>
            </c:dLbl>
            <c:numFmt formatCode="0&quot;%&quot;"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High</c:v>
                </c:pt>
                <c:pt idx="1">
                  <c:v>Medium</c:v>
                </c:pt>
                <c:pt idx="2">
                  <c:v>Low</c:v>
                </c:pt>
              </c:strCache>
            </c:strRef>
          </c:cat>
          <c:val>
            <c:numRef>
              <c:f>Sheet1!$B$2:$B$4</c:f>
              <c:numCache>
                <c:ptCount val="3"/>
                <c:pt idx="0">
                  <c:v>21.9</c:v>
                </c:pt>
                <c:pt idx="1">
                  <c:v>73.4</c:v>
                </c:pt>
                <c:pt idx="2">
                  <c:v>4.7</c:v>
                </c:pt>
              </c:numCache>
            </c:numRef>
          </c:val>
        </c:ser>
        <c:firstSliceAng val="0"/>
        <c:holeSize val="50"/>
      </c:doughnutChart>
      <c:spPr>
        <a:noFill/>
        <a:ln>
          <a:noFill/>
        </a:ln>
        <a:effectLst/>
      </c:spPr>
    </c:plotArea>
    <c:legend>
      <c:legendPos val="b"/>
      <c:overlay val="0"/>
      <c:txPr>
        <a:bodyPr/>
        <a:lstStyle/>
        <a:p>
          <a:pPr>
            <a:defRPr sz="1100">
              <a:solidFill>
                <a:srgbClr val="1B2A4A"/>
              </a:solidFil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2A4A"/>
                </a:solidFill>
                <a:latin typeface="Arial"/>
              </a:defRPr>
            </a:pPr>
            <a:r>
              <a:rPr sz="1300" b="0" i="0" u="none" strike="noStrike">
                <a:solidFill>
                  <a:srgbClr val="1B2A4A"/>
                </a:solidFill>
                <a:latin typeface="Arial"/>
              </a:rPr>
              <a:t>Attrition Rate by Engagement Tier (%)</a:t>
            </a:r>
          </a:p>
        </c:rich>
      </c:tx>
      <c:layout/>
      <c:overlay val="0"/>
    </c:title>
    <c:autoTitleDeleted val="0"/>
    <c:plotArea>
      <c:layout/>
      <c:barChart>
        <c:barDir val="col"/>
        <c:grouping val="clustered"/>
        <c:varyColors val="0"/>
        <c:ser>
          <c:idx val="0"/>
          <c:order val="0"/>
          <c:tx>
            <c:strRef>
              <c:f>Sheet1!$B$1</c:f>
              <c:strCache>
                <c:ptCount val="1"/>
                <c:pt idx="0">
                  <c:v>Attrition Rate</c:v>
                </c:pt>
              </c:strCache>
            </c:strRef>
          </c:tx>
          <c:spPr>
            <a:solidFill>
              <a:srgbClr val="3E9C6E"/>
            </a:solidFill>
            <a:effectLst/>
          </c:spPr>
          <c:invertIfNegative val="0"/>
          <c:dLbls>
            <c:numFmt formatCode="0&quot;%&quot;" sourceLinked="0"/>
            <c:txPr>
              <a:bodyPr/>
              <a:lstStyle/>
              <a:p>
                <a:pPr>
                  <a:defRPr b="0" i="0" strike="noStrike" sz="1200" u="none">
                    <a:solidFill>
                      <a:srgbClr val="1B2A4A"/>
                    </a:solidFill>
                    <a:latin typeface="Arial"/>
                  </a:defRPr>
                </a:pPr>
              </a:p>
            </c:txPr>
            <c:showLegendKey val="0"/>
            <c:showVal val="1"/>
            <c:showCatName val="0"/>
            <c:showSerName val="0"/>
            <c:showPercent val="0"/>
            <c:showBubbleSize val="0"/>
            <c:showLeaderLines val="0"/>
          </c:dLbls>
          <c:dPt>
            <c:idx val="0"/>
            <c:invertIfNegative val="0"/>
            <c:bubble3D val="0"/>
            <c:spPr>
              <a:solidFill>
                <a:srgbClr val="3E9C6E"/>
              </a:solidFill>
              <a:effectLst/>
            </c:spPr>
          </c:dPt>
          <c:dPt>
            <c:idx val="1"/>
            <c:invertIfNegative val="0"/>
            <c:bubble3D val="0"/>
            <c:spPr>
              <a:solidFill>
                <a:srgbClr val="E3A23D"/>
              </a:solidFill>
              <a:effectLst/>
            </c:spPr>
          </c:dPt>
          <c:dPt>
            <c:idx val="2"/>
            <c:invertIfNegative val="0"/>
            <c:bubble3D val="0"/>
            <c:spPr>
              <a:solidFill>
                <a:srgbClr val="D6584F"/>
              </a:solidFill>
              <a:effectLst/>
            </c:spPr>
          </c:dPt>
          <c:cat>
            <c:multiLvlStrRef>
              <c:f>Sheet1!$A$2:$A$4</c:f>
              <c:multiLvlStrCache>
                <c:ptCount val="3"/>
                <c:lvl>
                  <c:pt idx="0">
                    <c:v>High</c:v>
                  </c:pt>
                  <c:pt idx="1">
                    <c:v>Medium</c:v>
                  </c:pt>
                  <c:pt idx="2">
                    <c:v>Low</c:v>
                  </c:pt>
                </c:lvl>
              </c:multiLvlStrCache>
            </c:multiLvlStrRef>
          </c:cat>
          <c:val>
            <c:numRef>
              <c:f>Sheet1!$B$2:$B$4</c:f>
              <c:numCache>
                <c:formatCode>General</c:formatCode>
                <c:ptCount val="3"/>
                <c:pt idx="0">
                  <c:v>10.2</c:v>
                </c:pt>
                <c:pt idx="1">
                  <c:v>16.2</c:v>
                </c:pt>
                <c:pt idx="2">
                  <c:v>42</c:v>
                </c:pt>
              </c:numCache>
            </c:numRef>
          </c:val>
        </c:ser>
        <c:dLbls>
          <c:numFmt formatCode="0&quot;%&quot;" sourceLinked="0"/>
          <c:txPr>
            <a:bodyPr/>
            <a:lstStyle/>
            <a:p>
              <a:pPr>
                <a:defRPr b="0" i="0" strike="noStrike" sz="1200" u="none">
                  <a:solidFill>
                    <a:srgbClr val="1B2A4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A4A"/>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2E6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1B2A4A"/>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2A4A"/>
                </a:solidFill>
                <a:latin typeface="Arial"/>
              </a:defRPr>
            </a:pPr>
            <a:r>
              <a:rPr sz="1300" b="0" i="0" u="none" strike="noStrike">
                <a:solidFill>
                  <a:srgbClr val="1B2A4A"/>
                </a:solidFill>
                <a:latin typeface="Arial"/>
              </a:rPr>
              <a:t>Attrition by Burnout Risk Tier (%)</a:t>
            </a:r>
          </a:p>
        </c:rich>
      </c:tx>
      <c:layout/>
      <c:overlay val="0"/>
    </c:title>
    <c:autoTitleDeleted val="0"/>
    <c:plotArea>
      <c:layout/>
      <c:barChart>
        <c:barDir val="col"/>
        <c:grouping val="clustered"/>
        <c:varyColors val="0"/>
        <c:ser>
          <c:idx val="0"/>
          <c:order val="0"/>
          <c:tx>
            <c:strRef>
              <c:f>Sheet1!$B$1</c:f>
              <c:strCache>
                <c:ptCount val="1"/>
                <c:pt idx="0">
                  <c:v>Attrition Rate</c:v>
                </c:pt>
              </c:strCache>
            </c:strRef>
          </c:tx>
          <c:spPr>
            <a:solidFill>
              <a:srgbClr val="3E9C6E"/>
            </a:solidFill>
            <a:effectLst/>
          </c:spPr>
          <c:invertIfNegative val="0"/>
          <c:dLbls>
            <c:numFmt formatCode="0.0&quot;%&quot;" sourceLinked="0"/>
            <c:txPr>
              <a:bodyPr/>
              <a:lstStyle/>
              <a:p>
                <a:pPr>
                  <a:defRPr b="0" i="0" strike="noStrike" sz="1200" u="none">
                    <a:solidFill>
                      <a:srgbClr val="1B2A4A"/>
                    </a:solidFill>
                    <a:latin typeface="Arial"/>
                  </a:defRPr>
                </a:pPr>
              </a:p>
            </c:txPr>
            <c:showLegendKey val="0"/>
            <c:showVal val="1"/>
            <c:showCatName val="0"/>
            <c:showSerName val="0"/>
            <c:showPercent val="0"/>
            <c:showBubbleSize val="0"/>
            <c:showLeaderLines val="0"/>
          </c:dLbls>
          <c:dPt>
            <c:idx val="0"/>
            <c:invertIfNegative val="0"/>
            <c:bubble3D val="0"/>
            <c:spPr>
              <a:solidFill>
                <a:srgbClr val="3E9C6E"/>
              </a:solidFill>
              <a:effectLst/>
            </c:spPr>
          </c:dPt>
          <c:dPt>
            <c:idx val="1"/>
            <c:invertIfNegative val="0"/>
            <c:bubble3D val="0"/>
            <c:spPr>
              <a:solidFill>
                <a:srgbClr val="E3A23D"/>
              </a:solidFill>
              <a:effectLst/>
            </c:spPr>
          </c:dPt>
          <c:dPt>
            <c:idx val="2"/>
            <c:invertIfNegative val="0"/>
            <c:bubble3D val="0"/>
            <c:spPr>
              <a:solidFill>
                <a:srgbClr val="D6584F"/>
              </a:solidFill>
              <a:effectLst/>
            </c:spPr>
          </c:dPt>
          <c:cat>
            <c:multiLvlStrRef>
              <c:f>Sheet1!$A$2:$A$4</c:f>
              <c:multiLvlStrCache>
                <c:ptCount val="3"/>
                <c:lvl>
                  <c:pt idx="0">
                    <c:v>Low</c:v>
                  </c:pt>
                  <c:pt idx="1">
                    <c:v>Medium</c:v>
                  </c:pt>
                  <c:pt idx="2">
                    <c:v>High</c:v>
                  </c:pt>
                </c:lvl>
              </c:multiLvlStrCache>
            </c:multiLvlStrRef>
          </c:cat>
          <c:val>
            <c:numRef>
              <c:f>Sheet1!$B$2:$B$4</c:f>
              <c:numCache>
                <c:formatCode>General</c:formatCode>
                <c:ptCount val="3"/>
                <c:pt idx="0">
                  <c:v>8.7</c:v>
                </c:pt>
                <c:pt idx="1">
                  <c:v>21.4</c:v>
                </c:pt>
                <c:pt idx="2">
                  <c:v>34.8</c:v>
                </c:pt>
              </c:numCache>
            </c:numRef>
          </c:val>
        </c:ser>
        <c:dLbls>
          <c:numFmt formatCode="0.0&quot;%&quot;" sourceLinked="0"/>
          <c:txPr>
            <a:bodyPr/>
            <a:lstStyle/>
            <a:p>
              <a:pPr>
                <a:defRPr b="0" i="0" strike="noStrike" sz="1200" u="none">
                  <a:solidFill>
                    <a:srgbClr val="1B2A4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A4A"/>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2E6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1B2A4A"/>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FFFFFF"/>
                </a:solidFill>
                <a:latin typeface="Arial"/>
              </a:defRPr>
            </a:pPr>
            <a:r>
              <a:rPr sz="1300" b="0" i="0" u="none" strike="noStrike">
                <a:solidFill>
                  <a:srgbClr val="FFFFFF"/>
                </a:solidFill>
                <a:latin typeface="Arial"/>
              </a:rPr>
              <a:t>Attrition Rate vs. Engagement, by Workload Stress Score</a:t>
            </a:r>
          </a:p>
        </c:rich>
      </c:tx>
      <c:layout/>
      <c:overlay val="0"/>
    </c:title>
    <c:autoTitleDeleted val="0"/>
    <c:plotArea>
      <c:layout/>
      <c:barChart>
        <c:barDir val="col"/>
        <c:grouping val="clustered"/>
        <c:varyColors val="0"/>
        <c:ser>
          <c:idx val="0"/>
          <c:order val="0"/>
          <c:tx>
            <c:strRef>
              <c:f>Sheet1!$B$1</c:f>
              <c:strCache>
                <c:ptCount val="1"/>
                <c:pt idx="0">
                  <c:v>Attrition %</c:v>
                </c:pt>
              </c:strCache>
            </c:strRef>
          </c:tx>
          <c:spPr>
            <a:solidFill>
              <a:srgbClr val="D6584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0</c:v>
                  </c:pt>
                  <c:pt idx="1">
                    <c:v>1</c:v>
                  </c:pt>
                  <c:pt idx="2">
                    <c:v>2</c:v>
                  </c:pt>
                  <c:pt idx="3">
                    <c:v>3</c:v>
                  </c:pt>
                  <c:pt idx="4">
                    <c:v>4</c:v>
                  </c:pt>
                  <c:pt idx="5">
                    <c:v>5</c:v>
                  </c:pt>
                  <c:pt idx="6">
                    <c:v>6</c:v>
                  </c:pt>
                </c:lvl>
              </c:multiLvlStrCache>
            </c:multiLvlStrRef>
          </c:cat>
          <c:val>
            <c:numRef>
              <c:f>Sheet1!$B$2:$B$8</c:f>
              <c:numCache>
                <c:formatCode>General</c:formatCode>
                <c:ptCount val="7"/>
                <c:pt idx="0">
                  <c:v>3.4</c:v>
                </c:pt>
                <c:pt idx="1">
                  <c:v>9.3</c:v>
                </c:pt>
                <c:pt idx="2">
                  <c:v>13.6</c:v>
                </c:pt>
                <c:pt idx="3">
                  <c:v>17.2</c:v>
                </c:pt>
                <c:pt idx="4">
                  <c:v>25.8</c:v>
                </c:pt>
                <c:pt idx="5">
                  <c:v>38.9</c:v>
                </c:pt>
                <c:pt idx="6">
                  <c:v>50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lineChart>
        <c:varyColors val="0"/>
        <c:ser>
          <c:idx val="1"/>
          <c:order val="1"/>
          <c:tx>
            <c:strRef>
              <c:f>Sheet1!$C$1</c:f>
              <c:strCache>
                <c:ptCount val="1"/>
                <c:pt idx="0">
                  <c:v>Engagement Index</c:v>
                </c:pt>
              </c:strCache>
            </c:strRef>
          </c:tx>
          <c:spPr>
            <a:solidFill>
              <a:srgbClr val="E3A23D"/>
            </a:solidFill>
            <a:ln w="38100" cap="flat">
              <a:solidFill>
                <a:srgbClr val="E3A23D"/>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E3A23D"/>
              </a:solidFill>
              <a:ln w="9525" cap="flat">
                <a:solidFill>
                  <a:srgbClr val="E3A23D"/>
                </a:solidFill>
                <a:prstDash val="solid"/>
                <a:round/>
              </a:ln>
              <a:effectLst/>
            </c:spPr>
          </c:marker>
          <c:cat>
            <c:multiLvlStrRef>
              <c:f>Sheet1!$A$2:$A$8</c:f>
              <c:multiLvlStrCache>
                <c:ptCount val="7"/>
                <c:lvl>
                  <c:pt idx="0">
                    <c:v>0</c:v>
                  </c:pt>
                  <c:pt idx="1">
                    <c:v>1</c:v>
                  </c:pt>
                  <c:pt idx="2">
                    <c:v>2</c:v>
                  </c:pt>
                  <c:pt idx="3">
                    <c:v>3</c:v>
                  </c:pt>
                  <c:pt idx="4">
                    <c:v>4</c:v>
                  </c:pt>
                  <c:pt idx="5">
                    <c:v>5</c:v>
                  </c:pt>
                  <c:pt idx="6">
                    <c:v>6</c:v>
                  </c:pt>
                </c:lvl>
              </c:multiLvlStrCache>
            </c:multiLvlStrRef>
          </c:cat>
          <c:val>
            <c:numRef>
              <c:f>Sheet1!$C$2:$C$8</c:f>
              <c:numCache>
                <c:formatCode>General</c:formatCode>
                <c:ptCount val="7"/>
                <c:pt idx="0">
                  <c:v>0.599</c:v>
                </c:pt>
                <c:pt idx="1">
                  <c:v>0.561</c:v>
                </c:pt>
                <c:pt idx="2">
                  <c:v>0.563</c:v>
                </c:pt>
                <c:pt idx="3">
                  <c:v>0.586</c:v>
                </c:pt>
                <c:pt idx="4">
                  <c:v>0.59</c:v>
                </c:pt>
                <c:pt idx="5">
                  <c:v>0.603</c:v>
                </c:pt>
                <c:pt idx="6">
                  <c:v>0.635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5"/>
        <c:axId val="2094734553"/>
        <c:axId val="2094734556"/>
      </c:lineChart>
      <c:catAx>
        <c:axId val="2094734554"/>
        <c:scaling>
          <c:orientation val="minMax"/>
        </c:scaling>
        <c:delete val="0"/>
        <c:axPos val="b"/>
        <c:title>
          <c:tx>
            <c:rich>
              <a:bodyPr/>
              <a:lstStyle/>
              <a:p>
                <a:pPr>
                  <a:defRPr b="0" i="0" u="none" strike="noStrike">
                    <a:solidFill>
                      <a:srgbClr val="C4D0EE"/>
                    </a:solidFill>
                    <a:latin typeface="Arial"/>
                  </a:defRPr>
                </a:pPr>
                <a:r>
                  <a:rPr b="0" i="0" u="none" strike="noStrike">
                    <a:solidFill>
                      <a:srgbClr val="C4D0EE"/>
                    </a:solidFill>
                    <a:latin typeface="Arial"/>
                  </a:rPr>
                  <a:t>Workload Stress Score</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C4D0EE"/>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33436B"/>
              </a:solidFill>
              <a:prstDash val="solid"/>
              <a:round/>
            </a:ln>
          </c:spPr>
        </c:majorGridlines>
        <c:title>
          <c:tx>
            <c:rich>
              <a:bodyPr/>
              <a:lstStyle/>
              <a:p>
                <a:pPr>
                  <a:defRPr sz="1100" b="0" i="0" u="none" strike="noStrike">
                    <a:solidFill>
                      <a:srgbClr val="C4D0EE"/>
                    </a:solidFill>
                    <a:latin typeface="Arial"/>
                  </a:defRPr>
                </a:pPr>
                <a:r>
                  <a:rPr sz="1100" b="0" i="0" u="none" strike="noStrike">
                    <a:solidFill>
                      <a:srgbClr val="C4D0EE"/>
                    </a:solidFill>
                    <a:latin typeface="Arial"/>
                  </a:rPr>
                  <a:t>Attrition %</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C4D0EE"/>
                </a:solidFill>
                <a:latin typeface="Arial"/>
              </a:defRPr>
            </a:pPr>
            <a:endParaRPr lang="en-US"/>
          </a:p>
        </c:txPr>
        <c:crossAx val="2094734554"/>
        <c:crosses val="autoZero"/>
        <c:crossBetween val="between"/>
      </c:valAx>
      <c:valAx>
        <c:axId val="2094734553"/>
        <c:scaling>
          <c:orientation val="minMax"/>
        </c:scaling>
        <c:delete val="0"/>
        <c:axPos val="r"/>
        <c:title>
          <c:tx>
            <c:rich>
              <a:bodyPr/>
              <a:lstStyle/>
              <a:p>
                <a:pPr>
                  <a:defRPr sz="1100" b="0" i="0" u="none" strike="noStrike">
                    <a:solidFill>
                      <a:srgbClr val="C4D0EE"/>
                    </a:solidFill>
                    <a:latin typeface="Arial"/>
                  </a:defRPr>
                </a:pPr>
                <a:r>
                  <a:rPr sz="1100" b="0" i="0" u="none" strike="noStrike">
                    <a:solidFill>
                      <a:srgbClr val="C4D0EE"/>
                    </a:solidFill>
                    <a:latin typeface="Arial"/>
                  </a:rPr>
                  <a:t>Engagement Index</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C4D0EE"/>
                </a:solidFill>
                <a:latin typeface="Arial"/>
              </a:defRPr>
            </a:pPr>
            <a:endParaRPr lang="en-US"/>
          </a:p>
        </c:txPr>
        <c:crossAx val="2094734555"/>
        <c:crosses val="max"/>
        <c:crossBetween val="between"/>
      </c:valAx>
      <c:catAx>
        <c:axId val="2094734555"/>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C4D0EE"/>
                </a:solidFill>
                <a:latin typeface="Arial"/>
              </a:defRPr>
            </a:pPr>
            <a:endParaRPr lang="en-US"/>
          </a:p>
        </c:txPr>
        <c:crossAx val="2094734553"/>
        <c:crosses val="autoZero"/>
        <c:auto val="1"/>
        <c:lblAlgn val="ctr"/>
        <c:noMultiLvlLbl val="1"/>
      </c:catAx>
      <c:spPr>
        <a:noFill/>
        <a:ln>
          <a:noFill/>
        </a:ln>
        <a:effectLst/>
      </c:spPr>
    </c:plotArea>
    <c:legend>
      <c:legendPos val="b"/>
      <c:overlay val="0"/>
      <c:txPr>
        <a:bodyPr/>
        <a:lstStyle/>
        <a:p>
          <a:pPr>
            <a:defRPr sz="1100">
              <a:solidFill>
                <a:srgbClr val="C4D0EE"/>
              </a:solidFill>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2A4A"/>
                </a:solidFill>
                <a:latin typeface="Arial"/>
              </a:defRPr>
            </a:pPr>
            <a:r>
              <a:rPr sz="1300" b="0" i="0" u="none" strike="noStrike">
                <a:solidFill>
                  <a:srgbClr val="1B2A4A"/>
                </a:solidFill>
                <a:latin typeface="Arial"/>
              </a:rPr>
              <a:t>Attrition Rate by Tenure Band (%)</a:t>
            </a:r>
          </a:p>
        </c:rich>
      </c:tx>
      <c:layout/>
      <c:overlay val="0"/>
    </c:title>
    <c:autoTitleDeleted val="0"/>
    <c:plotArea>
      <c:layout/>
      <c:barChart>
        <c:barDir val="col"/>
        <c:grouping val="clustered"/>
        <c:varyColors val="0"/>
        <c:ser>
          <c:idx val="0"/>
          <c:order val="0"/>
          <c:tx>
            <c:strRef>
              <c:f>Sheet1!$B$1</c:f>
              <c:strCache>
                <c:ptCount val="1"/>
                <c:pt idx="0">
                  <c:v>Attrition %</c:v>
                </c:pt>
              </c:strCache>
            </c:strRef>
          </c:tx>
          <c:spPr>
            <a:solidFill>
              <a:srgbClr val="D6584F"/>
            </a:solidFill>
            <a:effectLst/>
          </c:spPr>
          <c:invertIfNegative val="0"/>
          <c:dLbls>
            <c:numFmt formatCode="0.0&quot;%&quot;" sourceLinked="0"/>
            <c:txPr>
              <a:bodyPr/>
              <a:lstStyle/>
              <a:p>
                <a:pPr>
                  <a:defRPr b="0" i="0" strike="noStrike" sz="1100" u="none">
                    <a:solidFill>
                      <a:srgbClr val="1B2A4A"/>
                    </a:solidFill>
                    <a:latin typeface="Arial"/>
                  </a:defRPr>
                </a:pPr>
              </a:p>
            </c:txPr>
            <c:showLegendKey val="0"/>
            <c:showVal val="1"/>
            <c:showCatName val="0"/>
            <c:showSerName val="0"/>
            <c:showPercent val="0"/>
            <c:showBubbleSize val="0"/>
            <c:showLeaderLines val="0"/>
          </c:dLbls>
          <c:cat>
            <c:multiLvlStrRef>
              <c:f>Sheet1!$A$2:$A$5</c:f>
              <c:multiLvlStrCache>
                <c:ptCount val="4"/>
                <c:lvl>
                  <c:pt idx="0">
                    <c:v>New
(0-2yr)</c:v>
                  </c:pt>
                  <c:pt idx="1">
                    <c:v>Early
(3-5yr)</c:v>
                  </c:pt>
                  <c:pt idx="2">
                    <c:v>Mid
(6-10yr)</c:v>
                  </c:pt>
                  <c:pt idx="3">
                    <c:v>Senior
(10+yr)</c:v>
                  </c:pt>
                </c:lvl>
              </c:multiLvlStrCache>
            </c:multiLvlStrRef>
          </c:cat>
          <c:val>
            <c:numRef>
              <c:f>Sheet1!$B$2:$B$5</c:f>
              <c:numCache>
                <c:formatCode>General</c:formatCode>
                <c:ptCount val="4"/>
                <c:pt idx="0">
                  <c:v>29.8</c:v>
                </c:pt>
                <c:pt idx="1">
                  <c:v>13.8</c:v>
                </c:pt>
                <c:pt idx="2">
                  <c:v>12.3</c:v>
                </c:pt>
                <c:pt idx="3">
                  <c:v>8.1</c:v>
                </c:pt>
              </c:numCache>
            </c:numRef>
          </c:val>
        </c:ser>
        <c:dLbls>
          <c:numFmt formatCode="0.0&quot;%&quot;" sourceLinked="0"/>
          <c:txPr>
            <a:bodyPr/>
            <a:lstStyle/>
            <a:p>
              <a:pPr>
                <a:defRPr b="0" i="0" strike="noStrike" sz="1100" u="none">
                  <a:solidFill>
                    <a:srgbClr val="1B2A4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A4A"/>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2E6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1B2A4A"/>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2A4A"/>
                </a:solidFill>
                <a:latin typeface="Arial"/>
              </a:defRPr>
            </a:pPr>
            <a:r>
              <a:rPr sz="1300" b="0" i="0" u="none" strike="noStrike">
                <a:solidFill>
                  <a:srgbClr val="1B2A4A"/>
                </a:solidFill>
                <a:latin typeface="Arial"/>
              </a:rPr>
              <a:t>Attrition Rate by Years Since Promotion (%)</a:t>
            </a:r>
          </a:p>
        </c:rich>
      </c:tx>
      <c:layout/>
      <c:overlay val="0"/>
    </c:title>
    <c:autoTitleDeleted val="0"/>
    <c:plotArea>
      <c:layout/>
      <c:barChart>
        <c:barDir val="col"/>
        <c:grouping val="clustered"/>
        <c:varyColors val="0"/>
        <c:ser>
          <c:idx val="0"/>
          <c:order val="0"/>
          <c:tx>
            <c:strRef>
              <c:f>Sheet1!$B$1</c:f>
              <c:strCache>
                <c:ptCount val="1"/>
                <c:pt idx="0">
                  <c:v>Attrition %</c:v>
                </c:pt>
              </c:strCache>
            </c:strRef>
          </c:tx>
          <c:spPr>
            <a:solidFill>
              <a:srgbClr val="E3A23D"/>
            </a:solidFill>
            <a:effectLst/>
          </c:spPr>
          <c:invertIfNegative val="0"/>
          <c:dLbls>
            <c:numFmt formatCode="0.0&quot;%&quot;" sourceLinked="0"/>
            <c:txPr>
              <a:bodyPr/>
              <a:lstStyle/>
              <a:p>
                <a:pPr>
                  <a:defRPr b="0" i="0" strike="noStrike" sz="1100" u="none">
                    <a:solidFill>
                      <a:srgbClr val="1B2A4A"/>
                    </a:solidFill>
                    <a:latin typeface="Arial"/>
                  </a:defRPr>
                </a:pPr>
              </a:p>
            </c:txPr>
            <c:showLegendKey val="0"/>
            <c:showVal val="1"/>
            <c:showCatName val="0"/>
            <c:showSerName val="0"/>
            <c:showPercent val="0"/>
            <c:showBubbleSize val="0"/>
            <c:showLeaderLines val="0"/>
          </c:dLbls>
          <c:cat>
            <c:multiLvlStrRef>
              <c:f>Sheet1!$A$2:$A$5</c:f>
              <c:multiLvlStrCache>
                <c:ptCount val="4"/>
                <c:lvl>
                  <c:pt idx="0">
                    <c:v>Just
promoted</c:v>
                  </c:pt>
                  <c:pt idx="1">
                    <c:v>1-2
years</c:v>
                  </c:pt>
                  <c:pt idx="2">
                    <c:v>3-5
years</c:v>
                  </c:pt>
                  <c:pt idx="3">
                    <c:v>6+ yrs
(stagnant)</c:v>
                  </c:pt>
                </c:lvl>
              </c:multiLvlStrCache>
            </c:multiLvlStrRef>
          </c:cat>
          <c:val>
            <c:numRef>
              <c:f>Sheet1!$B$2:$B$5</c:f>
              <c:numCache>
                <c:formatCode>General</c:formatCode>
                <c:ptCount val="4"/>
                <c:pt idx="0">
                  <c:v>18.9</c:v>
                </c:pt>
                <c:pt idx="1">
                  <c:v>14.7</c:v>
                </c:pt>
                <c:pt idx="2">
                  <c:v>10.1</c:v>
                </c:pt>
                <c:pt idx="3">
                  <c:v>16.3</c:v>
                </c:pt>
              </c:numCache>
            </c:numRef>
          </c:val>
        </c:ser>
        <c:dLbls>
          <c:numFmt formatCode="0.0&quot;%&quot;" sourceLinked="0"/>
          <c:txPr>
            <a:bodyPr/>
            <a:lstStyle/>
            <a:p>
              <a:pPr>
                <a:defRPr b="0" i="0" strike="noStrike" sz="1100" u="none">
                  <a:solidFill>
                    <a:srgbClr val="1B2A4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A4A"/>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2E6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1B2A4A"/>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chart" Target="/ppt/charts/chart6.xml"/><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p:bgPr>
    </p:bg>
    <p:spTree>
      <p:nvGrpSpPr>
        <p:cNvPr id="1" name=""/>
        <p:cNvGrpSpPr/>
        <p:nvPr/>
      </p:nvGrpSpPr>
      <p:grpSpPr>
        <a:xfrm>
          <a:off x="0" y="0"/>
          <a:ext cx="0" cy="0"/>
          <a:chOff x="0" y="0"/>
          <a:chExt cx="0" cy="0"/>
        </a:xfrm>
      </p:grpSpPr>
      <p:sp>
        <p:nvSpPr>
          <p:cNvPr id="2" name="Text 0"/>
          <p:cNvSpPr/>
          <p:nvPr/>
        </p:nvSpPr>
        <p:spPr>
          <a:xfrm>
            <a:off x="822960" y="1417320"/>
            <a:ext cx="10058400" cy="365760"/>
          </a:xfrm>
          <a:prstGeom prst="rect">
            <a:avLst/>
          </a:prstGeom>
          <a:noFill/>
          <a:ln/>
        </p:spPr>
        <p:txBody>
          <a:bodyPr wrap="square" rtlCol="0" anchor="ctr"/>
          <a:lstStyle/>
          <a:p>
            <a:pPr indent="0" marL="0">
              <a:buNone/>
            </a:pPr>
            <a:r>
              <a:rPr lang="en-US" sz="1300" b="1" spc="300" kern="0" dirty="0">
                <a:solidFill>
                  <a:srgbClr val="8FA3D6"/>
                </a:solidFill>
                <a:latin typeface="Calibri" pitchFamily="34" charset="0"/>
                <a:ea typeface="Calibri" pitchFamily="34" charset="-122"/>
                <a:cs typeface="Calibri" pitchFamily="34" charset="-120"/>
              </a:rPr>
              <a:t>PALO ALTO NETWORKS  ·  HR ANALYTICS</a:t>
            </a:r>
            <a:endParaRPr lang="en-US" sz="1300" dirty="0"/>
          </a:p>
        </p:txBody>
      </p:sp>
      <p:sp>
        <p:nvSpPr>
          <p:cNvPr id="3" name="Text 1"/>
          <p:cNvSpPr/>
          <p:nvPr/>
        </p:nvSpPr>
        <p:spPr>
          <a:xfrm>
            <a:off x="822960" y="1828800"/>
            <a:ext cx="9875520" cy="1737360"/>
          </a:xfrm>
          <a:prstGeom prst="rect">
            <a:avLst/>
          </a:prstGeom>
          <a:noFill/>
          <a:ln/>
        </p:spPr>
        <p:txBody>
          <a:bodyPr wrap="square" rtlCol="0" anchor="ctr"/>
          <a:lstStyle/>
          <a:p>
            <a:pPr indent="0" marL="0">
              <a:lnSpc>
                <a:spcPct val="105000"/>
              </a:lnSpc>
              <a:buNone/>
            </a:pPr>
            <a:r>
              <a:rPr lang="en-US" sz="4000" b="1" dirty="0">
                <a:solidFill>
                  <a:srgbClr val="FFFFFF"/>
                </a:solidFill>
                <a:latin typeface="Cambria" pitchFamily="34" charset="0"/>
                <a:ea typeface="Cambria" pitchFamily="34" charset="-122"/>
                <a:cs typeface="Cambria" pitchFamily="34" charset="-120"/>
              </a:rPr>
              <a:t>Employee Engagement, Satisfaction,</a:t>
            </a:r>
            <a:endParaRPr lang="en-US" sz="4000" dirty="0"/>
          </a:p>
          <a:p>
            <a:pPr indent="0" marL="0">
              <a:lnSpc>
                <a:spcPct val="105000"/>
              </a:lnSpc>
              <a:buNone/>
            </a:pPr>
            <a:r>
              <a:rPr lang="en-US" sz="4000" b="1" dirty="0">
                <a:solidFill>
                  <a:srgbClr val="FFFFFF"/>
                </a:solidFill>
                <a:latin typeface="Cambria" pitchFamily="34" charset="0"/>
                <a:ea typeface="Cambria" pitchFamily="34" charset="-122"/>
                <a:cs typeface="Cambria" pitchFamily="34" charset="-120"/>
              </a:rPr>
              <a:t>and Burnout — Diagnostic Analysis</a:t>
            </a:r>
            <a:endParaRPr lang="en-US" sz="4000" dirty="0"/>
          </a:p>
        </p:txBody>
      </p:sp>
      <p:sp>
        <p:nvSpPr>
          <p:cNvPr id="4" name="Text 2"/>
          <p:cNvSpPr/>
          <p:nvPr/>
        </p:nvSpPr>
        <p:spPr>
          <a:xfrm>
            <a:off x="822960" y="3611880"/>
            <a:ext cx="8686800" cy="457200"/>
          </a:xfrm>
          <a:prstGeom prst="rect">
            <a:avLst/>
          </a:prstGeom>
          <a:noFill/>
          <a:ln/>
        </p:spPr>
        <p:txBody>
          <a:bodyPr wrap="square" rtlCol="0" anchor="ctr"/>
          <a:lstStyle/>
          <a:p>
            <a:pPr indent="0" marL="0">
              <a:buNone/>
            </a:pPr>
            <a:r>
              <a:rPr lang="en-US" sz="1600" i="1" dirty="0">
                <a:solidFill>
                  <a:srgbClr val="C4D0EE"/>
                </a:solidFill>
                <a:latin typeface="Calibri" pitchFamily="34" charset="0"/>
                <a:ea typeface="Calibri" pitchFamily="34" charset="-122"/>
                <a:cs typeface="Calibri" pitchFamily="34" charset="-120"/>
              </a:rPr>
              <a:t>From reactive attrition analysis to preventive employee-experience diagnostics</a:t>
            </a:r>
            <a:endParaRPr lang="en-US" sz="1600" dirty="0"/>
          </a:p>
        </p:txBody>
      </p:sp>
      <p:sp>
        <p:nvSpPr>
          <p:cNvPr id="5" name="Shape 3"/>
          <p:cNvSpPr/>
          <p:nvPr/>
        </p:nvSpPr>
        <p:spPr>
          <a:xfrm>
            <a:off x="822960" y="4251960"/>
            <a:ext cx="82296" cy="82296"/>
          </a:xfrm>
          <a:prstGeom prst="ellipse">
            <a:avLst/>
          </a:prstGeom>
          <a:solidFill>
            <a:srgbClr val="D6584F"/>
          </a:solidFill>
          <a:ln/>
        </p:spPr>
      </p:sp>
      <p:sp>
        <p:nvSpPr>
          <p:cNvPr id="6" name="Shape 4"/>
          <p:cNvSpPr/>
          <p:nvPr/>
        </p:nvSpPr>
        <p:spPr>
          <a:xfrm>
            <a:off x="1078992" y="4251960"/>
            <a:ext cx="82296" cy="82296"/>
          </a:xfrm>
          <a:prstGeom prst="ellipse">
            <a:avLst/>
          </a:prstGeom>
          <a:solidFill>
            <a:srgbClr val="3E4E78"/>
          </a:solidFill>
          <a:ln/>
        </p:spPr>
      </p:sp>
      <p:sp>
        <p:nvSpPr>
          <p:cNvPr id="7" name="Shape 5"/>
          <p:cNvSpPr/>
          <p:nvPr/>
        </p:nvSpPr>
        <p:spPr>
          <a:xfrm>
            <a:off x="1335024" y="4251960"/>
            <a:ext cx="82296" cy="82296"/>
          </a:xfrm>
          <a:prstGeom prst="ellipse">
            <a:avLst/>
          </a:prstGeom>
          <a:solidFill>
            <a:srgbClr val="3E4E78"/>
          </a:solidFill>
          <a:ln/>
        </p:spPr>
      </p:sp>
      <p:sp>
        <p:nvSpPr>
          <p:cNvPr id="8" name="Shape 6"/>
          <p:cNvSpPr/>
          <p:nvPr/>
        </p:nvSpPr>
        <p:spPr>
          <a:xfrm>
            <a:off x="1591056" y="4251960"/>
            <a:ext cx="82296" cy="82296"/>
          </a:xfrm>
          <a:prstGeom prst="ellipse">
            <a:avLst/>
          </a:prstGeom>
          <a:solidFill>
            <a:srgbClr val="3E4E78"/>
          </a:solidFill>
          <a:ln/>
        </p:spPr>
      </p:sp>
      <p:sp>
        <p:nvSpPr>
          <p:cNvPr id="9" name="Shape 7"/>
          <p:cNvSpPr/>
          <p:nvPr/>
        </p:nvSpPr>
        <p:spPr>
          <a:xfrm>
            <a:off x="1847088" y="4251960"/>
            <a:ext cx="82296" cy="82296"/>
          </a:xfrm>
          <a:prstGeom prst="ellipse">
            <a:avLst/>
          </a:prstGeom>
          <a:solidFill>
            <a:srgbClr val="3E4E78"/>
          </a:solidFill>
          <a:ln/>
        </p:spPr>
      </p:sp>
      <p:sp>
        <p:nvSpPr>
          <p:cNvPr id="10" name="Text 8"/>
          <p:cNvSpPr/>
          <p:nvPr/>
        </p:nvSpPr>
        <p:spPr>
          <a:xfrm>
            <a:off x="822960" y="5806440"/>
            <a:ext cx="4572000" cy="365760"/>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Himanshu Rai</a:t>
            </a:r>
            <a:endParaRPr lang="en-US" sz="1800" dirty="0"/>
          </a:p>
        </p:txBody>
      </p:sp>
      <p:sp>
        <p:nvSpPr>
          <p:cNvPr id="11" name="Text 9"/>
          <p:cNvSpPr/>
          <p:nvPr/>
        </p:nvSpPr>
        <p:spPr>
          <a:xfrm>
            <a:off x="822960" y="6172200"/>
            <a:ext cx="7315200" cy="320040"/>
          </a:xfrm>
          <a:prstGeom prst="rect">
            <a:avLst/>
          </a:prstGeom>
          <a:noFill/>
          <a:ln/>
        </p:spPr>
        <p:txBody>
          <a:bodyPr wrap="square" rtlCol="0" anchor="ctr"/>
          <a:lstStyle/>
          <a:p>
            <a:pPr indent="0" marL="0">
              <a:buNone/>
            </a:pPr>
            <a:r>
              <a:rPr lang="en-US" sz="1200" dirty="0">
                <a:solidFill>
                  <a:srgbClr val="9AA8CC"/>
                </a:solidFill>
                <a:latin typeface="Calibri" pitchFamily="34" charset="0"/>
                <a:ea typeface="Calibri" pitchFamily="34" charset="-122"/>
                <a:cs typeface="Calibri" pitchFamily="34" charset="-120"/>
              </a:rPr>
              <a:t>Data Science Intern  ·  Data Science Internship Programme  ·  July 2026</a:t>
            </a:r>
            <a:endParaRPr lang="en-US" sz="1200" dirty="0"/>
          </a:p>
        </p:txBody>
      </p:sp>
      <p:sp>
        <p:nvSpPr>
          <p:cNvPr id="12" name="Text 10"/>
          <p:cNvSpPr/>
          <p:nvPr/>
        </p:nvSpPr>
        <p:spPr>
          <a:xfrm>
            <a:off x="8778240" y="5486400"/>
            <a:ext cx="2743200" cy="640080"/>
          </a:xfrm>
          <a:prstGeom prst="rect">
            <a:avLst/>
          </a:prstGeom>
          <a:noFill/>
          <a:ln/>
        </p:spPr>
        <p:txBody>
          <a:bodyPr wrap="square" rtlCol="0" anchor="ctr"/>
          <a:lstStyle/>
          <a:p>
            <a:pPr algn="r" indent="0" marL="0">
              <a:buNone/>
            </a:pPr>
            <a:r>
              <a:rPr lang="en-US" sz="3000" b="1" dirty="0">
                <a:solidFill>
                  <a:srgbClr val="D6584F"/>
                </a:solidFill>
                <a:latin typeface="Cambria" pitchFamily="34" charset="0"/>
                <a:ea typeface="Cambria" pitchFamily="34" charset="-122"/>
                <a:cs typeface="Cambria" pitchFamily="34" charset="-120"/>
              </a:rPr>
              <a:t>1,470</a:t>
            </a:r>
            <a:endParaRPr lang="en-US" sz="3000" dirty="0"/>
          </a:p>
        </p:txBody>
      </p:sp>
      <p:sp>
        <p:nvSpPr>
          <p:cNvPr id="13" name="Text 11"/>
          <p:cNvSpPr/>
          <p:nvPr/>
        </p:nvSpPr>
        <p:spPr>
          <a:xfrm>
            <a:off x="8778240" y="6080760"/>
            <a:ext cx="2743200" cy="320040"/>
          </a:xfrm>
          <a:prstGeom prst="rect">
            <a:avLst/>
          </a:prstGeom>
          <a:noFill/>
          <a:ln/>
        </p:spPr>
        <p:txBody>
          <a:bodyPr wrap="square" rtlCol="0" anchor="ctr"/>
          <a:lstStyle/>
          <a:p>
            <a:pPr algn="r" indent="0" marL="0">
              <a:buNone/>
            </a:pPr>
            <a:r>
              <a:rPr lang="en-US" sz="1000" spc="100" kern="0" dirty="0">
                <a:solidFill>
                  <a:srgbClr val="8FA3D6"/>
                </a:solidFill>
                <a:latin typeface="Calibri" pitchFamily="34" charset="0"/>
                <a:ea typeface="Calibri" pitchFamily="34" charset="-122"/>
                <a:cs typeface="Calibri" pitchFamily="34" charset="-120"/>
              </a:rPr>
              <a:t>EMPLOYEE RECORDS ANALYSED</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5486400" cy="320040"/>
          </a:xfrm>
          <a:prstGeom prst="rect">
            <a:avLst/>
          </a:prstGeom>
          <a:noFill/>
          <a:ln/>
        </p:spPr>
        <p:txBody>
          <a:bodyPr wrap="square" rtlCol="0" anchor="ctr"/>
          <a:lstStyle/>
          <a:p>
            <a:pPr indent="0" marL="0">
              <a:buNone/>
            </a:pPr>
            <a:r>
              <a:rPr lang="en-US" sz="1200" b="1" spc="200" kern="0" dirty="0">
                <a:solidFill>
                  <a:srgbClr val="D6584F"/>
                </a:solidFill>
                <a:latin typeface="Calibri" pitchFamily="34" charset="0"/>
                <a:ea typeface="Calibri" pitchFamily="34" charset="-122"/>
                <a:cs typeface="Calibri" pitchFamily="34" charset="-120"/>
              </a:rPr>
              <a:t>INTRODUCTION</a:t>
            </a:r>
            <a:endParaRPr lang="en-US" sz="1200" dirty="0"/>
          </a:p>
        </p:txBody>
      </p:sp>
      <p:sp>
        <p:nvSpPr>
          <p:cNvPr id="3" name="Text 1"/>
          <p:cNvSpPr/>
          <p:nvPr/>
        </p:nvSpPr>
        <p:spPr>
          <a:xfrm>
            <a:off x="457200" y="777240"/>
            <a:ext cx="10515600" cy="1188720"/>
          </a:xfrm>
          <a:prstGeom prst="rect">
            <a:avLst/>
          </a:prstGeom>
          <a:noFill/>
          <a:ln/>
        </p:spPr>
        <p:txBody>
          <a:bodyPr wrap="square" rtlCol="0" anchor="ctr"/>
          <a:lstStyle/>
          <a:p>
            <a:pPr indent="0" marL="0">
              <a:lnSpc>
                <a:spcPct val="105000"/>
              </a:lnSpc>
              <a:buNone/>
            </a:pPr>
            <a:r>
              <a:rPr lang="en-US" sz="2700" b="1" dirty="0">
                <a:solidFill>
                  <a:srgbClr val="1B2A4A"/>
                </a:solidFill>
                <a:latin typeface="Cambria" pitchFamily="34" charset="0"/>
                <a:ea typeface="Cambria" pitchFamily="34" charset="-122"/>
                <a:cs typeface="Cambria" pitchFamily="34" charset="-120"/>
              </a:rPr>
              <a:t>Attrition is a reactive metric — by the</a:t>
            </a:r>
            <a:endParaRPr lang="en-US" sz="2700" dirty="0"/>
          </a:p>
          <a:p>
            <a:pPr indent="0" marL="0">
              <a:lnSpc>
                <a:spcPct val="105000"/>
              </a:lnSpc>
              <a:buNone/>
            </a:pPr>
            <a:r>
              <a:rPr lang="en-US" sz="2700" b="1" dirty="0">
                <a:solidFill>
                  <a:srgbClr val="1B2A4A"/>
                </a:solidFill>
                <a:latin typeface="Cambria" pitchFamily="34" charset="0"/>
                <a:ea typeface="Cambria" pitchFamily="34" charset="-122"/>
                <a:cs typeface="Cambria" pitchFamily="34" charset="-120"/>
              </a:rPr>
              <a:t>time it moves, the cost is already sunk</a:t>
            </a:r>
            <a:endParaRPr lang="en-US" sz="2700" dirty="0"/>
          </a:p>
        </p:txBody>
      </p:sp>
      <p:sp>
        <p:nvSpPr>
          <p:cNvPr id="4" name="Text 2"/>
          <p:cNvSpPr/>
          <p:nvPr/>
        </p:nvSpPr>
        <p:spPr>
          <a:xfrm>
            <a:off x="457200" y="1965960"/>
            <a:ext cx="6035040" cy="1554480"/>
          </a:xfrm>
          <a:prstGeom prst="rect">
            <a:avLst/>
          </a:prstGeom>
          <a:noFill/>
          <a:ln/>
        </p:spPr>
        <p:txBody>
          <a:bodyPr wrap="square" rtlCol="0" anchor="ctr"/>
          <a:lstStyle/>
          <a:p>
            <a:pPr indent="0" marL="0">
              <a:lnSpc>
                <a:spcPct val="125000"/>
              </a:lnSpc>
              <a:buNone/>
            </a:pPr>
            <a:r>
              <a:rPr lang="en-US" sz="1400" dirty="0">
                <a:solidFill>
                  <a:srgbClr val="5B6B8C"/>
                </a:solidFill>
                <a:latin typeface="Calibri" pitchFamily="34" charset="0"/>
                <a:ea typeface="Calibri" pitchFamily="34" charset="-122"/>
                <a:cs typeface="Calibri" pitchFamily="34" charset="-120"/>
              </a:rPr>
              <a:t>In knowledge-intensive, high-competition sectors like enterprise cybersecurity, human capital is the primary organisational asset. Every departure carries direct costs (recruitment, onboarding, training) and indirect costs (institutional knowledge loss, team disruption, reduced innovation capacity).</a:t>
            </a:r>
            <a:endParaRPr lang="en-US" sz="1400" dirty="0"/>
          </a:p>
        </p:txBody>
      </p:sp>
      <p:sp>
        <p:nvSpPr>
          <p:cNvPr id="5" name="Text 3"/>
          <p:cNvSpPr/>
          <p:nvPr/>
        </p:nvSpPr>
        <p:spPr>
          <a:xfrm>
            <a:off x="457200" y="3611880"/>
            <a:ext cx="6035040" cy="1371600"/>
          </a:xfrm>
          <a:prstGeom prst="rect">
            <a:avLst/>
          </a:prstGeom>
          <a:noFill/>
          <a:ln/>
        </p:spPr>
        <p:txBody>
          <a:bodyPr wrap="square" rtlCol="0" anchor="ctr"/>
          <a:lstStyle/>
          <a:p>
            <a:pPr indent="0" marL="0">
              <a:lnSpc>
                <a:spcPct val="125000"/>
              </a:lnSpc>
              <a:buNone/>
            </a:pPr>
            <a:r>
              <a:rPr lang="en-US" sz="1400" dirty="0">
                <a:solidFill>
                  <a:srgbClr val="5B6B8C"/>
                </a:solidFill>
                <a:latin typeface="Calibri" pitchFamily="34" charset="0"/>
                <a:ea typeface="Calibri" pitchFamily="34" charset="-122"/>
                <a:cs typeface="Calibri" pitchFamily="34" charset="-120"/>
              </a:rPr>
              <a:t>This research reframes HR analytics around prevention: engineering diagnostic metrics from existing employee-experience data to flag disengagement and burnout risk before an employee decides to leave.</a:t>
            </a:r>
            <a:endParaRPr lang="en-US" sz="1400" dirty="0"/>
          </a:p>
        </p:txBody>
      </p:sp>
      <p:sp>
        <p:nvSpPr>
          <p:cNvPr id="6" name="Shape 4"/>
          <p:cNvSpPr/>
          <p:nvPr/>
        </p:nvSpPr>
        <p:spPr>
          <a:xfrm>
            <a:off x="6903720" y="777240"/>
            <a:ext cx="4800600" cy="1417320"/>
          </a:xfrm>
          <a:prstGeom prst="roundRect">
            <a:avLst>
              <a:gd name="adj" fmla="val 5161"/>
            </a:avLst>
          </a:prstGeom>
          <a:solidFill>
            <a:srgbClr val="F4F6FB"/>
          </a:solidFill>
          <a:ln w="12700">
            <a:solidFill>
              <a:srgbClr val="F4F6FB"/>
            </a:solidFill>
            <a:prstDash val="solid"/>
          </a:ln>
        </p:spPr>
      </p:sp>
      <p:sp>
        <p:nvSpPr>
          <p:cNvPr id="7" name="Text 5"/>
          <p:cNvSpPr/>
          <p:nvPr/>
        </p:nvSpPr>
        <p:spPr>
          <a:xfrm>
            <a:off x="7223760" y="941832"/>
            <a:ext cx="1828800" cy="914400"/>
          </a:xfrm>
          <a:prstGeom prst="rect">
            <a:avLst/>
          </a:prstGeom>
          <a:noFill/>
          <a:ln/>
        </p:spPr>
        <p:txBody>
          <a:bodyPr wrap="square" rtlCol="0" anchor="ctr"/>
          <a:lstStyle/>
          <a:p>
            <a:pPr indent="0" marL="0">
              <a:buNone/>
            </a:pPr>
            <a:r>
              <a:rPr lang="en-US" sz="4000" b="1" dirty="0">
                <a:solidFill>
                  <a:srgbClr val="D6584F"/>
                </a:solidFill>
                <a:latin typeface="Cambria" pitchFamily="34" charset="0"/>
                <a:ea typeface="Cambria" pitchFamily="34" charset="-122"/>
                <a:cs typeface="Cambria" pitchFamily="34" charset="-120"/>
              </a:rPr>
              <a:t>16.1%</a:t>
            </a:r>
            <a:endParaRPr lang="en-US" sz="4000" dirty="0"/>
          </a:p>
        </p:txBody>
      </p:sp>
      <p:sp>
        <p:nvSpPr>
          <p:cNvPr id="8" name="Text 6"/>
          <p:cNvSpPr/>
          <p:nvPr/>
        </p:nvSpPr>
        <p:spPr>
          <a:xfrm>
            <a:off x="8869680" y="1033272"/>
            <a:ext cx="2560320" cy="914400"/>
          </a:xfrm>
          <a:prstGeom prst="rect">
            <a:avLst/>
          </a:prstGeom>
          <a:noFill/>
          <a:ln/>
        </p:spPr>
        <p:txBody>
          <a:bodyPr wrap="square" rtlCol="0" anchor="ctr"/>
          <a:lstStyle/>
          <a:p>
            <a:pPr indent="0" marL="0">
              <a:lnSpc>
                <a:spcPct val="115000"/>
              </a:lnSpc>
              <a:buNone/>
            </a:pPr>
            <a:r>
              <a:rPr lang="en-US" sz="1250" dirty="0">
                <a:solidFill>
                  <a:srgbClr val="1B2A4A"/>
                </a:solidFill>
                <a:latin typeface="Calibri" pitchFamily="34" charset="0"/>
                <a:ea typeface="Calibri" pitchFamily="34" charset="-122"/>
                <a:cs typeface="Calibri" pitchFamily="34" charset="-120"/>
              </a:rPr>
              <a:t>Overall attrition rate (237 of 1,470 employees)</a:t>
            </a:r>
            <a:endParaRPr lang="en-US" sz="1250" dirty="0"/>
          </a:p>
        </p:txBody>
      </p:sp>
      <p:sp>
        <p:nvSpPr>
          <p:cNvPr id="9" name="Shape 7"/>
          <p:cNvSpPr/>
          <p:nvPr/>
        </p:nvSpPr>
        <p:spPr>
          <a:xfrm>
            <a:off x="6903720" y="2468880"/>
            <a:ext cx="4800600" cy="1417320"/>
          </a:xfrm>
          <a:prstGeom prst="roundRect">
            <a:avLst>
              <a:gd name="adj" fmla="val 5161"/>
            </a:avLst>
          </a:prstGeom>
          <a:solidFill>
            <a:srgbClr val="F4F6FB"/>
          </a:solidFill>
          <a:ln w="12700">
            <a:solidFill>
              <a:srgbClr val="F4F6FB"/>
            </a:solidFill>
            <a:prstDash val="solid"/>
          </a:ln>
        </p:spPr>
      </p:sp>
      <p:sp>
        <p:nvSpPr>
          <p:cNvPr id="10" name="Text 8"/>
          <p:cNvSpPr/>
          <p:nvPr/>
        </p:nvSpPr>
        <p:spPr>
          <a:xfrm>
            <a:off x="7223760" y="2633472"/>
            <a:ext cx="1828800" cy="914400"/>
          </a:xfrm>
          <a:prstGeom prst="rect">
            <a:avLst/>
          </a:prstGeom>
          <a:noFill/>
          <a:ln/>
        </p:spPr>
        <p:txBody>
          <a:bodyPr wrap="square" rtlCol="0" anchor="ctr"/>
          <a:lstStyle/>
          <a:p>
            <a:pPr indent="0" marL="0">
              <a:buNone/>
            </a:pPr>
            <a:r>
              <a:rPr lang="en-US" sz="4000" b="1" dirty="0">
                <a:solidFill>
                  <a:srgbClr val="E3A23D"/>
                </a:solidFill>
                <a:latin typeface="Cambria" pitchFamily="34" charset="0"/>
                <a:ea typeface="Cambria" pitchFamily="34" charset="-122"/>
                <a:cs typeface="Cambria" pitchFamily="34" charset="-120"/>
              </a:rPr>
              <a:t>5</a:t>
            </a:r>
            <a:endParaRPr lang="en-US" sz="4000" dirty="0"/>
          </a:p>
        </p:txBody>
      </p:sp>
      <p:sp>
        <p:nvSpPr>
          <p:cNvPr id="11" name="Text 9"/>
          <p:cNvSpPr/>
          <p:nvPr/>
        </p:nvSpPr>
        <p:spPr>
          <a:xfrm>
            <a:off x="8869680" y="2724912"/>
            <a:ext cx="2560320" cy="914400"/>
          </a:xfrm>
          <a:prstGeom prst="rect">
            <a:avLst/>
          </a:prstGeom>
          <a:noFill/>
          <a:ln/>
        </p:spPr>
        <p:txBody>
          <a:bodyPr wrap="square" rtlCol="0" anchor="ctr"/>
          <a:lstStyle/>
          <a:p>
            <a:pPr indent="0" marL="0">
              <a:lnSpc>
                <a:spcPct val="115000"/>
              </a:lnSpc>
              <a:buNone/>
            </a:pPr>
            <a:r>
              <a:rPr lang="en-US" sz="1250" dirty="0">
                <a:solidFill>
                  <a:srgbClr val="1B2A4A"/>
                </a:solidFill>
                <a:latin typeface="Calibri" pitchFamily="34" charset="0"/>
                <a:ea typeface="Calibri" pitchFamily="34" charset="-122"/>
                <a:cs typeface="Calibri" pitchFamily="34" charset="-120"/>
              </a:rPr>
              <a:t>Composite KPIs engineered from raw HR fields</a:t>
            </a:r>
            <a:endParaRPr lang="en-US" sz="1250" dirty="0"/>
          </a:p>
        </p:txBody>
      </p:sp>
      <p:sp>
        <p:nvSpPr>
          <p:cNvPr id="12" name="Shape 10"/>
          <p:cNvSpPr/>
          <p:nvPr/>
        </p:nvSpPr>
        <p:spPr>
          <a:xfrm>
            <a:off x="6903720" y="4160520"/>
            <a:ext cx="4800600" cy="1417320"/>
          </a:xfrm>
          <a:prstGeom prst="roundRect">
            <a:avLst>
              <a:gd name="adj" fmla="val 5161"/>
            </a:avLst>
          </a:prstGeom>
          <a:solidFill>
            <a:srgbClr val="F4F6FB"/>
          </a:solidFill>
          <a:ln w="12700">
            <a:solidFill>
              <a:srgbClr val="F4F6FB"/>
            </a:solidFill>
            <a:prstDash val="solid"/>
          </a:ln>
        </p:spPr>
      </p:sp>
      <p:sp>
        <p:nvSpPr>
          <p:cNvPr id="13" name="Text 11"/>
          <p:cNvSpPr/>
          <p:nvPr/>
        </p:nvSpPr>
        <p:spPr>
          <a:xfrm>
            <a:off x="7223760" y="4325112"/>
            <a:ext cx="1828800" cy="914400"/>
          </a:xfrm>
          <a:prstGeom prst="rect">
            <a:avLst/>
          </a:prstGeom>
          <a:noFill/>
          <a:ln/>
        </p:spPr>
        <p:txBody>
          <a:bodyPr wrap="square" rtlCol="0" anchor="ctr"/>
          <a:lstStyle/>
          <a:p>
            <a:pPr indent="0" marL="0">
              <a:buNone/>
            </a:pPr>
            <a:r>
              <a:rPr lang="en-US" sz="4000" b="1" dirty="0">
                <a:solidFill>
                  <a:srgbClr val="3E9C6E"/>
                </a:solidFill>
                <a:latin typeface="Cambria" pitchFamily="34" charset="0"/>
                <a:ea typeface="Cambria" pitchFamily="34" charset="-122"/>
                <a:cs typeface="Cambria" pitchFamily="34" charset="-120"/>
              </a:rPr>
              <a:t>15</a:t>
            </a:r>
            <a:endParaRPr lang="en-US" sz="4000" dirty="0"/>
          </a:p>
        </p:txBody>
      </p:sp>
      <p:sp>
        <p:nvSpPr>
          <p:cNvPr id="14" name="Text 12"/>
          <p:cNvSpPr/>
          <p:nvPr/>
        </p:nvSpPr>
        <p:spPr>
          <a:xfrm>
            <a:off x="8869680" y="4416552"/>
            <a:ext cx="2560320" cy="914400"/>
          </a:xfrm>
          <a:prstGeom prst="rect">
            <a:avLst/>
          </a:prstGeom>
          <a:noFill/>
          <a:ln/>
        </p:spPr>
        <p:txBody>
          <a:bodyPr wrap="square" rtlCol="0" anchor="ctr"/>
          <a:lstStyle/>
          <a:p>
            <a:pPr indent="0" marL="0">
              <a:lnSpc>
                <a:spcPct val="115000"/>
              </a:lnSpc>
              <a:buNone/>
            </a:pPr>
            <a:r>
              <a:rPr lang="en-US" sz="1250" dirty="0">
                <a:solidFill>
                  <a:srgbClr val="1B2A4A"/>
                </a:solidFill>
                <a:latin typeface="Calibri" pitchFamily="34" charset="0"/>
                <a:ea typeface="Calibri" pitchFamily="34" charset="-122"/>
                <a:cs typeface="Calibri" pitchFamily="34" charset="-120"/>
              </a:rPr>
              <a:t>Distinct empirical findings uncovered</a:t>
            </a:r>
            <a:endParaRPr lang="en-US" sz="1250" dirty="0"/>
          </a:p>
        </p:txBody>
      </p:sp>
      <p:sp>
        <p:nvSpPr>
          <p:cNvPr id="15" name="Text 13"/>
          <p:cNvSpPr/>
          <p:nvPr/>
        </p:nvSpPr>
        <p:spPr>
          <a:xfrm>
            <a:off x="457200" y="6473952"/>
            <a:ext cx="7315200" cy="274320"/>
          </a:xfrm>
          <a:prstGeom prst="rect">
            <a:avLst/>
          </a:prstGeom>
          <a:noFill/>
          <a:ln/>
        </p:spPr>
        <p:txBody>
          <a:bodyPr wrap="square" rtlCol="0" anchor="ctr"/>
          <a:lstStyle/>
          <a:p>
            <a:pPr indent="0" marL="0">
              <a:buNone/>
            </a:pPr>
            <a:r>
              <a:rPr lang="en-US" sz="1000" dirty="0">
                <a:solidFill>
                  <a:srgbClr val="A6AFC7"/>
                </a:solidFill>
                <a:latin typeface="Calibri" pitchFamily="34" charset="0"/>
                <a:ea typeface="Calibri" pitchFamily="34" charset="-122"/>
                <a:cs typeface="Calibri" pitchFamily="34" charset="-120"/>
              </a:rPr>
              <a:t>Palo Alto Networks — HR Analytics Diagnostic</a:t>
            </a:r>
            <a:endParaRPr lang="en-US" sz="1000" dirty="0"/>
          </a:p>
        </p:txBody>
      </p:sp>
      <p:sp>
        <p:nvSpPr>
          <p:cNvPr id="16" name="Text 14"/>
          <p:cNvSpPr/>
          <p:nvPr/>
        </p:nvSpPr>
        <p:spPr>
          <a:xfrm>
            <a:off x="11567160" y="6473952"/>
            <a:ext cx="457200" cy="274320"/>
          </a:xfrm>
          <a:prstGeom prst="rect">
            <a:avLst/>
          </a:prstGeom>
          <a:noFill/>
          <a:ln/>
        </p:spPr>
        <p:txBody>
          <a:bodyPr wrap="square" rtlCol="0" anchor="ctr"/>
          <a:lstStyle/>
          <a:p>
            <a:pPr algn="r" indent="0" marL="0">
              <a:buNone/>
            </a:pPr>
            <a:r>
              <a:rPr lang="en-US" sz="1000" dirty="0">
                <a:solidFill>
                  <a:srgbClr val="A6AFC7"/>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B2A4A"/>
        </a:solidFill>
      </p:bgPr>
    </p:bg>
    <p:spTree>
      <p:nvGrpSpPr>
        <p:cNvPr id="1" name=""/>
        <p:cNvGrpSpPr/>
        <p:nvPr/>
      </p:nvGrpSpPr>
      <p:grpSpPr>
        <a:xfrm>
          <a:off x="0" y="0"/>
          <a:ext cx="0" cy="0"/>
          <a:chOff x="0" y="0"/>
          <a:chExt cx="0" cy="0"/>
        </a:xfrm>
      </p:grpSpPr>
      <p:sp>
        <p:nvSpPr>
          <p:cNvPr id="2" name="Text 0"/>
          <p:cNvSpPr/>
          <p:nvPr/>
        </p:nvSpPr>
        <p:spPr>
          <a:xfrm>
            <a:off x="457200" y="365760"/>
            <a:ext cx="5486400" cy="320040"/>
          </a:xfrm>
          <a:prstGeom prst="rect">
            <a:avLst/>
          </a:prstGeom>
          <a:noFill/>
          <a:ln/>
        </p:spPr>
        <p:txBody>
          <a:bodyPr wrap="square" rtlCol="0" anchor="ctr"/>
          <a:lstStyle/>
          <a:p>
            <a:pPr indent="0" marL="0">
              <a:buNone/>
            </a:pPr>
            <a:r>
              <a:rPr lang="en-US" sz="1200" b="1" spc="200" kern="0" dirty="0">
                <a:solidFill>
                  <a:srgbClr val="8FA3D6"/>
                </a:solidFill>
                <a:latin typeface="Calibri" pitchFamily="34" charset="0"/>
                <a:ea typeface="Calibri" pitchFamily="34" charset="-122"/>
                <a:cs typeface="Calibri" pitchFamily="34" charset="-120"/>
              </a:rPr>
              <a:t>INTRODUCTION</a:t>
            </a:r>
            <a:endParaRPr lang="en-US" sz="1200" dirty="0"/>
          </a:p>
        </p:txBody>
      </p:sp>
      <p:sp>
        <p:nvSpPr>
          <p:cNvPr id="3" name="Text 1"/>
          <p:cNvSpPr/>
          <p:nvPr/>
        </p:nvSpPr>
        <p:spPr>
          <a:xfrm>
            <a:off x="457200" y="777240"/>
            <a:ext cx="10058400" cy="64008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Research objectives &amp; scope</a:t>
            </a:r>
            <a:endParaRPr lang="en-US" sz="3000" dirty="0"/>
          </a:p>
        </p:txBody>
      </p:sp>
      <p:sp>
        <p:nvSpPr>
          <p:cNvPr id="4" name="Shape 2"/>
          <p:cNvSpPr/>
          <p:nvPr/>
        </p:nvSpPr>
        <p:spPr>
          <a:xfrm>
            <a:off x="457200" y="1719072"/>
            <a:ext cx="310896" cy="310896"/>
          </a:xfrm>
          <a:prstGeom prst="ellipse">
            <a:avLst/>
          </a:prstGeom>
          <a:solidFill>
            <a:srgbClr val="24365C"/>
          </a:solidFill>
          <a:ln w="12700">
            <a:solidFill>
              <a:srgbClr val="3E4E78"/>
            </a:solidFill>
            <a:prstDash val="solid"/>
          </a:ln>
        </p:spPr>
      </p:sp>
      <p:sp>
        <p:nvSpPr>
          <p:cNvPr id="5" name="Text 3"/>
          <p:cNvSpPr/>
          <p:nvPr/>
        </p:nvSpPr>
        <p:spPr>
          <a:xfrm>
            <a:off x="457200" y="1719072"/>
            <a:ext cx="310896" cy="310896"/>
          </a:xfrm>
          <a:prstGeom prst="rect">
            <a:avLst/>
          </a:prstGeom>
          <a:noFill/>
          <a:ln/>
        </p:spPr>
        <p:txBody>
          <a:bodyPr wrap="square" rtlCol="0" anchor="ctr"/>
          <a:lstStyle/>
          <a:p>
            <a:pPr algn="ctr" indent="0" marL="0">
              <a:buNone/>
            </a:pPr>
            <a:r>
              <a:rPr lang="en-US" sz="1300" b="1" dirty="0">
                <a:solidFill>
                  <a:srgbClr val="D6584F"/>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960120" y="1664208"/>
            <a:ext cx="6035040" cy="502920"/>
          </a:xfrm>
          <a:prstGeom prst="rect">
            <a:avLst/>
          </a:prstGeom>
          <a:noFill/>
          <a:ln/>
        </p:spPr>
        <p:txBody>
          <a:bodyPr wrap="square" rtlCol="0" anchor="ctr"/>
          <a:lstStyle/>
          <a:p>
            <a:pPr indent="0" marL="0">
              <a:lnSpc>
                <a:spcPct val="110000"/>
              </a:lnSpc>
              <a:buNone/>
            </a:pPr>
            <a:r>
              <a:rPr lang="en-US" sz="1350" dirty="0">
                <a:solidFill>
                  <a:srgbClr val="E5EAF7"/>
                </a:solidFill>
                <a:latin typeface="Calibri" pitchFamily="34" charset="0"/>
                <a:ea typeface="Calibri" pitchFamily="34" charset="-122"/>
                <a:cs typeface="Calibri" pitchFamily="34" charset="-120"/>
              </a:rPr>
              <a:t>Validate, encode, and normalise the full employee dataset</a:t>
            </a:r>
            <a:endParaRPr lang="en-US" sz="1350" dirty="0"/>
          </a:p>
        </p:txBody>
      </p:sp>
      <p:sp>
        <p:nvSpPr>
          <p:cNvPr id="7" name="Shape 5"/>
          <p:cNvSpPr/>
          <p:nvPr/>
        </p:nvSpPr>
        <p:spPr>
          <a:xfrm>
            <a:off x="457200" y="2286000"/>
            <a:ext cx="310896" cy="310896"/>
          </a:xfrm>
          <a:prstGeom prst="ellipse">
            <a:avLst/>
          </a:prstGeom>
          <a:solidFill>
            <a:srgbClr val="24365C"/>
          </a:solidFill>
          <a:ln w="12700">
            <a:solidFill>
              <a:srgbClr val="3E4E78"/>
            </a:solidFill>
            <a:prstDash val="solid"/>
          </a:ln>
        </p:spPr>
      </p:sp>
      <p:sp>
        <p:nvSpPr>
          <p:cNvPr id="8" name="Text 6"/>
          <p:cNvSpPr/>
          <p:nvPr/>
        </p:nvSpPr>
        <p:spPr>
          <a:xfrm>
            <a:off x="457200" y="2286000"/>
            <a:ext cx="310896" cy="310896"/>
          </a:xfrm>
          <a:prstGeom prst="rect">
            <a:avLst/>
          </a:prstGeom>
          <a:noFill/>
          <a:ln/>
        </p:spPr>
        <p:txBody>
          <a:bodyPr wrap="square" rtlCol="0" anchor="ctr"/>
          <a:lstStyle/>
          <a:p>
            <a:pPr algn="ctr" indent="0" marL="0">
              <a:buNone/>
            </a:pPr>
            <a:r>
              <a:rPr lang="en-US" sz="1300" b="1" dirty="0">
                <a:solidFill>
                  <a:srgbClr val="D6584F"/>
                </a:solidFill>
                <a:latin typeface="Calibri" pitchFamily="34" charset="0"/>
                <a:ea typeface="Calibri" pitchFamily="34" charset="-122"/>
                <a:cs typeface="Calibri" pitchFamily="34" charset="-120"/>
              </a:rPr>
              <a:t>2</a:t>
            </a:r>
            <a:endParaRPr lang="en-US" sz="1300" dirty="0"/>
          </a:p>
        </p:txBody>
      </p:sp>
      <p:sp>
        <p:nvSpPr>
          <p:cNvPr id="9" name="Text 7"/>
          <p:cNvSpPr/>
          <p:nvPr/>
        </p:nvSpPr>
        <p:spPr>
          <a:xfrm>
            <a:off x="960120" y="2231136"/>
            <a:ext cx="6035040" cy="502920"/>
          </a:xfrm>
          <a:prstGeom prst="rect">
            <a:avLst/>
          </a:prstGeom>
          <a:noFill/>
          <a:ln/>
        </p:spPr>
        <p:txBody>
          <a:bodyPr wrap="square" rtlCol="0" anchor="ctr"/>
          <a:lstStyle/>
          <a:p>
            <a:pPr indent="0" marL="0">
              <a:lnSpc>
                <a:spcPct val="110000"/>
              </a:lnSpc>
              <a:buNone/>
            </a:pPr>
            <a:r>
              <a:rPr lang="en-US" sz="1350" dirty="0">
                <a:solidFill>
                  <a:srgbClr val="E5EAF7"/>
                </a:solidFill>
                <a:latin typeface="Calibri" pitchFamily="34" charset="0"/>
                <a:ea typeface="Calibri" pitchFamily="34" charset="-122"/>
                <a:cs typeface="Calibri" pitchFamily="34" charset="-120"/>
              </a:rPr>
              <a:t>Construct five composite KPIs spanning engagement, burnout, balance, stability, and workload stress</a:t>
            </a:r>
            <a:endParaRPr lang="en-US" sz="1350" dirty="0"/>
          </a:p>
        </p:txBody>
      </p:sp>
      <p:sp>
        <p:nvSpPr>
          <p:cNvPr id="10" name="Shape 8"/>
          <p:cNvSpPr/>
          <p:nvPr/>
        </p:nvSpPr>
        <p:spPr>
          <a:xfrm>
            <a:off x="457200" y="2852928"/>
            <a:ext cx="310896" cy="310896"/>
          </a:xfrm>
          <a:prstGeom prst="ellipse">
            <a:avLst/>
          </a:prstGeom>
          <a:solidFill>
            <a:srgbClr val="24365C"/>
          </a:solidFill>
          <a:ln w="12700">
            <a:solidFill>
              <a:srgbClr val="3E4E78"/>
            </a:solidFill>
            <a:prstDash val="solid"/>
          </a:ln>
        </p:spPr>
      </p:sp>
      <p:sp>
        <p:nvSpPr>
          <p:cNvPr id="11" name="Text 9"/>
          <p:cNvSpPr/>
          <p:nvPr/>
        </p:nvSpPr>
        <p:spPr>
          <a:xfrm>
            <a:off x="457200" y="2852928"/>
            <a:ext cx="310896" cy="310896"/>
          </a:xfrm>
          <a:prstGeom prst="rect">
            <a:avLst/>
          </a:prstGeom>
          <a:noFill/>
          <a:ln/>
        </p:spPr>
        <p:txBody>
          <a:bodyPr wrap="square" rtlCol="0" anchor="ctr"/>
          <a:lstStyle/>
          <a:p>
            <a:pPr algn="ctr" indent="0" marL="0">
              <a:buNone/>
            </a:pPr>
            <a:r>
              <a:rPr lang="en-US" sz="1300" b="1" dirty="0">
                <a:solidFill>
                  <a:srgbClr val="D6584F"/>
                </a:solidFill>
                <a:latin typeface="Calibri" pitchFamily="34" charset="0"/>
                <a:ea typeface="Calibri" pitchFamily="34" charset="-122"/>
                <a:cs typeface="Calibri" pitchFamily="34" charset="-120"/>
              </a:rPr>
              <a:t>3</a:t>
            </a:r>
            <a:endParaRPr lang="en-US" sz="1300" dirty="0"/>
          </a:p>
        </p:txBody>
      </p:sp>
      <p:sp>
        <p:nvSpPr>
          <p:cNvPr id="12" name="Text 10"/>
          <p:cNvSpPr/>
          <p:nvPr/>
        </p:nvSpPr>
        <p:spPr>
          <a:xfrm>
            <a:off x="960120" y="2798064"/>
            <a:ext cx="6035040" cy="502920"/>
          </a:xfrm>
          <a:prstGeom prst="rect">
            <a:avLst/>
          </a:prstGeom>
          <a:noFill/>
          <a:ln/>
        </p:spPr>
        <p:txBody>
          <a:bodyPr wrap="square" rtlCol="0" anchor="ctr"/>
          <a:lstStyle/>
          <a:p>
            <a:pPr indent="0" marL="0">
              <a:lnSpc>
                <a:spcPct val="110000"/>
              </a:lnSpc>
              <a:buNone/>
            </a:pPr>
            <a:r>
              <a:rPr lang="en-US" sz="1350" dirty="0">
                <a:solidFill>
                  <a:srgbClr val="E5EAF7"/>
                </a:solidFill>
                <a:latin typeface="Calibri" pitchFamily="34" charset="0"/>
                <a:ea typeface="Calibri" pitchFamily="34" charset="-122"/>
                <a:cs typeface="Calibri" pitchFamily="34" charset="-120"/>
              </a:rPr>
              <a:t>Identify demographic, role-based, and structural drivers of disengagement and burnout risk</a:t>
            </a:r>
            <a:endParaRPr lang="en-US" sz="1350" dirty="0"/>
          </a:p>
        </p:txBody>
      </p:sp>
      <p:sp>
        <p:nvSpPr>
          <p:cNvPr id="13" name="Shape 11"/>
          <p:cNvSpPr/>
          <p:nvPr/>
        </p:nvSpPr>
        <p:spPr>
          <a:xfrm>
            <a:off x="457200" y="3419856"/>
            <a:ext cx="310896" cy="310896"/>
          </a:xfrm>
          <a:prstGeom prst="ellipse">
            <a:avLst/>
          </a:prstGeom>
          <a:solidFill>
            <a:srgbClr val="24365C"/>
          </a:solidFill>
          <a:ln w="12700">
            <a:solidFill>
              <a:srgbClr val="3E4E78"/>
            </a:solidFill>
            <a:prstDash val="solid"/>
          </a:ln>
        </p:spPr>
      </p:sp>
      <p:sp>
        <p:nvSpPr>
          <p:cNvPr id="14" name="Text 12"/>
          <p:cNvSpPr/>
          <p:nvPr/>
        </p:nvSpPr>
        <p:spPr>
          <a:xfrm>
            <a:off x="457200" y="3419856"/>
            <a:ext cx="310896" cy="310896"/>
          </a:xfrm>
          <a:prstGeom prst="rect">
            <a:avLst/>
          </a:prstGeom>
          <a:noFill/>
          <a:ln/>
        </p:spPr>
        <p:txBody>
          <a:bodyPr wrap="square" rtlCol="0" anchor="ctr"/>
          <a:lstStyle/>
          <a:p>
            <a:pPr algn="ctr" indent="0" marL="0">
              <a:buNone/>
            </a:pPr>
            <a:r>
              <a:rPr lang="en-US" sz="1300" b="1" dirty="0">
                <a:solidFill>
                  <a:srgbClr val="D6584F"/>
                </a:solidFill>
                <a:latin typeface="Calibri" pitchFamily="34" charset="0"/>
                <a:ea typeface="Calibri" pitchFamily="34" charset="-122"/>
                <a:cs typeface="Calibri" pitchFamily="34" charset="-120"/>
              </a:rPr>
              <a:t>4</a:t>
            </a:r>
            <a:endParaRPr lang="en-US" sz="1300" dirty="0"/>
          </a:p>
        </p:txBody>
      </p:sp>
      <p:sp>
        <p:nvSpPr>
          <p:cNvPr id="15" name="Text 13"/>
          <p:cNvSpPr/>
          <p:nvPr/>
        </p:nvSpPr>
        <p:spPr>
          <a:xfrm>
            <a:off x="960120" y="3364992"/>
            <a:ext cx="6035040" cy="502920"/>
          </a:xfrm>
          <a:prstGeom prst="rect">
            <a:avLst/>
          </a:prstGeom>
          <a:noFill/>
          <a:ln/>
        </p:spPr>
        <p:txBody>
          <a:bodyPr wrap="square" rtlCol="0" anchor="ctr"/>
          <a:lstStyle/>
          <a:p>
            <a:pPr indent="0" marL="0">
              <a:lnSpc>
                <a:spcPct val="110000"/>
              </a:lnSpc>
              <a:buNone/>
            </a:pPr>
            <a:r>
              <a:rPr lang="en-US" sz="1350" dirty="0">
                <a:solidFill>
                  <a:srgbClr val="E5EAF7"/>
                </a:solidFill>
                <a:latin typeface="Calibri" pitchFamily="34" charset="0"/>
                <a:ea typeface="Calibri" pitchFamily="34" charset="-122"/>
                <a:cs typeface="Calibri" pitchFamily="34" charset="-120"/>
              </a:rPr>
              <a:t>Examine each KPI's association with the attrition outcome</a:t>
            </a:r>
            <a:endParaRPr lang="en-US" sz="1350" dirty="0"/>
          </a:p>
        </p:txBody>
      </p:sp>
      <p:sp>
        <p:nvSpPr>
          <p:cNvPr id="16" name="Shape 14"/>
          <p:cNvSpPr/>
          <p:nvPr/>
        </p:nvSpPr>
        <p:spPr>
          <a:xfrm>
            <a:off x="457200" y="3986784"/>
            <a:ext cx="310896" cy="310896"/>
          </a:xfrm>
          <a:prstGeom prst="ellipse">
            <a:avLst/>
          </a:prstGeom>
          <a:solidFill>
            <a:srgbClr val="24365C"/>
          </a:solidFill>
          <a:ln w="12700">
            <a:solidFill>
              <a:srgbClr val="3E4E78"/>
            </a:solidFill>
            <a:prstDash val="solid"/>
          </a:ln>
        </p:spPr>
      </p:sp>
      <p:sp>
        <p:nvSpPr>
          <p:cNvPr id="17" name="Text 15"/>
          <p:cNvSpPr/>
          <p:nvPr/>
        </p:nvSpPr>
        <p:spPr>
          <a:xfrm>
            <a:off x="457200" y="3986784"/>
            <a:ext cx="310896" cy="310896"/>
          </a:xfrm>
          <a:prstGeom prst="rect">
            <a:avLst/>
          </a:prstGeom>
          <a:noFill/>
          <a:ln/>
        </p:spPr>
        <p:txBody>
          <a:bodyPr wrap="square" rtlCol="0" anchor="ctr"/>
          <a:lstStyle/>
          <a:p>
            <a:pPr algn="ctr" indent="0" marL="0">
              <a:buNone/>
            </a:pPr>
            <a:r>
              <a:rPr lang="en-US" sz="1300" b="1" dirty="0">
                <a:solidFill>
                  <a:srgbClr val="D6584F"/>
                </a:solidFill>
                <a:latin typeface="Calibri" pitchFamily="34" charset="0"/>
                <a:ea typeface="Calibri" pitchFamily="34" charset="-122"/>
                <a:cs typeface="Calibri" pitchFamily="34" charset="-120"/>
              </a:rPr>
              <a:t>5</a:t>
            </a:r>
            <a:endParaRPr lang="en-US" sz="1300" dirty="0"/>
          </a:p>
        </p:txBody>
      </p:sp>
      <p:sp>
        <p:nvSpPr>
          <p:cNvPr id="18" name="Text 16"/>
          <p:cNvSpPr/>
          <p:nvPr/>
        </p:nvSpPr>
        <p:spPr>
          <a:xfrm>
            <a:off x="960120" y="3931920"/>
            <a:ext cx="6035040" cy="502920"/>
          </a:xfrm>
          <a:prstGeom prst="rect">
            <a:avLst/>
          </a:prstGeom>
          <a:noFill/>
          <a:ln/>
        </p:spPr>
        <p:txBody>
          <a:bodyPr wrap="square" rtlCol="0" anchor="ctr"/>
          <a:lstStyle/>
          <a:p>
            <a:pPr indent="0" marL="0">
              <a:lnSpc>
                <a:spcPct val="110000"/>
              </a:lnSpc>
              <a:buNone/>
            </a:pPr>
            <a:r>
              <a:rPr lang="en-US" sz="1350" dirty="0">
                <a:solidFill>
                  <a:srgbClr val="E5EAF7"/>
                </a:solidFill>
                <a:latin typeface="Calibri" pitchFamily="34" charset="0"/>
                <a:ea typeface="Calibri" pitchFamily="34" charset="-122"/>
                <a:cs typeface="Calibri" pitchFamily="34" charset="-120"/>
              </a:rPr>
              <a:t>Translate every finding into an actionable HR recommendation</a:t>
            </a:r>
            <a:endParaRPr lang="en-US" sz="1350" dirty="0"/>
          </a:p>
        </p:txBody>
      </p:sp>
      <p:sp>
        <p:nvSpPr>
          <p:cNvPr id="19" name="Shape 17"/>
          <p:cNvSpPr/>
          <p:nvPr/>
        </p:nvSpPr>
        <p:spPr>
          <a:xfrm>
            <a:off x="7360920" y="1691640"/>
            <a:ext cx="4343400" cy="4160520"/>
          </a:xfrm>
          <a:prstGeom prst="roundRect">
            <a:avLst>
              <a:gd name="adj" fmla="val 2198"/>
            </a:avLst>
          </a:prstGeom>
          <a:solidFill>
            <a:srgbClr val="24365C"/>
          </a:solidFill>
          <a:ln w="12700">
            <a:solidFill>
              <a:srgbClr val="3E4E78"/>
            </a:solidFill>
            <a:prstDash val="solid"/>
          </a:ln>
        </p:spPr>
      </p:sp>
      <p:sp>
        <p:nvSpPr>
          <p:cNvPr id="20" name="Text 18"/>
          <p:cNvSpPr/>
          <p:nvPr/>
        </p:nvSpPr>
        <p:spPr>
          <a:xfrm>
            <a:off x="7680960" y="1920240"/>
            <a:ext cx="3749040" cy="320040"/>
          </a:xfrm>
          <a:prstGeom prst="rect">
            <a:avLst/>
          </a:prstGeom>
          <a:noFill/>
          <a:ln/>
        </p:spPr>
        <p:txBody>
          <a:bodyPr wrap="square" rtlCol="0" anchor="ctr"/>
          <a:lstStyle/>
          <a:p>
            <a:pPr indent="0" marL="0">
              <a:buNone/>
            </a:pPr>
            <a:r>
              <a:rPr lang="en-US" sz="1200" b="1" spc="150" kern="0" dirty="0">
                <a:solidFill>
                  <a:srgbClr val="E3A23D"/>
                </a:solidFill>
                <a:latin typeface="Calibri" pitchFamily="34" charset="0"/>
                <a:ea typeface="Calibri" pitchFamily="34" charset="-122"/>
                <a:cs typeface="Calibri" pitchFamily="34" charset="-120"/>
              </a:rPr>
              <a:t>SCOPE &amp; LIMITATIONS</a:t>
            </a:r>
            <a:endParaRPr lang="en-US" sz="1200" dirty="0"/>
          </a:p>
        </p:txBody>
      </p:sp>
      <p:sp>
        <p:nvSpPr>
          <p:cNvPr id="21" name="Text 19"/>
          <p:cNvSpPr/>
          <p:nvPr/>
        </p:nvSpPr>
        <p:spPr>
          <a:xfrm>
            <a:off x="7680960" y="2423160"/>
            <a:ext cx="3749040" cy="731520"/>
          </a:xfrm>
          <a:prstGeom prst="rect">
            <a:avLst/>
          </a:prstGeom>
          <a:noFill/>
          <a:ln/>
        </p:spPr>
        <p:txBody>
          <a:bodyPr wrap="square" rtlCol="0" anchor="ctr"/>
          <a:lstStyle/>
          <a:p>
            <a:pPr indent="0" marL="0">
              <a:lnSpc>
                <a:spcPct val="115000"/>
              </a:lnSpc>
              <a:buNone/>
            </a:pPr>
            <a:r>
              <a:rPr lang="en-US" sz="1250" dirty="0">
                <a:solidFill>
                  <a:srgbClr val="CBD5EF"/>
                </a:solidFill>
                <a:latin typeface="Calibri" pitchFamily="34" charset="0"/>
                <a:ea typeface="Calibri" pitchFamily="34" charset="-122"/>
                <a:cs typeface="Calibri" pitchFamily="34" charset="-120"/>
              </a:rPr>
              <a:t>•  1,470 employee records, 31 features, zero missing values</a:t>
            </a:r>
            <a:endParaRPr lang="en-US" sz="1250" dirty="0"/>
          </a:p>
        </p:txBody>
      </p:sp>
      <p:sp>
        <p:nvSpPr>
          <p:cNvPr id="22" name="Text 20"/>
          <p:cNvSpPr/>
          <p:nvPr/>
        </p:nvSpPr>
        <p:spPr>
          <a:xfrm>
            <a:off x="7680960" y="3264408"/>
            <a:ext cx="3749040" cy="731520"/>
          </a:xfrm>
          <a:prstGeom prst="rect">
            <a:avLst/>
          </a:prstGeom>
          <a:noFill/>
          <a:ln/>
        </p:spPr>
        <p:txBody>
          <a:bodyPr wrap="square" rtlCol="0" anchor="ctr"/>
          <a:lstStyle/>
          <a:p>
            <a:pPr indent="0" marL="0">
              <a:lnSpc>
                <a:spcPct val="115000"/>
              </a:lnSpc>
              <a:buNone/>
            </a:pPr>
            <a:r>
              <a:rPr lang="en-US" sz="1250" dirty="0">
                <a:solidFill>
                  <a:srgbClr val="CBD5EF"/>
                </a:solidFill>
                <a:latin typeface="Calibri" pitchFamily="34" charset="0"/>
                <a:ea typeface="Calibri" pitchFamily="34" charset="-122"/>
                <a:cs typeface="Calibri" pitchFamily="34" charset="-120"/>
              </a:rPr>
              <a:t>•  All findings are descriptive and associative — not causal</a:t>
            </a:r>
            <a:endParaRPr lang="en-US" sz="1250" dirty="0"/>
          </a:p>
        </p:txBody>
      </p:sp>
      <p:sp>
        <p:nvSpPr>
          <p:cNvPr id="23" name="Text 21"/>
          <p:cNvSpPr/>
          <p:nvPr/>
        </p:nvSpPr>
        <p:spPr>
          <a:xfrm>
            <a:off x="7680960" y="4105656"/>
            <a:ext cx="3749040" cy="731520"/>
          </a:xfrm>
          <a:prstGeom prst="rect">
            <a:avLst/>
          </a:prstGeom>
          <a:noFill/>
          <a:ln/>
        </p:spPr>
        <p:txBody>
          <a:bodyPr wrap="square" rtlCol="0" anchor="ctr"/>
          <a:lstStyle/>
          <a:p>
            <a:pPr indent="0" marL="0">
              <a:lnSpc>
                <a:spcPct val="115000"/>
              </a:lnSpc>
              <a:buNone/>
            </a:pPr>
            <a:r>
              <a:rPr lang="en-US" sz="1250" dirty="0">
                <a:solidFill>
                  <a:srgbClr val="CBD5EF"/>
                </a:solidFill>
                <a:latin typeface="Calibri" pitchFamily="34" charset="0"/>
                <a:ea typeface="Calibri" pitchFamily="34" charset="-122"/>
                <a:cs typeface="Calibri" pitchFamily="34" charset="-120"/>
              </a:rPr>
              <a:t>•  PerformanceRating excluded (only values 3–4 present; no discriminatory power)</a:t>
            </a:r>
            <a:endParaRPr lang="en-US" sz="1250" dirty="0"/>
          </a:p>
        </p:txBody>
      </p:sp>
      <p:sp>
        <p:nvSpPr>
          <p:cNvPr id="24" name="Text 22"/>
          <p:cNvSpPr/>
          <p:nvPr/>
        </p:nvSpPr>
        <p:spPr>
          <a:xfrm>
            <a:off x="7680960" y="4946904"/>
            <a:ext cx="3749040" cy="731520"/>
          </a:xfrm>
          <a:prstGeom prst="rect">
            <a:avLst/>
          </a:prstGeom>
          <a:noFill/>
          <a:ln/>
        </p:spPr>
        <p:txBody>
          <a:bodyPr wrap="square" rtlCol="0" anchor="ctr"/>
          <a:lstStyle/>
          <a:p>
            <a:pPr indent="0" marL="0">
              <a:lnSpc>
                <a:spcPct val="115000"/>
              </a:lnSpc>
              <a:buNone/>
            </a:pPr>
            <a:r>
              <a:rPr lang="en-US" sz="1250" dirty="0">
                <a:solidFill>
                  <a:srgbClr val="CBD5EF"/>
                </a:solidFill>
                <a:latin typeface="Calibri" pitchFamily="34" charset="0"/>
                <a:ea typeface="Calibri" pitchFamily="34" charset="-122"/>
                <a:cs typeface="Calibri" pitchFamily="34" charset="-120"/>
              </a:rPr>
              <a:t>•  Findings are specific to this organisational context</a:t>
            </a:r>
            <a:endParaRPr lang="en-US" sz="1250" dirty="0"/>
          </a:p>
        </p:txBody>
      </p:sp>
      <p:sp>
        <p:nvSpPr>
          <p:cNvPr id="25" name="Text 23"/>
          <p:cNvSpPr/>
          <p:nvPr/>
        </p:nvSpPr>
        <p:spPr>
          <a:xfrm>
            <a:off x="11567160" y="6473952"/>
            <a:ext cx="457200" cy="274320"/>
          </a:xfrm>
          <a:prstGeom prst="rect">
            <a:avLst/>
          </a:prstGeom>
          <a:noFill/>
          <a:ln/>
        </p:spPr>
        <p:txBody>
          <a:bodyPr wrap="square" rtlCol="0" anchor="ctr"/>
          <a:lstStyle/>
          <a:p>
            <a:pPr algn="r" indent="0" marL="0">
              <a:buNone/>
            </a:pPr>
            <a:r>
              <a:rPr lang="en-US" sz="1000" dirty="0">
                <a:solidFill>
                  <a:srgbClr val="8A96B5"/>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5486400" cy="320040"/>
          </a:xfrm>
          <a:prstGeom prst="rect">
            <a:avLst/>
          </a:prstGeom>
          <a:noFill/>
          <a:ln/>
        </p:spPr>
        <p:txBody>
          <a:bodyPr wrap="square" rtlCol="0" anchor="ctr"/>
          <a:lstStyle/>
          <a:p>
            <a:pPr indent="0" marL="0">
              <a:buNone/>
            </a:pPr>
            <a:r>
              <a:rPr lang="en-US" sz="1200" b="1" spc="200" kern="0" dirty="0">
                <a:solidFill>
                  <a:srgbClr val="D6584F"/>
                </a:solidFill>
                <a:latin typeface="Calibri" pitchFamily="34" charset="0"/>
                <a:ea typeface="Calibri" pitchFamily="34" charset="-122"/>
                <a:cs typeface="Calibri" pitchFamily="34" charset="-120"/>
              </a:rPr>
              <a:t>METHODOLOGY</a:t>
            </a:r>
            <a:endParaRPr lang="en-US" sz="1200" dirty="0"/>
          </a:p>
        </p:txBody>
      </p:sp>
      <p:sp>
        <p:nvSpPr>
          <p:cNvPr id="3" name="Text 1"/>
          <p:cNvSpPr/>
          <p:nvPr/>
        </p:nvSpPr>
        <p:spPr>
          <a:xfrm>
            <a:off x="457200" y="777240"/>
            <a:ext cx="10058400" cy="548640"/>
          </a:xfrm>
          <a:prstGeom prst="rect">
            <a:avLst/>
          </a:prstGeom>
          <a:noFill/>
          <a:ln/>
        </p:spPr>
        <p:txBody>
          <a:bodyPr wrap="square" rtlCol="0" anchor="ctr"/>
          <a:lstStyle/>
          <a:p>
            <a:pPr indent="0" marL="0">
              <a:buNone/>
            </a:pPr>
            <a:r>
              <a:rPr lang="en-US" sz="2800" b="1" dirty="0">
                <a:solidFill>
                  <a:srgbClr val="1B2A4A"/>
                </a:solidFill>
                <a:latin typeface="Cambria" pitchFamily="34" charset="0"/>
                <a:ea typeface="Cambria" pitchFamily="34" charset="-122"/>
                <a:cs typeface="Cambria" pitchFamily="34" charset="-120"/>
              </a:rPr>
              <a:t>A six-step analytical pipeline</a:t>
            </a:r>
            <a:endParaRPr lang="en-US" sz="2800" dirty="0"/>
          </a:p>
        </p:txBody>
      </p:sp>
      <p:sp>
        <p:nvSpPr>
          <p:cNvPr id="4" name="Text 2"/>
          <p:cNvSpPr/>
          <p:nvPr/>
        </p:nvSpPr>
        <p:spPr>
          <a:xfrm>
            <a:off x="457200" y="1325880"/>
            <a:ext cx="10058400" cy="411480"/>
          </a:xfrm>
          <a:prstGeom prst="rect">
            <a:avLst/>
          </a:prstGeom>
          <a:noFill/>
          <a:ln/>
        </p:spPr>
        <p:txBody>
          <a:bodyPr wrap="square" rtlCol="0" anchor="ctr"/>
          <a:lstStyle/>
          <a:p>
            <a:pPr indent="0" marL="0">
              <a:buNone/>
            </a:pPr>
            <a:r>
              <a:rPr lang="en-US" sz="1300" dirty="0">
                <a:solidFill>
                  <a:srgbClr val="5B6B8C"/>
                </a:solidFill>
                <a:latin typeface="Calibri" pitchFamily="34" charset="0"/>
                <a:ea typeface="Calibri" pitchFamily="34" charset="-122"/>
                <a:cs typeface="Calibri" pitchFamily="34" charset="-120"/>
              </a:rPr>
              <a:t>Data validation and encoding precede five KPI-construction steps, each targeting a distinct dimension of employee experience.</a:t>
            </a:r>
            <a:endParaRPr lang="en-US" sz="1300" dirty="0"/>
          </a:p>
        </p:txBody>
      </p:sp>
      <p:sp>
        <p:nvSpPr>
          <p:cNvPr id="5" name="Shape 3"/>
          <p:cNvSpPr/>
          <p:nvPr/>
        </p:nvSpPr>
        <p:spPr>
          <a:xfrm>
            <a:off x="457200" y="1965960"/>
            <a:ext cx="3520440" cy="1965960"/>
          </a:xfrm>
          <a:prstGeom prst="roundRect">
            <a:avLst>
              <a:gd name="adj" fmla="val 3721"/>
            </a:avLst>
          </a:prstGeom>
          <a:solidFill>
            <a:srgbClr val="F4F6FB"/>
          </a:solidFill>
          <a:ln w="12700">
            <a:solidFill>
              <a:srgbClr val="F4F6FB"/>
            </a:solidFill>
            <a:prstDash val="solid"/>
          </a:ln>
        </p:spPr>
      </p:sp>
      <p:sp>
        <p:nvSpPr>
          <p:cNvPr id="6" name="Shape 4"/>
          <p:cNvSpPr/>
          <p:nvPr/>
        </p:nvSpPr>
        <p:spPr>
          <a:xfrm>
            <a:off x="658368" y="2148840"/>
            <a:ext cx="384048" cy="384048"/>
          </a:xfrm>
          <a:prstGeom prst="ellipse">
            <a:avLst/>
          </a:prstGeom>
          <a:solidFill>
            <a:srgbClr val="1B2A4A"/>
          </a:solidFill>
          <a:ln/>
        </p:spPr>
      </p:sp>
      <p:sp>
        <p:nvSpPr>
          <p:cNvPr id="7" name="Text 5"/>
          <p:cNvSpPr/>
          <p:nvPr/>
        </p:nvSpPr>
        <p:spPr>
          <a:xfrm>
            <a:off x="658368" y="2148840"/>
            <a:ext cx="384048" cy="384048"/>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8" name="Text 6"/>
          <p:cNvSpPr/>
          <p:nvPr/>
        </p:nvSpPr>
        <p:spPr>
          <a:xfrm>
            <a:off x="1170432" y="2103120"/>
            <a:ext cx="2606040" cy="502920"/>
          </a:xfrm>
          <a:prstGeom prst="rect">
            <a:avLst/>
          </a:prstGeom>
          <a:noFill/>
          <a:ln/>
        </p:spPr>
        <p:txBody>
          <a:bodyPr wrap="square" rtlCol="0" anchor="t"/>
          <a:lstStyle/>
          <a:p>
            <a:pPr indent="0" marL="0">
              <a:lnSpc>
                <a:spcPct val="100000"/>
              </a:lnSpc>
              <a:buNone/>
            </a:pPr>
            <a:r>
              <a:rPr lang="en-US" sz="1250" b="1" dirty="0">
                <a:solidFill>
                  <a:srgbClr val="1B2A4A"/>
                </a:solidFill>
                <a:latin typeface="Calibri" pitchFamily="34" charset="0"/>
                <a:ea typeface="Calibri" pitchFamily="34" charset="-122"/>
                <a:cs typeface="Calibri" pitchFamily="34" charset="-120"/>
              </a:rPr>
              <a:t>Validation, Encoding</a:t>
            </a:r>
            <a:endParaRPr lang="en-US" sz="1250" dirty="0"/>
          </a:p>
          <a:p>
            <a:pPr indent="0" marL="0">
              <a:lnSpc>
                <a:spcPct val="100000"/>
              </a:lnSpc>
              <a:buNone/>
            </a:pPr>
            <a:r>
              <a:rPr lang="en-US" sz="1250" b="1" dirty="0">
                <a:solidFill>
                  <a:srgbClr val="1B2A4A"/>
                </a:solidFill>
                <a:latin typeface="Calibri" pitchFamily="34" charset="0"/>
                <a:ea typeface="Calibri" pitchFamily="34" charset="-122"/>
                <a:cs typeface="Calibri" pitchFamily="34" charset="-120"/>
              </a:rPr>
              <a:t>&amp; Normalisation</a:t>
            </a:r>
            <a:endParaRPr lang="en-US" sz="1250" dirty="0"/>
          </a:p>
        </p:txBody>
      </p:sp>
      <p:sp>
        <p:nvSpPr>
          <p:cNvPr id="9" name="Text 7"/>
          <p:cNvSpPr/>
          <p:nvPr/>
        </p:nvSpPr>
        <p:spPr>
          <a:xfrm>
            <a:off x="658368" y="2743200"/>
            <a:ext cx="3108960" cy="1051560"/>
          </a:xfrm>
          <a:prstGeom prst="rect">
            <a:avLst/>
          </a:prstGeom>
          <a:noFill/>
          <a:ln/>
        </p:spPr>
        <p:txBody>
          <a:bodyPr wrap="square" rtlCol="0" anchor="ctr"/>
          <a:lstStyle/>
          <a:p>
            <a:pPr indent="0" marL="0">
              <a:lnSpc>
                <a:spcPct val="115000"/>
              </a:lnSpc>
              <a:buNone/>
            </a:pPr>
            <a:r>
              <a:rPr lang="en-US" sz="1050" dirty="0">
                <a:solidFill>
                  <a:srgbClr val="5B6B8C"/>
                </a:solidFill>
                <a:latin typeface="Calibri" pitchFamily="34" charset="0"/>
                <a:ea typeface="Calibri" pitchFamily="34" charset="-122"/>
                <a:cs typeface="Calibri" pitchFamily="34" charset="-120"/>
              </a:rPr>
              <a:t>Ordinal scales checked (1–4); OverTime/Gender binary-encoded; Department, JobRole, EducationField, MaritalStatus one-hot encoded (34→51 cols)</a:t>
            </a:r>
            <a:endParaRPr lang="en-US" sz="1050" dirty="0"/>
          </a:p>
        </p:txBody>
      </p:sp>
      <p:sp>
        <p:nvSpPr>
          <p:cNvPr id="10" name="Shape 8"/>
          <p:cNvSpPr/>
          <p:nvPr/>
        </p:nvSpPr>
        <p:spPr>
          <a:xfrm>
            <a:off x="4114800" y="1965960"/>
            <a:ext cx="3520440" cy="1965960"/>
          </a:xfrm>
          <a:prstGeom prst="roundRect">
            <a:avLst>
              <a:gd name="adj" fmla="val 3721"/>
            </a:avLst>
          </a:prstGeom>
          <a:solidFill>
            <a:srgbClr val="F4F6FB"/>
          </a:solidFill>
          <a:ln w="12700">
            <a:solidFill>
              <a:srgbClr val="F4F6FB"/>
            </a:solidFill>
            <a:prstDash val="solid"/>
          </a:ln>
        </p:spPr>
      </p:sp>
      <p:sp>
        <p:nvSpPr>
          <p:cNvPr id="11" name="Shape 9"/>
          <p:cNvSpPr/>
          <p:nvPr/>
        </p:nvSpPr>
        <p:spPr>
          <a:xfrm>
            <a:off x="4315968" y="2148840"/>
            <a:ext cx="384048" cy="384048"/>
          </a:xfrm>
          <a:prstGeom prst="ellipse">
            <a:avLst/>
          </a:prstGeom>
          <a:solidFill>
            <a:srgbClr val="1B2A4A"/>
          </a:solidFill>
          <a:ln/>
        </p:spPr>
      </p:sp>
      <p:sp>
        <p:nvSpPr>
          <p:cNvPr id="12" name="Text 10"/>
          <p:cNvSpPr/>
          <p:nvPr/>
        </p:nvSpPr>
        <p:spPr>
          <a:xfrm>
            <a:off x="4315968" y="2148840"/>
            <a:ext cx="384048" cy="384048"/>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3" name="Text 11"/>
          <p:cNvSpPr/>
          <p:nvPr/>
        </p:nvSpPr>
        <p:spPr>
          <a:xfrm>
            <a:off x="4828032" y="2103120"/>
            <a:ext cx="2606040" cy="502920"/>
          </a:xfrm>
          <a:prstGeom prst="rect">
            <a:avLst/>
          </a:prstGeom>
          <a:noFill/>
          <a:ln/>
        </p:spPr>
        <p:txBody>
          <a:bodyPr wrap="square" rtlCol="0" anchor="t"/>
          <a:lstStyle/>
          <a:p>
            <a:pPr indent="0" marL="0">
              <a:lnSpc>
                <a:spcPct val="100000"/>
              </a:lnSpc>
              <a:buNone/>
            </a:pPr>
            <a:r>
              <a:rPr lang="en-US" sz="1250" b="1" dirty="0">
                <a:solidFill>
                  <a:srgbClr val="1B2A4A"/>
                </a:solidFill>
                <a:latin typeface="Calibri" pitchFamily="34" charset="0"/>
                <a:ea typeface="Calibri" pitchFamily="34" charset="-122"/>
                <a:cs typeface="Calibri" pitchFamily="34" charset="-120"/>
              </a:rPr>
              <a:t>Engagement Index</a:t>
            </a:r>
            <a:endParaRPr lang="en-US" sz="1250" dirty="0"/>
          </a:p>
          <a:p>
            <a:pPr indent="0" marL="0">
              <a:lnSpc>
                <a:spcPct val="100000"/>
              </a:lnSpc>
              <a:buNone/>
            </a:pPr>
            <a:r>
              <a:rPr lang="en-US" sz="1250" b="1" dirty="0">
                <a:solidFill>
                  <a:srgbClr val="1B2A4A"/>
                </a:solidFill>
                <a:latin typeface="Calibri" pitchFamily="34" charset="0"/>
                <a:ea typeface="Calibri" pitchFamily="34" charset="-122"/>
                <a:cs typeface="Calibri" pitchFamily="34" charset="-120"/>
              </a:rPr>
              <a:t>(KPI 1)</a:t>
            </a:r>
            <a:endParaRPr lang="en-US" sz="1250" dirty="0"/>
          </a:p>
        </p:txBody>
      </p:sp>
      <p:sp>
        <p:nvSpPr>
          <p:cNvPr id="14" name="Text 12"/>
          <p:cNvSpPr/>
          <p:nvPr/>
        </p:nvSpPr>
        <p:spPr>
          <a:xfrm>
            <a:off x="4315968" y="2743200"/>
            <a:ext cx="3108960" cy="1051560"/>
          </a:xfrm>
          <a:prstGeom prst="rect">
            <a:avLst/>
          </a:prstGeom>
          <a:noFill/>
          <a:ln/>
        </p:spPr>
        <p:txBody>
          <a:bodyPr wrap="square" rtlCol="0" anchor="ctr"/>
          <a:lstStyle/>
          <a:p>
            <a:pPr indent="0" marL="0">
              <a:lnSpc>
                <a:spcPct val="115000"/>
              </a:lnSpc>
              <a:buNone/>
            </a:pPr>
            <a:r>
              <a:rPr lang="en-US" sz="1050" dirty="0">
                <a:solidFill>
                  <a:srgbClr val="5B6B8C"/>
                </a:solidFill>
                <a:latin typeface="Calibri" pitchFamily="34" charset="0"/>
                <a:ea typeface="Calibri" pitchFamily="34" charset="-122"/>
                <a:cs typeface="Calibri" pitchFamily="34" charset="-120"/>
              </a:rPr>
              <a:t>Mean of 4 normalised satisfaction dimensions: Job, Environment, Relationship, Involvement</a:t>
            </a:r>
            <a:endParaRPr lang="en-US" sz="1050" dirty="0"/>
          </a:p>
        </p:txBody>
      </p:sp>
      <p:sp>
        <p:nvSpPr>
          <p:cNvPr id="15" name="Shape 13"/>
          <p:cNvSpPr/>
          <p:nvPr/>
        </p:nvSpPr>
        <p:spPr>
          <a:xfrm>
            <a:off x="7772400" y="1965960"/>
            <a:ext cx="3520440" cy="1965960"/>
          </a:xfrm>
          <a:prstGeom prst="roundRect">
            <a:avLst>
              <a:gd name="adj" fmla="val 3721"/>
            </a:avLst>
          </a:prstGeom>
          <a:solidFill>
            <a:srgbClr val="F4F6FB"/>
          </a:solidFill>
          <a:ln w="12700">
            <a:solidFill>
              <a:srgbClr val="F4F6FB"/>
            </a:solidFill>
            <a:prstDash val="solid"/>
          </a:ln>
        </p:spPr>
      </p:sp>
      <p:sp>
        <p:nvSpPr>
          <p:cNvPr id="16" name="Shape 14"/>
          <p:cNvSpPr/>
          <p:nvPr/>
        </p:nvSpPr>
        <p:spPr>
          <a:xfrm>
            <a:off x="7973568" y="2148840"/>
            <a:ext cx="384048" cy="384048"/>
          </a:xfrm>
          <a:prstGeom prst="ellipse">
            <a:avLst/>
          </a:prstGeom>
          <a:solidFill>
            <a:srgbClr val="1B2A4A"/>
          </a:solidFill>
          <a:ln/>
        </p:spPr>
      </p:sp>
      <p:sp>
        <p:nvSpPr>
          <p:cNvPr id="17" name="Text 15"/>
          <p:cNvSpPr/>
          <p:nvPr/>
        </p:nvSpPr>
        <p:spPr>
          <a:xfrm>
            <a:off x="7973568" y="2148840"/>
            <a:ext cx="384048" cy="384048"/>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8" name="Text 16"/>
          <p:cNvSpPr/>
          <p:nvPr/>
        </p:nvSpPr>
        <p:spPr>
          <a:xfrm>
            <a:off x="8485632" y="2103120"/>
            <a:ext cx="2606040" cy="502920"/>
          </a:xfrm>
          <a:prstGeom prst="rect">
            <a:avLst/>
          </a:prstGeom>
          <a:noFill/>
          <a:ln/>
        </p:spPr>
        <p:txBody>
          <a:bodyPr wrap="square" rtlCol="0" anchor="t"/>
          <a:lstStyle/>
          <a:p>
            <a:pPr indent="0" marL="0">
              <a:lnSpc>
                <a:spcPct val="100000"/>
              </a:lnSpc>
              <a:buNone/>
            </a:pPr>
            <a:r>
              <a:rPr lang="en-US" sz="1250" b="1" dirty="0">
                <a:solidFill>
                  <a:srgbClr val="1B2A4A"/>
                </a:solidFill>
                <a:latin typeface="Calibri" pitchFamily="34" charset="0"/>
                <a:ea typeface="Calibri" pitchFamily="34" charset="-122"/>
                <a:cs typeface="Calibri" pitchFamily="34" charset="-120"/>
              </a:rPr>
              <a:t>Burnout Risk Score</a:t>
            </a:r>
            <a:endParaRPr lang="en-US" sz="1250" dirty="0"/>
          </a:p>
          <a:p>
            <a:pPr indent="0" marL="0">
              <a:lnSpc>
                <a:spcPct val="100000"/>
              </a:lnSpc>
              <a:buNone/>
            </a:pPr>
            <a:r>
              <a:rPr lang="en-US" sz="1250" b="1" dirty="0">
                <a:solidFill>
                  <a:srgbClr val="1B2A4A"/>
                </a:solidFill>
                <a:latin typeface="Calibri" pitchFamily="34" charset="0"/>
                <a:ea typeface="Calibri" pitchFamily="34" charset="-122"/>
                <a:cs typeface="Calibri" pitchFamily="34" charset="-120"/>
              </a:rPr>
              <a:t>(KPI 2)</a:t>
            </a:r>
            <a:endParaRPr lang="en-US" sz="1250" dirty="0"/>
          </a:p>
        </p:txBody>
      </p:sp>
      <p:sp>
        <p:nvSpPr>
          <p:cNvPr id="19" name="Text 17"/>
          <p:cNvSpPr/>
          <p:nvPr/>
        </p:nvSpPr>
        <p:spPr>
          <a:xfrm>
            <a:off x="7973568" y="2743200"/>
            <a:ext cx="3108960" cy="1051560"/>
          </a:xfrm>
          <a:prstGeom prst="rect">
            <a:avLst/>
          </a:prstGeom>
          <a:noFill/>
          <a:ln/>
        </p:spPr>
        <p:txBody>
          <a:bodyPr wrap="square" rtlCol="0" anchor="ctr"/>
          <a:lstStyle/>
          <a:p>
            <a:pPr indent="0" marL="0">
              <a:lnSpc>
                <a:spcPct val="115000"/>
              </a:lnSpc>
              <a:buNone/>
            </a:pPr>
            <a:r>
              <a:rPr lang="en-US" sz="1050" dirty="0">
                <a:solidFill>
                  <a:srgbClr val="5B6B8C"/>
                </a:solidFill>
                <a:latin typeface="Calibri" pitchFamily="34" charset="0"/>
                <a:ea typeface="Calibri" pitchFamily="34" charset="-122"/>
                <a:cs typeface="Calibri" pitchFamily="34" charset="-120"/>
              </a:rPr>
              <a:t>Rule-based 0–6 score: OverTime (+2), poor WLB (+2), low engagement (+1), frequent travel (+1)</a:t>
            </a:r>
            <a:endParaRPr lang="en-US" sz="1050" dirty="0"/>
          </a:p>
        </p:txBody>
      </p:sp>
      <p:sp>
        <p:nvSpPr>
          <p:cNvPr id="20" name="Shape 18"/>
          <p:cNvSpPr/>
          <p:nvPr/>
        </p:nvSpPr>
        <p:spPr>
          <a:xfrm>
            <a:off x="457200" y="4114800"/>
            <a:ext cx="3520440" cy="1965960"/>
          </a:xfrm>
          <a:prstGeom prst="roundRect">
            <a:avLst>
              <a:gd name="adj" fmla="val 3721"/>
            </a:avLst>
          </a:prstGeom>
          <a:solidFill>
            <a:srgbClr val="F4F6FB"/>
          </a:solidFill>
          <a:ln w="12700">
            <a:solidFill>
              <a:srgbClr val="F4F6FB"/>
            </a:solidFill>
            <a:prstDash val="solid"/>
          </a:ln>
        </p:spPr>
      </p:sp>
      <p:sp>
        <p:nvSpPr>
          <p:cNvPr id="21" name="Shape 19"/>
          <p:cNvSpPr/>
          <p:nvPr/>
        </p:nvSpPr>
        <p:spPr>
          <a:xfrm>
            <a:off x="658368" y="4297680"/>
            <a:ext cx="384048" cy="384048"/>
          </a:xfrm>
          <a:prstGeom prst="ellipse">
            <a:avLst/>
          </a:prstGeom>
          <a:solidFill>
            <a:srgbClr val="1B2A4A"/>
          </a:solidFill>
          <a:ln/>
        </p:spPr>
      </p:sp>
      <p:sp>
        <p:nvSpPr>
          <p:cNvPr id="22" name="Text 20"/>
          <p:cNvSpPr/>
          <p:nvPr/>
        </p:nvSpPr>
        <p:spPr>
          <a:xfrm>
            <a:off x="658368" y="4297680"/>
            <a:ext cx="384048" cy="384048"/>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3" name="Text 21"/>
          <p:cNvSpPr/>
          <p:nvPr/>
        </p:nvSpPr>
        <p:spPr>
          <a:xfrm>
            <a:off x="1170432" y="4251960"/>
            <a:ext cx="2606040" cy="502920"/>
          </a:xfrm>
          <a:prstGeom prst="rect">
            <a:avLst/>
          </a:prstGeom>
          <a:noFill/>
          <a:ln/>
        </p:spPr>
        <p:txBody>
          <a:bodyPr wrap="square" rtlCol="0" anchor="t"/>
          <a:lstStyle/>
          <a:p>
            <a:pPr indent="0" marL="0">
              <a:lnSpc>
                <a:spcPct val="100000"/>
              </a:lnSpc>
              <a:buNone/>
            </a:pPr>
            <a:r>
              <a:rPr lang="en-US" sz="1250" b="1" dirty="0">
                <a:solidFill>
                  <a:srgbClr val="1B2A4A"/>
                </a:solidFill>
                <a:latin typeface="Calibri" pitchFamily="34" charset="0"/>
                <a:ea typeface="Calibri" pitchFamily="34" charset="-122"/>
                <a:cs typeface="Calibri" pitchFamily="34" charset="-120"/>
              </a:rPr>
              <a:t>Work-Life Balance</a:t>
            </a:r>
            <a:endParaRPr lang="en-US" sz="1250" dirty="0"/>
          </a:p>
          <a:p>
            <a:pPr indent="0" marL="0">
              <a:lnSpc>
                <a:spcPct val="100000"/>
              </a:lnSpc>
              <a:buNone/>
            </a:pPr>
            <a:r>
              <a:rPr lang="en-US" sz="1250" b="1" dirty="0">
                <a:solidFill>
                  <a:srgbClr val="1B2A4A"/>
                </a:solidFill>
                <a:latin typeface="Calibri" pitchFamily="34" charset="0"/>
                <a:ea typeface="Calibri" pitchFamily="34" charset="-122"/>
                <a:cs typeface="Calibri" pitchFamily="34" charset="-120"/>
              </a:rPr>
              <a:t>Index (KPI 3)</a:t>
            </a:r>
            <a:endParaRPr lang="en-US" sz="1250" dirty="0"/>
          </a:p>
        </p:txBody>
      </p:sp>
      <p:sp>
        <p:nvSpPr>
          <p:cNvPr id="24" name="Text 22"/>
          <p:cNvSpPr/>
          <p:nvPr/>
        </p:nvSpPr>
        <p:spPr>
          <a:xfrm>
            <a:off x="658368" y="4892040"/>
            <a:ext cx="3108960" cy="1051560"/>
          </a:xfrm>
          <a:prstGeom prst="rect">
            <a:avLst/>
          </a:prstGeom>
          <a:noFill/>
          <a:ln/>
        </p:spPr>
        <p:txBody>
          <a:bodyPr wrap="square" rtlCol="0" anchor="ctr"/>
          <a:lstStyle/>
          <a:p>
            <a:pPr indent="0" marL="0">
              <a:lnSpc>
                <a:spcPct val="115000"/>
              </a:lnSpc>
              <a:buNone/>
            </a:pPr>
            <a:r>
              <a:rPr lang="en-US" sz="1050" dirty="0">
                <a:solidFill>
                  <a:srgbClr val="5B6B8C"/>
                </a:solidFill>
                <a:latin typeface="Calibri" pitchFamily="34" charset="0"/>
                <a:ea typeface="Calibri" pitchFamily="34" charset="-122"/>
                <a:cs typeface="Calibri" pitchFamily="34" charset="-120"/>
              </a:rPr>
              <a:t>Native 1–4 WorkLifeBalance field, disaggregated by department, overtime, attrition</a:t>
            </a:r>
            <a:endParaRPr lang="en-US" sz="1050" dirty="0"/>
          </a:p>
        </p:txBody>
      </p:sp>
      <p:sp>
        <p:nvSpPr>
          <p:cNvPr id="25" name="Shape 23"/>
          <p:cNvSpPr/>
          <p:nvPr/>
        </p:nvSpPr>
        <p:spPr>
          <a:xfrm>
            <a:off x="4114800" y="4114800"/>
            <a:ext cx="3520440" cy="1965960"/>
          </a:xfrm>
          <a:prstGeom prst="roundRect">
            <a:avLst>
              <a:gd name="adj" fmla="val 3721"/>
            </a:avLst>
          </a:prstGeom>
          <a:solidFill>
            <a:srgbClr val="F4F6FB"/>
          </a:solidFill>
          <a:ln w="12700">
            <a:solidFill>
              <a:srgbClr val="F4F6FB"/>
            </a:solidFill>
            <a:prstDash val="solid"/>
          </a:ln>
        </p:spPr>
      </p:sp>
      <p:sp>
        <p:nvSpPr>
          <p:cNvPr id="26" name="Shape 24"/>
          <p:cNvSpPr/>
          <p:nvPr/>
        </p:nvSpPr>
        <p:spPr>
          <a:xfrm>
            <a:off x="4315968" y="4297680"/>
            <a:ext cx="384048" cy="384048"/>
          </a:xfrm>
          <a:prstGeom prst="ellipse">
            <a:avLst/>
          </a:prstGeom>
          <a:solidFill>
            <a:srgbClr val="1B2A4A"/>
          </a:solidFill>
          <a:ln/>
        </p:spPr>
      </p:sp>
      <p:sp>
        <p:nvSpPr>
          <p:cNvPr id="27" name="Text 25"/>
          <p:cNvSpPr/>
          <p:nvPr/>
        </p:nvSpPr>
        <p:spPr>
          <a:xfrm>
            <a:off x="4315968" y="4297680"/>
            <a:ext cx="384048" cy="384048"/>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28" name="Text 26"/>
          <p:cNvSpPr/>
          <p:nvPr/>
        </p:nvSpPr>
        <p:spPr>
          <a:xfrm>
            <a:off x="4828032" y="4251960"/>
            <a:ext cx="2606040" cy="502920"/>
          </a:xfrm>
          <a:prstGeom prst="rect">
            <a:avLst/>
          </a:prstGeom>
          <a:noFill/>
          <a:ln/>
        </p:spPr>
        <p:txBody>
          <a:bodyPr wrap="square" rtlCol="0" anchor="t"/>
          <a:lstStyle/>
          <a:p>
            <a:pPr indent="0" marL="0">
              <a:lnSpc>
                <a:spcPct val="100000"/>
              </a:lnSpc>
              <a:buNone/>
            </a:pPr>
            <a:r>
              <a:rPr lang="en-US" sz="1250" b="1" dirty="0">
                <a:solidFill>
                  <a:srgbClr val="1B2A4A"/>
                </a:solidFill>
                <a:latin typeface="Calibri" pitchFamily="34" charset="0"/>
                <a:ea typeface="Calibri" pitchFamily="34" charset="-122"/>
                <a:cs typeface="Calibri" pitchFamily="34" charset="-120"/>
              </a:rPr>
              <a:t>Satisfaction Stability</a:t>
            </a:r>
            <a:endParaRPr lang="en-US" sz="1250" dirty="0"/>
          </a:p>
          <a:p>
            <a:pPr indent="0" marL="0">
              <a:lnSpc>
                <a:spcPct val="100000"/>
              </a:lnSpc>
              <a:buNone/>
            </a:pPr>
            <a:r>
              <a:rPr lang="en-US" sz="1250" b="1" dirty="0">
                <a:solidFill>
                  <a:srgbClr val="1B2A4A"/>
                </a:solidFill>
                <a:latin typeface="Calibri" pitchFamily="34" charset="0"/>
                <a:ea typeface="Calibri" pitchFamily="34" charset="-122"/>
                <a:cs typeface="Calibri" pitchFamily="34" charset="-120"/>
              </a:rPr>
              <a:t>Score (KPI 4)</a:t>
            </a:r>
            <a:endParaRPr lang="en-US" sz="1250" dirty="0"/>
          </a:p>
        </p:txBody>
      </p:sp>
      <p:sp>
        <p:nvSpPr>
          <p:cNvPr id="29" name="Text 27"/>
          <p:cNvSpPr/>
          <p:nvPr/>
        </p:nvSpPr>
        <p:spPr>
          <a:xfrm>
            <a:off x="4315968" y="4892040"/>
            <a:ext cx="3108960" cy="1051560"/>
          </a:xfrm>
          <a:prstGeom prst="rect">
            <a:avLst/>
          </a:prstGeom>
          <a:noFill/>
          <a:ln/>
        </p:spPr>
        <p:txBody>
          <a:bodyPr wrap="square" rtlCol="0" anchor="ctr"/>
          <a:lstStyle/>
          <a:p>
            <a:pPr indent="0" marL="0">
              <a:lnSpc>
                <a:spcPct val="115000"/>
              </a:lnSpc>
              <a:buNone/>
            </a:pPr>
            <a:r>
              <a:rPr lang="en-US" sz="1050" dirty="0">
                <a:solidFill>
                  <a:srgbClr val="5B6B8C"/>
                </a:solidFill>
                <a:latin typeface="Calibri" pitchFamily="34" charset="0"/>
                <a:ea typeface="Calibri" pitchFamily="34" charset="-122"/>
                <a:cs typeface="Calibri" pitchFamily="34" charset="-120"/>
              </a:rPr>
              <a:t>Std. deviation across the 4 satisfaction dimensions — flags internal conflict</a:t>
            </a:r>
            <a:endParaRPr lang="en-US" sz="1050" dirty="0"/>
          </a:p>
        </p:txBody>
      </p:sp>
      <p:sp>
        <p:nvSpPr>
          <p:cNvPr id="30" name="Shape 28"/>
          <p:cNvSpPr/>
          <p:nvPr/>
        </p:nvSpPr>
        <p:spPr>
          <a:xfrm>
            <a:off x="7772400" y="4114800"/>
            <a:ext cx="3520440" cy="1965960"/>
          </a:xfrm>
          <a:prstGeom prst="roundRect">
            <a:avLst>
              <a:gd name="adj" fmla="val 3721"/>
            </a:avLst>
          </a:prstGeom>
          <a:solidFill>
            <a:srgbClr val="F4F6FB"/>
          </a:solidFill>
          <a:ln w="12700">
            <a:solidFill>
              <a:srgbClr val="F4F6FB"/>
            </a:solidFill>
            <a:prstDash val="solid"/>
          </a:ln>
        </p:spPr>
      </p:sp>
      <p:sp>
        <p:nvSpPr>
          <p:cNvPr id="31" name="Shape 29"/>
          <p:cNvSpPr/>
          <p:nvPr/>
        </p:nvSpPr>
        <p:spPr>
          <a:xfrm>
            <a:off x="7973568" y="4297680"/>
            <a:ext cx="384048" cy="384048"/>
          </a:xfrm>
          <a:prstGeom prst="ellipse">
            <a:avLst/>
          </a:prstGeom>
          <a:solidFill>
            <a:srgbClr val="1B2A4A"/>
          </a:solidFill>
          <a:ln/>
        </p:spPr>
      </p:sp>
      <p:sp>
        <p:nvSpPr>
          <p:cNvPr id="32" name="Text 30"/>
          <p:cNvSpPr/>
          <p:nvPr/>
        </p:nvSpPr>
        <p:spPr>
          <a:xfrm>
            <a:off x="7973568" y="4297680"/>
            <a:ext cx="384048" cy="384048"/>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6</a:t>
            </a:r>
            <a:endParaRPr lang="en-US" sz="1500" dirty="0"/>
          </a:p>
        </p:txBody>
      </p:sp>
      <p:sp>
        <p:nvSpPr>
          <p:cNvPr id="33" name="Text 31"/>
          <p:cNvSpPr/>
          <p:nvPr/>
        </p:nvSpPr>
        <p:spPr>
          <a:xfrm>
            <a:off x="8485632" y="4251960"/>
            <a:ext cx="2606040" cy="502920"/>
          </a:xfrm>
          <a:prstGeom prst="rect">
            <a:avLst/>
          </a:prstGeom>
          <a:noFill/>
          <a:ln/>
        </p:spPr>
        <p:txBody>
          <a:bodyPr wrap="square" rtlCol="0" anchor="t"/>
          <a:lstStyle/>
          <a:p>
            <a:pPr indent="0" marL="0">
              <a:lnSpc>
                <a:spcPct val="100000"/>
              </a:lnSpc>
              <a:buNone/>
            </a:pPr>
            <a:r>
              <a:rPr lang="en-US" sz="1250" b="1" dirty="0">
                <a:solidFill>
                  <a:srgbClr val="1B2A4A"/>
                </a:solidFill>
                <a:latin typeface="Calibri" pitchFamily="34" charset="0"/>
                <a:ea typeface="Calibri" pitchFamily="34" charset="-122"/>
                <a:cs typeface="Calibri" pitchFamily="34" charset="-120"/>
              </a:rPr>
              <a:t>Workload Stress</a:t>
            </a:r>
            <a:endParaRPr lang="en-US" sz="1250" dirty="0"/>
          </a:p>
          <a:p>
            <a:pPr indent="0" marL="0">
              <a:lnSpc>
                <a:spcPct val="100000"/>
              </a:lnSpc>
              <a:buNone/>
            </a:pPr>
            <a:r>
              <a:rPr lang="en-US" sz="1250" b="1" dirty="0">
                <a:solidFill>
                  <a:srgbClr val="1B2A4A"/>
                </a:solidFill>
                <a:latin typeface="Calibri" pitchFamily="34" charset="0"/>
                <a:ea typeface="Calibri" pitchFamily="34" charset="-122"/>
                <a:cs typeface="Calibri" pitchFamily="34" charset="-120"/>
              </a:rPr>
              <a:t>Indicator (KPI 5)</a:t>
            </a:r>
            <a:endParaRPr lang="en-US" sz="1250" dirty="0"/>
          </a:p>
        </p:txBody>
      </p:sp>
      <p:sp>
        <p:nvSpPr>
          <p:cNvPr id="34" name="Text 32"/>
          <p:cNvSpPr/>
          <p:nvPr/>
        </p:nvSpPr>
        <p:spPr>
          <a:xfrm>
            <a:off x="7973568" y="4892040"/>
            <a:ext cx="3108960" cy="1051560"/>
          </a:xfrm>
          <a:prstGeom prst="rect">
            <a:avLst/>
          </a:prstGeom>
          <a:noFill/>
          <a:ln/>
        </p:spPr>
        <p:txBody>
          <a:bodyPr wrap="square" rtlCol="0" anchor="ctr"/>
          <a:lstStyle/>
          <a:p>
            <a:pPr indent="0" marL="0">
              <a:lnSpc>
                <a:spcPct val="115000"/>
              </a:lnSpc>
              <a:buNone/>
            </a:pPr>
            <a:r>
              <a:rPr lang="en-US" sz="1050" dirty="0">
                <a:solidFill>
                  <a:srgbClr val="5B6B8C"/>
                </a:solidFill>
                <a:latin typeface="Calibri" pitchFamily="34" charset="0"/>
                <a:ea typeface="Calibri" pitchFamily="34" charset="-122"/>
                <a:cs typeface="Calibri" pitchFamily="34" charset="-120"/>
              </a:rPr>
              <a:t>3×Overtime + BusinessTravel + 1[Commute&gt;15km] — composite external-pressure score</a:t>
            </a:r>
            <a:endParaRPr lang="en-US" sz="1050" dirty="0"/>
          </a:p>
        </p:txBody>
      </p:sp>
      <p:sp>
        <p:nvSpPr>
          <p:cNvPr id="35" name="Text 33"/>
          <p:cNvSpPr/>
          <p:nvPr/>
        </p:nvSpPr>
        <p:spPr>
          <a:xfrm>
            <a:off x="457200" y="6473952"/>
            <a:ext cx="7315200" cy="274320"/>
          </a:xfrm>
          <a:prstGeom prst="rect">
            <a:avLst/>
          </a:prstGeom>
          <a:noFill/>
          <a:ln/>
        </p:spPr>
        <p:txBody>
          <a:bodyPr wrap="square" rtlCol="0" anchor="ctr"/>
          <a:lstStyle/>
          <a:p>
            <a:pPr indent="0" marL="0">
              <a:buNone/>
            </a:pPr>
            <a:r>
              <a:rPr lang="en-US" sz="1000" dirty="0">
                <a:solidFill>
                  <a:srgbClr val="A6AFC7"/>
                </a:solidFill>
                <a:latin typeface="Calibri" pitchFamily="34" charset="0"/>
                <a:ea typeface="Calibri" pitchFamily="34" charset="-122"/>
                <a:cs typeface="Calibri" pitchFamily="34" charset="-120"/>
              </a:rPr>
              <a:t>Palo Alto Networks — HR Analytics Diagnostic</a:t>
            </a:r>
            <a:endParaRPr lang="en-US" sz="1000" dirty="0"/>
          </a:p>
        </p:txBody>
      </p:sp>
      <p:sp>
        <p:nvSpPr>
          <p:cNvPr id="36" name="Text 34"/>
          <p:cNvSpPr/>
          <p:nvPr/>
        </p:nvSpPr>
        <p:spPr>
          <a:xfrm>
            <a:off x="11567160" y="6473952"/>
            <a:ext cx="457200" cy="274320"/>
          </a:xfrm>
          <a:prstGeom prst="rect">
            <a:avLst/>
          </a:prstGeom>
          <a:noFill/>
          <a:ln/>
        </p:spPr>
        <p:txBody>
          <a:bodyPr wrap="square" rtlCol="0" anchor="ctr"/>
          <a:lstStyle/>
          <a:p>
            <a:pPr algn="r" indent="0" marL="0">
              <a:buNone/>
            </a:pPr>
            <a:r>
              <a:rPr lang="en-US" sz="1000" dirty="0">
                <a:solidFill>
                  <a:srgbClr val="A6AFC7"/>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5486400" cy="320040"/>
          </a:xfrm>
          <a:prstGeom prst="rect">
            <a:avLst/>
          </a:prstGeom>
          <a:noFill/>
          <a:ln/>
        </p:spPr>
        <p:txBody>
          <a:bodyPr wrap="square" rtlCol="0" anchor="ctr"/>
          <a:lstStyle/>
          <a:p>
            <a:pPr indent="0" marL="0">
              <a:buNone/>
            </a:pPr>
            <a:r>
              <a:rPr lang="en-US" sz="1200" b="1" spc="200" kern="0" dirty="0">
                <a:solidFill>
                  <a:srgbClr val="D6584F"/>
                </a:solidFill>
                <a:latin typeface="Calibri" pitchFamily="34" charset="0"/>
                <a:ea typeface="Calibri" pitchFamily="34" charset="-122"/>
                <a:cs typeface="Calibri" pitchFamily="34" charset="-120"/>
              </a:rPr>
              <a:t>METHODOLOGY</a:t>
            </a:r>
            <a:endParaRPr lang="en-US" sz="1200" dirty="0"/>
          </a:p>
        </p:txBody>
      </p:sp>
      <p:sp>
        <p:nvSpPr>
          <p:cNvPr id="3" name="Text 1"/>
          <p:cNvSpPr/>
          <p:nvPr/>
        </p:nvSpPr>
        <p:spPr>
          <a:xfrm>
            <a:off x="457200" y="777240"/>
            <a:ext cx="10515600" cy="548640"/>
          </a:xfrm>
          <a:prstGeom prst="rect">
            <a:avLst/>
          </a:prstGeom>
          <a:noFill/>
          <a:ln/>
        </p:spPr>
        <p:txBody>
          <a:bodyPr wrap="square" rtlCol="0" anchor="ctr"/>
          <a:lstStyle/>
          <a:p>
            <a:pPr indent="0" marL="0">
              <a:buNone/>
            </a:pPr>
            <a:r>
              <a:rPr lang="en-US" sz="2800" b="1" dirty="0">
                <a:solidFill>
                  <a:srgbClr val="1B2A4A"/>
                </a:solidFill>
                <a:latin typeface="Cambria" pitchFamily="34" charset="0"/>
                <a:ea typeface="Cambria" pitchFamily="34" charset="-122"/>
                <a:cs typeface="Cambria" pitchFamily="34" charset="-120"/>
              </a:rPr>
              <a:t>Five KPIs, five lenses on employee health</a:t>
            </a:r>
            <a:endParaRPr lang="en-US" sz="2800" dirty="0"/>
          </a:p>
        </p:txBody>
      </p:sp>
      <p:sp>
        <p:nvSpPr>
          <p:cNvPr id="4" name="Shape 2"/>
          <p:cNvSpPr/>
          <p:nvPr/>
        </p:nvSpPr>
        <p:spPr>
          <a:xfrm>
            <a:off x="457200" y="1600200"/>
            <a:ext cx="11247120" cy="777240"/>
          </a:xfrm>
          <a:prstGeom prst="roundRect">
            <a:avLst>
              <a:gd name="adj" fmla="val 7059"/>
            </a:avLst>
          </a:prstGeom>
          <a:solidFill>
            <a:srgbClr val="F4F6FB"/>
          </a:solidFill>
          <a:ln w="12700">
            <a:solidFill>
              <a:srgbClr val="F4F6FB"/>
            </a:solidFill>
            <a:prstDash val="solid"/>
          </a:ln>
        </p:spPr>
      </p:sp>
      <p:sp>
        <p:nvSpPr>
          <p:cNvPr id="5" name="Shape 3"/>
          <p:cNvSpPr/>
          <p:nvPr/>
        </p:nvSpPr>
        <p:spPr>
          <a:xfrm>
            <a:off x="457200" y="1600200"/>
            <a:ext cx="109728" cy="777240"/>
          </a:xfrm>
          <a:prstGeom prst="rect">
            <a:avLst/>
          </a:prstGeom>
          <a:solidFill>
            <a:srgbClr val="3E9C6E"/>
          </a:solidFill>
          <a:ln/>
        </p:spPr>
      </p:sp>
      <p:sp>
        <p:nvSpPr>
          <p:cNvPr id="6" name="Text 4"/>
          <p:cNvSpPr/>
          <p:nvPr/>
        </p:nvSpPr>
        <p:spPr>
          <a:xfrm>
            <a:off x="777240" y="1600200"/>
            <a:ext cx="914400" cy="777240"/>
          </a:xfrm>
          <a:prstGeom prst="rect">
            <a:avLst/>
          </a:prstGeom>
          <a:noFill/>
          <a:ln/>
        </p:spPr>
        <p:txBody>
          <a:bodyPr wrap="square" rtlCol="0" anchor="ctr"/>
          <a:lstStyle/>
          <a:p>
            <a:pPr indent="0" marL="0">
              <a:buNone/>
            </a:pPr>
            <a:r>
              <a:rPr lang="en-US" sz="1200" b="1" dirty="0">
                <a:solidFill>
                  <a:srgbClr val="3E9C6E"/>
                </a:solidFill>
                <a:latin typeface="Calibri" pitchFamily="34" charset="0"/>
                <a:ea typeface="Calibri" pitchFamily="34" charset="-122"/>
                <a:cs typeface="Calibri" pitchFamily="34" charset="-120"/>
              </a:rPr>
              <a:t>KPI 1</a:t>
            </a:r>
            <a:endParaRPr lang="en-US" sz="1200" dirty="0"/>
          </a:p>
        </p:txBody>
      </p:sp>
      <p:sp>
        <p:nvSpPr>
          <p:cNvPr id="7" name="Text 5"/>
          <p:cNvSpPr/>
          <p:nvPr/>
        </p:nvSpPr>
        <p:spPr>
          <a:xfrm>
            <a:off x="1691640" y="1600200"/>
            <a:ext cx="3566160" cy="777240"/>
          </a:xfrm>
          <a:prstGeom prst="rect">
            <a:avLst/>
          </a:prstGeom>
          <a:noFill/>
          <a:ln/>
        </p:spPr>
        <p:txBody>
          <a:bodyPr wrap="square" rtlCol="0" anchor="ctr"/>
          <a:lstStyle/>
          <a:p>
            <a:pPr indent="0" marL="0">
              <a:buNone/>
            </a:pPr>
            <a:r>
              <a:rPr lang="en-US" sz="1500" b="1" dirty="0">
                <a:solidFill>
                  <a:srgbClr val="1B2A4A"/>
                </a:solidFill>
                <a:latin typeface="Cambria" pitchFamily="34" charset="0"/>
                <a:ea typeface="Cambria" pitchFamily="34" charset="-122"/>
                <a:cs typeface="Cambria" pitchFamily="34" charset="-120"/>
              </a:rPr>
              <a:t>Engagement Index</a:t>
            </a:r>
            <a:endParaRPr lang="en-US" sz="1500" dirty="0"/>
          </a:p>
        </p:txBody>
      </p:sp>
      <p:sp>
        <p:nvSpPr>
          <p:cNvPr id="8" name="Text 6"/>
          <p:cNvSpPr/>
          <p:nvPr/>
        </p:nvSpPr>
        <p:spPr>
          <a:xfrm>
            <a:off x="5349240" y="1600200"/>
            <a:ext cx="6172200" cy="777240"/>
          </a:xfrm>
          <a:prstGeom prst="rect">
            <a:avLst/>
          </a:prstGeom>
          <a:noFill/>
          <a:ln/>
        </p:spPr>
        <p:txBody>
          <a:bodyPr wrap="square" rtlCol="0" anchor="ctr"/>
          <a:lstStyle/>
          <a:p>
            <a:pPr indent="0" marL="0">
              <a:buNone/>
            </a:pPr>
            <a:r>
              <a:rPr lang="en-US" sz="1200" dirty="0">
                <a:solidFill>
                  <a:srgbClr val="5B6B8C"/>
                </a:solidFill>
                <a:latin typeface="Calibri" pitchFamily="34" charset="0"/>
                <a:ea typeface="Calibri" pitchFamily="34" charset="-122"/>
                <a:cs typeface="Calibri" pitchFamily="34" charset="-120"/>
              </a:rPr>
              <a:t>High ≥0.67 · Medium 0.33–0.67 · Low &lt;0.33</a:t>
            </a:r>
            <a:endParaRPr lang="en-US" sz="1200" dirty="0"/>
          </a:p>
        </p:txBody>
      </p:sp>
      <p:sp>
        <p:nvSpPr>
          <p:cNvPr id="9" name="Shape 7"/>
          <p:cNvSpPr/>
          <p:nvPr/>
        </p:nvSpPr>
        <p:spPr>
          <a:xfrm>
            <a:off x="457200" y="2496312"/>
            <a:ext cx="11247120" cy="777240"/>
          </a:xfrm>
          <a:prstGeom prst="roundRect">
            <a:avLst>
              <a:gd name="adj" fmla="val 7059"/>
            </a:avLst>
          </a:prstGeom>
          <a:solidFill>
            <a:srgbClr val="F4F6FB"/>
          </a:solidFill>
          <a:ln w="12700">
            <a:solidFill>
              <a:srgbClr val="F4F6FB"/>
            </a:solidFill>
            <a:prstDash val="solid"/>
          </a:ln>
        </p:spPr>
      </p:sp>
      <p:sp>
        <p:nvSpPr>
          <p:cNvPr id="10" name="Shape 8"/>
          <p:cNvSpPr/>
          <p:nvPr/>
        </p:nvSpPr>
        <p:spPr>
          <a:xfrm>
            <a:off x="457200" y="2496312"/>
            <a:ext cx="109728" cy="777240"/>
          </a:xfrm>
          <a:prstGeom prst="rect">
            <a:avLst/>
          </a:prstGeom>
          <a:solidFill>
            <a:srgbClr val="D6584F"/>
          </a:solidFill>
          <a:ln/>
        </p:spPr>
      </p:sp>
      <p:sp>
        <p:nvSpPr>
          <p:cNvPr id="11" name="Text 9"/>
          <p:cNvSpPr/>
          <p:nvPr/>
        </p:nvSpPr>
        <p:spPr>
          <a:xfrm>
            <a:off x="777240" y="2496312"/>
            <a:ext cx="914400" cy="777240"/>
          </a:xfrm>
          <a:prstGeom prst="rect">
            <a:avLst/>
          </a:prstGeom>
          <a:noFill/>
          <a:ln/>
        </p:spPr>
        <p:txBody>
          <a:bodyPr wrap="square" rtlCol="0" anchor="ctr"/>
          <a:lstStyle/>
          <a:p>
            <a:pPr indent="0" marL="0">
              <a:buNone/>
            </a:pPr>
            <a:r>
              <a:rPr lang="en-US" sz="1200" b="1" dirty="0">
                <a:solidFill>
                  <a:srgbClr val="D6584F"/>
                </a:solidFill>
                <a:latin typeface="Calibri" pitchFamily="34" charset="0"/>
                <a:ea typeface="Calibri" pitchFamily="34" charset="-122"/>
                <a:cs typeface="Calibri" pitchFamily="34" charset="-120"/>
              </a:rPr>
              <a:t>KPI 2</a:t>
            </a:r>
            <a:endParaRPr lang="en-US" sz="1200" dirty="0"/>
          </a:p>
        </p:txBody>
      </p:sp>
      <p:sp>
        <p:nvSpPr>
          <p:cNvPr id="12" name="Text 10"/>
          <p:cNvSpPr/>
          <p:nvPr/>
        </p:nvSpPr>
        <p:spPr>
          <a:xfrm>
            <a:off x="1691640" y="2496312"/>
            <a:ext cx="3566160" cy="777240"/>
          </a:xfrm>
          <a:prstGeom prst="rect">
            <a:avLst/>
          </a:prstGeom>
          <a:noFill/>
          <a:ln/>
        </p:spPr>
        <p:txBody>
          <a:bodyPr wrap="square" rtlCol="0" anchor="ctr"/>
          <a:lstStyle/>
          <a:p>
            <a:pPr indent="0" marL="0">
              <a:buNone/>
            </a:pPr>
            <a:r>
              <a:rPr lang="en-US" sz="1500" b="1" dirty="0">
                <a:solidFill>
                  <a:srgbClr val="1B2A4A"/>
                </a:solidFill>
                <a:latin typeface="Cambria" pitchFamily="34" charset="0"/>
                <a:ea typeface="Cambria" pitchFamily="34" charset="-122"/>
                <a:cs typeface="Cambria" pitchFamily="34" charset="-120"/>
              </a:rPr>
              <a:t>Burnout Risk Score</a:t>
            </a:r>
            <a:endParaRPr lang="en-US" sz="1500" dirty="0"/>
          </a:p>
        </p:txBody>
      </p:sp>
      <p:sp>
        <p:nvSpPr>
          <p:cNvPr id="13" name="Text 11"/>
          <p:cNvSpPr/>
          <p:nvPr/>
        </p:nvSpPr>
        <p:spPr>
          <a:xfrm>
            <a:off x="5349240" y="2496312"/>
            <a:ext cx="6172200" cy="777240"/>
          </a:xfrm>
          <a:prstGeom prst="rect">
            <a:avLst/>
          </a:prstGeom>
          <a:noFill/>
          <a:ln/>
        </p:spPr>
        <p:txBody>
          <a:bodyPr wrap="square" rtlCol="0" anchor="ctr"/>
          <a:lstStyle/>
          <a:p>
            <a:pPr indent="0" marL="0">
              <a:buNone/>
            </a:pPr>
            <a:r>
              <a:rPr lang="en-US" sz="1200" dirty="0">
                <a:solidFill>
                  <a:srgbClr val="5B6B8C"/>
                </a:solidFill>
                <a:latin typeface="Calibri" pitchFamily="34" charset="0"/>
                <a:ea typeface="Calibri" pitchFamily="34" charset="-122"/>
                <a:cs typeface="Calibri" pitchFamily="34" charset="-120"/>
              </a:rPr>
              <a:t>Low &lt;2 · Medium 2–4 · High ≥4  (range 0–6)</a:t>
            </a:r>
            <a:endParaRPr lang="en-US" sz="1200" dirty="0"/>
          </a:p>
        </p:txBody>
      </p:sp>
      <p:sp>
        <p:nvSpPr>
          <p:cNvPr id="14" name="Shape 12"/>
          <p:cNvSpPr/>
          <p:nvPr/>
        </p:nvSpPr>
        <p:spPr>
          <a:xfrm>
            <a:off x="457200" y="3392424"/>
            <a:ext cx="11247120" cy="777240"/>
          </a:xfrm>
          <a:prstGeom prst="roundRect">
            <a:avLst>
              <a:gd name="adj" fmla="val 7059"/>
            </a:avLst>
          </a:prstGeom>
          <a:solidFill>
            <a:srgbClr val="F4F6FB"/>
          </a:solidFill>
          <a:ln w="12700">
            <a:solidFill>
              <a:srgbClr val="F4F6FB"/>
            </a:solidFill>
            <a:prstDash val="solid"/>
          </a:ln>
        </p:spPr>
      </p:sp>
      <p:sp>
        <p:nvSpPr>
          <p:cNvPr id="15" name="Shape 13"/>
          <p:cNvSpPr/>
          <p:nvPr/>
        </p:nvSpPr>
        <p:spPr>
          <a:xfrm>
            <a:off x="457200" y="3392424"/>
            <a:ext cx="109728" cy="777240"/>
          </a:xfrm>
          <a:prstGeom prst="rect">
            <a:avLst/>
          </a:prstGeom>
          <a:solidFill>
            <a:srgbClr val="E3A23D"/>
          </a:solidFill>
          <a:ln/>
        </p:spPr>
      </p:sp>
      <p:sp>
        <p:nvSpPr>
          <p:cNvPr id="16" name="Text 14"/>
          <p:cNvSpPr/>
          <p:nvPr/>
        </p:nvSpPr>
        <p:spPr>
          <a:xfrm>
            <a:off x="777240" y="3392424"/>
            <a:ext cx="914400" cy="777240"/>
          </a:xfrm>
          <a:prstGeom prst="rect">
            <a:avLst/>
          </a:prstGeom>
          <a:noFill/>
          <a:ln/>
        </p:spPr>
        <p:txBody>
          <a:bodyPr wrap="square" rtlCol="0" anchor="ctr"/>
          <a:lstStyle/>
          <a:p>
            <a:pPr indent="0" marL="0">
              <a:buNone/>
            </a:pPr>
            <a:r>
              <a:rPr lang="en-US" sz="1200" b="1" dirty="0">
                <a:solidFill>
                  <a:srgbClr val="E3A23D"/>
                </a:solidFill>
                <a:latin typeface="Calibri" pitchFamily="34" charset="0"/>
                <a:ea typeface="Calibri" pitchFamily="34" charset="-122"/>
                <a:cs typeface="Calibri" pitchFamily="34" charset="-120"/>
              </a:rPr>
              <a:t>KPI 3</a:t>
            </a:r>
            <a:endParaRPr lang="en-US" sz="1200" dirty="0"/>
          </a:p>
        </p:txBody>
      </p:sp>
      <p:sp>
        <p:nvSpPr>
          <p:cNvPr id="17" name="Text 15"/>
          <p:cNvSpPr/>
          <p:nvPr/>
        </p:nvSpPr>
        <p:spPr>
          <a:xfrm>
            <a:off x="1691640" y="3392424"/>
            <a:ext cx="3566160" cy="777240"/>
          </a:xfrm>
          <a:prstGeom prst="rect">
            <a:avLst/>
          </a:prstGeom>
          <a:noFill/>
          <a:ln/>
        </p:spPr>
        <p:txBody>
          <a:bodyPr wrap="square" rtlCol="0" anchor="ctr"/>
          <a:lstStyle/>
          <a:p>
            <a:pPr indent="0" marL="0">
              <a:buNone/>
            </a:pPr>
            <a:r>
              <a:rPr lang="en-US" sz="1500" b="1" dirty="0">
                <a:solidFill>
                  <a:srgbClr val="1B2A4A"/>
                </a:solidFill>
                <a:latin typeface="Cambria" pitchFamily="34" charset="0"/>
                <a:ea typeface="Cambria" pitchFamily="34" charset="-122"/>
                <a:cs typeface="Cambria" pitchFamily="34" charset="-120"/>
              </a:rPr>
              <a:t>Work-Life Balance Index</a:t>
            </a:r>
            <a:endParaRPr lang="en-US" sz="1500" dirty="0"/>
          </a:p>
        </p:txBody>
      </p:sp>
      <p:sp>
        <p:nvSpPr>
          <p:cNvPr id="18" name="Text 16"/>
          <p:cNvSpPr/>
          <p:nvPr/>
        </p:nvSpPr>
        <p:spPr>
          <a:xfrm>
            <a:off x="5349240" y="3392424"/>
            <a:ext cx="6172200" cy="777240"/>
          </a:xfrm>
          <a:prstGeom prst="rect">
            <a:avLst/>
          </a:prstGeom>
          <a:noFill/>
          <a:ln/>
        </p:spPr>
        <p:txBody>
          <a:bodyPr wrap="square" rtlCol="0" anchor="ctr"/>
          <a:lstStyle/>
          <a:p>
            <a:pPr indent="0" marL="0">
              <a:buNone/>
            </a:pPr>
            <a:r>
              <a:rPr lang="en-US" sz="1200" dirty="0">
                <a:solidFill>
                  <a:srgbClr val="5B6B8C"/>
                </a:solidFill>
                <a:latin typeface="Calibri" pitchFamily="34" charset="0"/>
                <a:ea typeface="Calibri" pitchFamily="34" charset="-122"/>
                <a:cs typeface="Calibri" pitchFamily="34" charset="-120"/>
              </a:rPr>
              <a:t>Native 1–4 scale: Bad · Good · Better · Best</a:t>
            </a:r>
            <a:endParaRPr lang="en-US" sz="1200" dirty="0"/>
          </a:p>
        </p:txBody>
      </p:sp>
      <p:sp>
        <p:nvSpPr>
          <p:cNvPr id="19" name="Shape 17"/>
          <p:cNvSpPr/>
          <p:nvPr/>
        </p:nvSpPr>
        <p:spPr>
          <a:xfrm>
            <a:off x="457200" y="4288536"/>
            <a:ext cx="11247120" cy="777240"/>
          </a:xfrm>
          <a:prstGeom prst="roundRect">
            <a:avLst>
              <a:gd name="adj" fmla="val 7059"/>
            </a:avLst>
          </a:prstGeom>
          <a:solidFill>
            <a:srgbClr val="F4F6FB"/>
          </a:solidFill>
          <a:ln w="12700">
            <a:solidFill>
              <a:srgbClr val="F4F6FB"/>
            </a:solidFill>
            <a:prstDash val="solid"/>
          </a:ln>
        </p:spPr>
      </p:sp>
      <p:sp>
        <p:nvSpPr>
          <p:cNvPr id="20" name="Shape 18"/>
          <p:cNvSpPr/>
          <p:nvPr/>
        </p:nvSpPr>
        <p:spPr>
          <a:xfrm>
            <a:off x="457200" y="4288536"/>
            <a:ext cx="109728" cy="777240"/>
          </a:xfrm>
          <a:prstGeom prst="rect">
            <a:avLst/>
          </a:prstGeom>
          <a:solidFill>
            <a:srgbClr val="6E7FB0"/>
          </a:solidFill>
          <a:ln/>
        </p:spPr>
      </p:sp>
      <p:sp>
        <p:nvSpPr>
          <p:cNvPr id="21" name="Text 19"/>
          <p:cNvSpPr/>
          <p:nvPr/>
        </p:nvSpPr>
        <p:spPr>
          <a:xfrm>
            <a:off x="777240" y="4288536"/>
            <a:ext cx="914400" cy="777240"/>
          </a:xfrm>
          <a:prstGeom prst="rect">
            <a:avLst/>
          </a:prstGeom>
          <a:noFill/>
          <a:ln/>
        </p:spPr>
        <p:txBody>
          <a:bodyPr wrap="square" rtlCol="0" anchor="ctr"/>
          <a:lstStyle/>
          <a:p>
            <a:pPr indent="0" marL="0">
              <a:buNone/>
            </a:pPr>
            <a:r>
              <a:rPr lang="en-US" sz="1200" b="1" dirty="0">
                <a:solidFill>
                  <a:srgbClr val="6E7FB0"/>
                </a:solidFill>
                <a:latin typeface="Calibri" pitchFamily="34" charset="0"/>
                <a:ea typeface="Calibri" pitchFamily="34" charset="-122"/>
                <a:cs typeface="Calibri" pitchFamily="34" charset="-120"/>
              </a:rPr>
              <a:t>KPI 4</a:t>
            </a:r>
            <a:endParaRPr lang="en-US" sz="1200" dirty="0"/>
          </a:p>
        </p:txBody>
      </p:sp>
      <p:sp>
        <p:nvSpPr>
          <p:cNvPr id="22" name="Text 20"/>
          <p:cNvSpPr/>
          <p:nvPr/>
        </p:nvSpPr>
        <p:spPr>
          <a:xfrm>
            <a:off x="1691640" y="4288536"/>
            <a:ext cx="3566160" cy="777240"/>
          </a:xfrm>
          <a:prstGeom prst="rect">
            <a:avLst/>
          </a:prstGeom>
          <a:noFill/>
          <a:ln/>
        </p:spPr>
        <p:txBody>
          <a:bodyPr wrap="square" rtlCol="0" anchor="ctr"/>
          <a:lstStyle/>
          <a:p>
            <a:pPr indent="0" marL="0">
              <a:buNone/>
            </a:pPr>
            <a:r>
              <a:rPr lang="en-US" sz="1500" b="1" dirty="0">
                <a:solidFill>
                  <a:srgbClr val="1B2A4A"/>
                </a:solidFill>
                <a:latin typeface="Cambria" pitchFamily="34" charset="0"/>
                <a:ea typeface="Cambria" pitchFamily="34" charset="-122"/>
                <a:cs typeface="Cambria" pitchFamily="34" charset="-120"/>
              </a:rPr>
              <a:t>Satisfaction Stability Score</a:t>
            </a:r>
            <a:endParaRPr lang="en-US" sz="1500" dirty="0"/>
          </a:p>
        </p:txBody>
      </p:sp>
      <p:sp>
        <p:nvSpPr>
          <p:cNvPr id="23" name="Text 21"/>
          <p:cNvSpPr/>
          <p:nvPr/>
        </p:nvSpPr>
        <p:spPr>
          <a:xfrm>
            <a:off x="5349240" y="4288536"/>
            <a:ext cx="6172200" cy="777240"/>
          </a:xfrm>
          <a:prstGeom prst="rect">
            <a:avLst/>
          </a:prstGeom>
          <a:noFill/>
          <a:ln/>
        </p:spPr>
        <p:txBody>
          <a:bodyPr wrap="square" rtlCol="0" anchor="ctr"/>
          <a:lstStyle/>
          <a:p>
            <a:pPr indent="0" marL="0">
              <a:buNone/>
            </a:pPr>
            <a:r>
              <a:rPr lang="en-US" sz="1200" dirty="0">
                <a:solidFill>
                  <a:srgbClr val="5B6B8C"/>
                </a:solidFill>
                <a:latin typeface="Calibri" pitchFamily="34" charset="0"/>
                <a:ea typeface="Calibri" pitchFamily="34" charset="-122"/>
                <a:cs typeface="Calibri" pitchFamily="34" charset="-120"/>
              </a:rPr>
              <a:t>Stable &lt;0.20 · Moderate 0.20–0.35 · Unstable ≥0.35</a:t>
            </a:r>
            <a:endParaRPr lang="en-US" sz="1200" dirty="0"/>
          </a:p>
        </p:txBody>
      </p:sp>
      <p:sp>
        <p:nvSpPr>
          <p:cNvPr id="24" name="Shape 22"/>
          <p:cNvSpPr/>
          <p:nvPr/>
        </p:nvSpPr>
        <p:spPr>
          <a:xfrm>
            <a:off x="457200" y="5184648"/>
            <a:ext cx="11247120" cy="777240"/>
          </a:xfrm>
          <a:prstGeom prst="roundRect">
            <a:avLst>
              <a:gd name="adj" fmla="val 7059"/>
            </a:avLst>
          </a:prstGeom>
          <a:solidFill>
            <a:srgbClr val="F4F6FB"/>
          </a:solidFill>
          <a:ln w="12700">
            <a:solidFill>
              <a:srgbClr val="F4F6FB"/>
            </a:solidFill>
            <a:prstDash val="solid"/>
          </a:ln>
        </p:spPr>
      </p:sp>
      <p:sp>
        <p:nvSpPr>
          <p:cNvPr id="25" name="Shape 23"/>
          <p:cNvSpPr/>
          <p:nvPr/>
        </p:nvSpPr>
        <p:spPr>
          <a:xfrm>
            <a:off x="457200" y="5184648"/>
            <a:ext cx="109728" cy="777240"/>
          </a:xfrm>
          <a:prstGeom prst="rect">
            <a:avLst/>
          </a:prstGeom>
          <a:solidFill>
            <a:srgbClr val="8A5CA6"/>
          </a:solidFill>
          <a:ln/>
        </p:spPr>
      </p:sp>
      <p:sp>
        <p:nvSpPr>
          <p:cNvPr id="26" name="Text 24"/>
          <p:cNvSpPr/>
          <p:nvPr/>
        </p:nvSpPr>
        <p:spPr>
          <a:xfrm>
            <a:off x="777240" y="5184648"/>
            <a:ext cx="914400" cy="777240"/>
          </a:xfrm>
          <a:prstGeom prst="rect">
            <a:avLst/>
          </a:prstGeom>
          <a:noFill/>
          <a:ln/>
        </p:spPr>
        <p:txBody>
          <a:bodyPr wrap="square" rtlCol="0" anchor="ctr"/>
          <a:lstStyle/>
          <a:p>
            <a:pPr indent="0" marL="0">
              <a:buNone/>
            </a:pPr>
            <a:r>
              <a:rPr lang="en-US" sz="1200" b="1" dirty="0">
                <a:solidFill>
                  <a:srgbClr val="8A5CA6"/>
                </a:solidFill>
                <a:latin typeface="Calibri" pitchFamily="34" charset="0"/>
                <a:ea typeface="Calibri" pitchFamily="34" charset="-122"/>
                <a:cs typeface="Calibri" pitchFamily="34" charset="-120"/>
              </a:rPr>
              <a:t>KPI 5</a:t>
            </a:r>
            <a:endParaRPr lang="en-US" sz="1200" dirty="0"/>
          </a:p>
        </p:txBody>
      </p:sp>
      <p:sp>
        <p:nvSpPr>
          <p:cNvPr id="27" name="Text 25"/>
          <p:cNvSpPr/>
          <p:nvPr/>
        </p:nvSpPr>
        <p:spPr>
          <a:xfrm>
            <a:off x="1691640" y="5184648"/>
            <a:ext cx="3566160" cy="777240"/>
          </a:xfrm>
          <a:prstGeom prst="rect">
            <a:avLst/>
          </a:prstGeom>
          <a:noFill/>
          <a:ln/>
        </p:spPr>
        <p:txBody>
          <a:bodyPr wrap="square" rtlCol="0" anchor="ctr"/>
          <a:lstStyle/>
          <a:p>
            <a:pPr indent="0" marL="0">
              <a:buNone/>
            </a:pPr>
            <a:r>
              <a:rPr lang="en-US" sz="1500" b="1" dirty="0">
                <a:solidFill>
                  <a:srgbClr val="1B2A4A"/>
                </a:solidFill>
                <a:latin typeface="Cambria" pitchFamily="34" charset="0"/>
                <a:ea typeface="Cambria" pitchFamily="34" charset="-122"/>
                <a:cs typeface="Cambria" pitchFamily="34" charset="-120"/>
              </a:rPr>
              <a:t>Workload Stress Indicator</a:t>
            </a:r>
            <a:endParaRPr lang="en-US" sz="1500" dirty="0"/>
          </a:p>
        </p:txBody>
      </p:sp>
      <p:sp>
        <p:nvSpPr>
          <p:cNvPr id="28" name="Text 26"/>
          <p:cNvSpPr/>
          <p:nvPr/>
        </p:nvSpPr>
        <p:spPr>
          <a:xfrm>
            <a:off x="5349240" y="5184648"/>
            <a:ext cx="6172200" cy="777240"/>
          </a:xfrm>
          <a:prstGeom prst="rect">
            <a:avLst/>
          </a:prstGeom>
          <a:noFill/>
          <a:ln/>
        </p:spPr>
        <p:txBody>
          <a:bodyPr wrap="square" rtlCol="0" anchor="ctr"/>
          <a:lstStyle/>
          <a:p>
            <a:pPr indent="0" marL="0">
              <a:buNone/>
            </a:pPr>
            <a:r>
              <a:rPr lang="en-US" sz="1200" dirty="0">
                <a:solidFill>
                  <a:srgbClr val="5B6B8C"/>
                </a:solidFill>
                <a:latin typeface="Calibri" pitchFamily="34" charset="0"/>
                <a:ea typeface="Calibri" pitchFamily="34" charset="-122"/>
                <a:cs typeface="Calibri" pitchFamily="34" charset="-120"/>
              </a:rPr>
              <a:t>3×Overtime + Travel(0–2) + Commute flag  (range 0–6)</a:t>
            </a:r>
            <a:endParaRPr lang="en-US" sz="1200" dirty="0"/>
          </a:p>
        </p:txBody>
      </p:sp>
      <p:sp>
        <p:nvSpPr>
          <p:cNvPr id="29" name="Text 27"/>
          <p:cNvSpPr/>
          <p:nvPr/>
        </p:nvSpPr>
        <p:spPr>
          <a:xfrm>
            <a:off x="457200" y="6473952"/>
            <a:ext cx="7315200" cy="274320"/>
          </a:xfrm>
          <a:prstGeom prst="rect">
            <a:avLst/>
          </a:prstGeom>
          <a:noFill/>
          <a:ln/>
        </p:spPr>
        <p:txBody>
          <a:bodyPr wrap="square" rtlCol="0" anchor="ctr"/>
          <a:lstStyle/>
          <a:p>
            <a:pPr indent="0" marL="0">
              <a:buNone/>
            </a:pPr>
            <a:r>
              <a:rPr lang="en-US" sz="1000" dirty="0">
                <a:solidFill>
                  <a:srgbClr val="A6AFC7"/>
                </a:solidFill>
                <a:latin typeface="Calibri" pitchFamily="34" charset="0"/>
                <a:ea typeface="Calibri" pitchFamily="34" charset="-122"/>
                <a:cs typeface="Calibri" pitchFamily="34" charset="-120"/>
              </a:rPr>
              <a:t>Palo Alto Networks — HR Analytics Diagnostic</a:t>
            </a:r>
            <a:endParaRPr lang="en-US" sz="1000" dirty="0"/>
          </a:p>
        </p:txBody>
      </p:sp>
      <p:sp>
        <p:nvSpPr>
          <p:cNvPr id="30" name="Text 28"/>
          <p:cNvSpPr/>
          <p:nvPr/>
        </p:nvSpPr>
        <p:spPr>
          <a:xfrm>
            <a:off x="11567160" y="6473952"/>
            <a:ext cx="457200" cy="274320"/>
          </a:xfrm>
          <a:prstGeom prst="rect">
            <a:avLst/>
          </a:prstGeom>
          <a:noFill/>
          <a:ln/>
        </p:spPr>
        <p:txBody>
          <a:bodyPr wrap="square" rtlCol="0" anchor="ctr"/>
          <a:lstStyle/>
          <a:p>
            <a:pPr algn="r" indent="0" marL="0">
              <a:buNone/>
            </a:pPr>
            <a:r>
              <a:rPr lang="en-US" sz="1000" dirty="0">
                <a:solidFill>
                  <a:srgbClr val="A6AFC7"/>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B2A4A"/>
        </a:solidFill>
      </p:bgPr>
    </p:bg>
    <p:spTree>
      <p:nvGrpSpPr>
        <p:cNvPr id="1" name=""/>
        <p:cNvGrpSpPr/>
        <p:nvPr/>
      </p:nvGrpSpPr>
      <p:grpSpPr>
        <a:xfrm>
          <a:off x="0" y="0"/>
          <a:ext cx="0" cy="0"/>
          <a:chOff x="0" y="0"/>
          <a:chExt cx="0" cy="0"/>
        </a:xfrm>
      </p:grpSpPr>
      <p:sp>
        <p:nvSpPr>
          <p:cNvPr id="2" name="Text 0"/>
          <p:cNvSpPr/>
          <p:nvPr/>
        </p:nvSpPr>
        <p:spPr>
          <a:xfrm>
            <a:off x="457200" y="365760"/>
            <a:ext cx="5486400" cy="320040"/>
          </a:xfrm>
          <a:prstGeom prst="rect">
            <a:avLst/>
          </a:prstGeom>
          <a:noFill/>
          <a:ln/>
        </p:spPr>
        <p:txBody>
          <a:bodyPr wrap="square" rtlCol="0" anchor="ctr"/>
          <a:lstStyle/>
          <a:p>
            <a:pPr indent="0" marL="0">
              <a:buNone/>
            </a:pPr>
            <a:r>
              <a:rPr lang="en-US" sz="1200" b="1" spc="200" kern="0" dirty="0">
                <a:solidFill>
                  <a:srgbClr val="8FA3D6"/>
                </a:solidFill>
                <a:latin typeface="Calibri" pitchFamily="34" charset="0"/>
                <a:ea typeface="Calibri" pitchFamily="34" charset="-122"/>
                <a:cs typeface="Calibri" pitchFamily="34" charset="-120"/>
              </a:rPr>
              <a:t>METHODOLOGY</a:t>
            </a:r>
            <a:endParaRPr lang="en-US" sz="1200" dirty="0"/>
          </a:p>
        </p:txBody>
      </p:sp>
      <p:sp>
        <p:nvSpPr>
          <p:cNvPr id="3" name="Text 1"/>
          <p:cNvSpPr/>
          <p:nvPr/>
        </p:nvSpPr>
        <p:spPr>
          <a:xfrm>
            <a:off x="457200" y="777240"/>
            <a:ext cx="9144000" cy="54864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Diagnostic, not predictive</a:t>
            </a:r>
            <a:endParaRPr lang="en-US" sz="2800" dirty="0"/>
          </a:p>
        </p:txBody>
      </p:sp>
      <p:sp>
        <p:nvSpPr>
          <p:cNvPr id="4" name="Text 2"/>
          <p:cNvSpPr/>
          <p:nvPr/>
        </p:nvSpPr>
        <p:spPr>
          <a:xfrm>
            <a:off x="457200" y="1371600"/>
            <a:ext cx="10515600" cy="548640"/>
          </a:xfrm>
          <a:prstGeom prst="rect">
            <a:avLst/>
          </a:prstGeom>
          <a:noFill/>
          <a:ln/>
        </p:spPr>
        <p:txBody>
          <a:bodyPr wrap="square" rtlCol="0" anchor="ctr"/>
          <a:lstStyle/>
          <a:p>
            <a:pPr indent="0" marL="0">
              <a:buNone/>
            </a:pPr>
            <a:r>
              <a:rPr lang="en-US" sz="1350" dirty="0">
                <a:solidFill>
                  <a:srgbClr val="C4D0EE"/>
                </a:solidFill>
                <a:latin typeface="Calibri" pitchFamily="34" charset="0"/>
                <a:ea typeface="Calibri" pitchFamily="34" charset="-122"/>
                <a:cs typeface="Calibri" pitchFamily="34" charset="-120"/>
              </a:rPr>
              <a:t>Prior work optimises classifiers to predict who will leave. This study engineers interpretable KPIs to explain why disengagement and burnout arise.</a:t>
            </a:r>
            <a:endParaRPr lang="en-US" sz="1350" dirty="0"/>
          </a:p>
        </p:txBody>
      </p:sp>
      <p:sp>
        <p:nvSpPr>
          <p:cNvPr id="5" name="Shape 3"/>
          <p:cNvSpPr/>
          <p:nvPr/>
        </p:nvSpPr>
        <p:spPr>
          <a:xfrm>
            <a:off x="457200" y="2148840"/>
            <a:ext cx="3520440" cy="3657600"/>
          </a:xfrm>
          <a:prstGeom prst="roundRect">
            <a:avLst>
              <a:gd name="adj" fmla="val 2338"/>
            </a:avLst>
          </a:prstGeom>
          <a:solidFill>
            <a:srgbClr val="24365C"/>
          </a:solidFill>
          <a:ln w="12700">
            <a:solidFill>
              <a:srgbClr val="3E4E78"/>
            </a:solidFill>
            <a:prstDash val="solid"/>
          </a:ln>
        </p:spPr>
      </p:sp>
      <p:sp>
        <p:nvSpPr>
          <p:cNvPr id="6" name="Text 4"/>
          <p:cNvSpPr/>
          <p:nvPr/>
        </p:nvSpPr>
        <p:spPr>
          <a:xfrm>
            <a:off x="713232" y="2377440"/>
            <a:ext cx="3008376" cy="320040"/>
          </a:xfrm>
          <a:prstGeom prst="rect">
            <a:avLst/>
          </a:prstGeom>
          <a:noFill/>
          <a:ln/>
        </p:spPr>
        <p:txBody>
          <a:bodyPr wrap="square" rtlCol="0" anchor="ctr"/>
          <a:lstStyle/>
          <a:p>
            <a:pPr indent="0" marL="0">
              <a:buNone/>
            </a:pPr>
            <a:r>
              <a:rPr lang="en-US" sz="1100" b="1" spc="100" kern="0" dirty="0">
                <a:solidFill>
                  <a:srgbClr val="D6584F"/>
                </a:solidFill>
                <a:latin typeface="Calibri" pitchFamily="34" charset="0"/>
                <a:ea typeface="Calibri" pitchFamily="34" charset="-122"/>
                <a:cs typeface="Calibri" pitchFamily="34" charset="-120"/>
              </a:rPr>
              <a:t>JOB EMBEDDEDNESS</a:t>
            </a:r>
            <a:endParaRPr lang="en-US" sz="1100" dirty="0"/>
          </a:p>
        </p:txBody>
      </p:sp>
      <p:sp>
        <p:nvSpPr>
          <p:cNvPr id="7" name="Text 5"/>
          <p:cNvSpPr/>
          <p:nvPr/>
        </p:nvSpPr>
        <p:spPr>
          <a:xfrm>
            <a:off x="713232" y="2715768"/>
            <a:ext cx="3008376" cy="457200"/>
          </a:xfrm>
          <a:prstGeom prst="rect">
            <a:avLst/>
          </a:prstGeom>
          <a:noFill/>
          <a:ln/>
        </p:spPr>
        <p:txBody>
          <a:bodyPr wrap="square"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Mitchell et al. (2001)</a:t>
            </a:r>
            <a:endParaRPr lang="en-US" sz="1600" dirty="0"/>
          </a:p>
        </p:txBody>
      </p:sp>
      <p:sp>
        <p:nvSpPr>
          <p:cNvPr id="8" name="Text 6"/>
          <p:cNvSpPr/>
          <p:nvPr/>
        </p:nvSpPr>
        <p:spPr>
          <a:xfrm>
            <a:off x="713232" y="3291840"/>
            <a:ext cx="3008376" cy="2286000"/>
          </a:xfrm>
          <a:prstGeom prst="rect">
            <a:avLst/>
          </a:prstGeom>
          <a:noFill/>
          <a:ln/>
        </p:spPr>
        <p:txBody>
          <a:bodyPr wrap="square" rtlCol="0" anchor="ctr"/>
          <a:lstStyle/>
          <a:p>
            <a:pPr indent="0" marL="0">
              <a:lnSpc>
                <a:spcPct val="125000"/>
              </a:lnSpc>
              <a:buNone/>
            </a:pPr>
            <a:r>
              <a:rPr lang="en-US" sz="1250" dirty="0">
                <a:solidFill>
                  <a:srgbClr val="CBD5EF"/>
                </a:solidFill>
                <a:latin typeface="Calibri" pitchFamily="34" charset="0"/>
                <a:ea typeface="Calibri" pitchFamily="34" charset="-122"/>
                <a:cs typeface="Calibri" pitchFamily="34" charset="-120"/>
              </a:rPr>
              <a:t>Retention isn't merely the inverse of dissatisfaction — links, fit, and sacrifice explain turnover beyond attitude alone. Anticipates this study's Engagement-Stress Paradox.</a:t>
            </a:r>
            <a:endParaRPr lang="en-US" sz="1250" dirty="0"/>
          </a:p>
        </p:txBody>
      </p:sp>
      <p:sp>
        <p:nvSpPr>
          <p:cNvPr id="9" name="Shape 7"/>
          <p:cNvSpPr/>
          <p:nvPr/>
        </p:nvSpPr>
        <p:spPr>
          <a:xfrm>
            <a:off x="4160520" y="2148840"/>
            <a:ext cx="3520440" cy="3657600"/>
          </a:xfrm>
          <a:prstGeom prst="roundRect">
            <a:avLst>
              <a:gd name="adj" fmla="val 2338"/>
            </a:avLst>
          </a:prstGeom>
          <a:solidFill>
            <a:srgbClr val="24365C"/>
          </a:solidFill>
          <a:ln w="12700">
            <a:solidFill>
              <a:srgbClr val="3E4E78"/>
            </a:solidFill>
            <a:prstDash val="solid"/>
          </a:ln>
        </p:spPr>
      </p:sp>
      <p:sp>
        <p:nvSpPr>
          <p:cNvPr id="10" name="Text 8"/>
          <p:cNvSpPr/>
          <p:nvPr/>
        </p:nvSpPr>
        <p:spPr>
          <a:xfrm>
            <a:off x="4416552" y="2377440"/>
            <a:ext cx="3008376" cy="320040"/>
          </a:xfrm>
          <a:prstGeom prst="rect">
            <a:avLst/>
          </a:prstGeom>
          <a:noFill/>
          <a:ln/>
        </p:spPr>
        <p:txBody>
          <a:bodyPr wrap="square" rtlCol="0" anchor="ctr"/>
          <a:lstStyle/>
          <a:p>
            <a:pPr indent="0" marL="0">
              <a:buNone/>
            </a:pPr>
            <a:r>
              <a:rPr lang="en-US" sz="1100" b="1" spc="100" kern="0" dirty="0">
                <a:solidFill>
                  <a:srgbClr val="D6584F"/>
                </a:solidFill>
                <a:latin typeface="Calibri" pitchFamily="34" charset="0"/>
                <a:ea typeface="Calibri" pitchFamily="34" charset="-122"/>
                <a:cs typeface="Calibri" pitchFamily="34" charset="-120"/>
              </a:rPr>
              <a:t>ML CLASSIFIERS</a:t>
            </a:r>
            <a:endParaRPr lang="en-US" sz="1100" dirty="0"/>
          </a:p>
        </p:txBody>
      </p:sp>
      <p:sp>
        <p:nvSpPr>
          <p:cNvPr id="11" name="Text 9"/>
          <p:cNvSpPr/>
          <p:nvPr/>
        </p:nvSpPr>
        <p:spPr>
          <a:xfrm>
            <a:off x="4416552" y="2715768"/>
            <a:ext cx="3008376" cy="457200"/>
          </a:xfrm>
          <a:prstGeom prst="rect">
            <a:avLst/>
          </a:prstGeom>
          <a:noFill/>
          <a:ln/>
        </p:spPr>
        <p:txBody>
          <a:bodyPr wrap="square"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Fallucchi et al. (2020)</a:t>
            </a:r>
            <a:endParaRPr lang="en-US" sz="1600" dirty="0"/>
          </a:p>
        </p:txBody>
      </p:sp>
      <p:sp>
        <p:nvSpPr>
          <p:cNvPr id="12" name="Text 10"/>
          <p:cNvSpPr/>
          <p:nvPr/>
        </p:nvSpPr>
        <p:spPr>
          <a:xfrm>
            <a:off x="4416552" y="3291840"/>
            <a:ext cx="3008376" cy="2286000"/>
          </a:xfrm>
          <a:prstGeom prst="rect">
            <a:avLst/>
          </a:prstGeom>
          <a:noFill/>
          <a:ln/>
        </p:spPr>
        <p:txBody>
          <a:bodyPr wrap="square" rtlCol="0" anchor="ctr"/>
          <a:lstStyle/>
          <a:p>
            <a:pPr indent="0" marL="0">
              <a:lnSpc>
                <a:spcPct val="125000"/>
              </a:lnSpc>
              <a:buNone/>
            </a:pPr>
            <a:r>
              <a:rPr lang="en-US" sz="1250" dirty="0">
                <a:solidFill>
                  <a:srgbClr val="CBD5EF"/>
                </a:solidFill>
                <a:latin typeface="Calibri" pitchFamily="34" charset="0"/>
                <a:ea typeface="Calibri" pitchFamily="34" charset="-122"/>
                <a:cs typeface="Calibri" pitchFamily="34" charset="-120"/>
              </a:rPr>
              <a:t>Logistic regression, random forest, and SVM on a comparably structured HR dataset — overtime and job satisfaction ranked among the most predictive features.</a:t>
            </a:r>
            <a:endParaRPr lang="en-US" sz="1250" dirty="0"/>
          </a:p>
        </p:txBody>
      </p:sp>
      <p:sp>
        <p:nvSpPr>
          <p:cNvPr id="13" name="Shape 11"/>
          <p:cNvSpPr/>
          <p:nvPr/>
        </p:nvSpPr>
        <p:spPr>
          <a:xfrm>
            <a:off x="7863840" y="2148840"/>
            <a:ext cx="3520440" cy="3657600"/>
          </a:xfrm>
          <a:prstGeom prst="roundRect">
            <a:avLst>
              <a:gd name="adj" fmla="val 2338"/>
            </a:avLst>
          </a:prstGeom>
          <a:solidFill>
            <a:srgbClr val="24365C"/>
          </a:solidFill>
          <a:ln w="12700">
            <a:solidFill>
              <a:srgbClr val="3E4E78"/>
            </a:solidFill>
            <a:prstDash val="solid"/>
          </a:ln>
        </p:spPr>
      </p:sp>
      <p:sp>
        <p:nvSpPr>
          <p:cNvPr id="14" name="Text 12"/>
          <p:cNvSpPr/>
          <p:nvPr/>
        </p:nvSpPr>
        <p:spPr>
          <a:xfrm>
            <a:off x="8119872" y="2377440"/>
            <a:ext cx="3008376" cy="320040"/>
          </a:xfrm>
          <a:prstGeom prst="rect">
            <a:avLst/>
          </a:prstGeom>
          <a:noFill/>
          <a:ln/>
        </p:spPr>
        <p:txBody>
          <a:bodyPr wrap="square" rtlCol="0" anchor="ctr"/>
          <a:lstStyle/>
          <a:p>
            <a:pPr indent="0" marL="0">
              <a:buNone/>
            </a:pPr>
            <a:r>
              <a:rPr lang="en-US" sz="1100" b="1" spc="100" kern="0" dirty="0">
                <a:solidFill>
                  <a:srgbClr val="D6584F"/>
                </a:solidFill>
                <a:latin typeface="Calibri" pitchFamily="34" charset="0"/>
                <a:ea typeface="Calibri" pitchFamily="34" charset="-122"/>
                <a:cs typeface="Calibri" pitchFamily="34" charset="-120"/>
              </a:rPr>
              <a:t>FEATURE IMPORTANCE</a:t>
            </a:r>
            <a:endParaRPr lang="en-US" sz="1100" dirty="0"/>
          </a:p>
        </p:txBody>
      </p:sp>
      <p:sp>
        <p:nvSpPr>
          <p:cNvPr id="15" name="Text 13"/>
          <p:cNvSpPr/>
          <p:nvPr/>
        </p:nvSpPr>
        <p:spPr>
          <a:xfrm>
            <a:off x="8119872" y="2715768"/>
            <a:ext cx="3008376" cy="457200"/>
          </a:xfrm>
          <a:prstGeom prst="rect">
            <a:avLst/>
          </a:prstGeom>
          <a:noFill/>
          <a:ln/>
        </p:spPr>
        <p:txBody>
          <a:bodyPr wrap="square"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Raza et al. (2022)</a:t>
            </a:r>
            <a:endParaRPr lang="en-US" sz="1600" dirty="0"/>
          </a:p>
        </p:txBody>
      </p:sp>
      <p:sp>
        <p:nvSpPr>
          <p:cNvPr id="16" name="Text 14"/>
          <p:cNvSpPr/>
          <p:nvPr/>
        </p:nvSpPr>
        <p:spPr>
          <a:xfrm>
            <a:off x="8119872" y="3291840"/>
            <a:ext cx="3008376" cy="2286000"/>
          </a:xfrm>
          <a:prstGeom prst="rect">
            <a:avLst/>
          </a:prstGeom>
          <a:noFill/>
          <a:ln/>
        </p:spPr>
        <p:txBody>
          <a:bodyPr wrap="square" rtlCol="0" anchor="ctr"/>
          <a:lstStyle/>
          <a:p>
            <a:pPr indent="0" marL="0">
              <a:lnSpc>
                <a:spcPct val="125000"/>
              </a:lnSpc>
              <a:buNone/>
            </a:pPr>
            <a:r>
              <a:rPr lang="en-US" sz="1250" dirty="0">
                <a:solidFill>
                  <a:srgbClr val="CBD5EF"/>
                </a:solidFill>
                <a:latin typeface="Calibri" pitchFamily="34" charset="0"/>
                <a:ea typeface="Calibri" pitchFamily="34" charset="-122"/>
                <a:cs typeface="Calibri" pitchFamily="34" charset="-120"/>
              </a:rPr>
              <a:t>Overtime, job role, and commute distance emerged as top discriminators — all three feed directly into this study's Workload Stress Indicator.</a:t>
            </a:r>
            <a:endParaRPr lang="en-US" sz="1250" dirty="0"/>
          </a:p>
        </p:txBody>
      </p:sp>
      <p:sp>
        <p:nvSpPr>
          <p:cNvPr id="17" name="Text 15"/>
          <p:cNvSpPr/>
          <p:nvPr/>
        </p:nvSpPr>
        <p:spPr>
          <a:xfrm>
            <a:off x="11567160" y="6473952"/>
            <a:ext cx="457200" cy="274320"/>
          </a:xfrm>
          <a:prstGeom prst="rect">
            <a:avLst/>
          </a:prstGeom>
          <a:noFill/>
          <a:ln/>
        </p:spPr>
        <p:txBody>
          <a:bodyPr wrap="square" rtlCol="0" anchor="ctr"/>
          <a:lstStyle/>
          <a:p>
            <a:pPr algn="r" indent="0" marL="0">
              <a:buNone/>
            </a:pPr>
            <a:r>
              <a:rPr lang="en-US" sz="1000" dirty="0">
                <a:solidFill>
                  <a:srgbClr val="8A96B5"/>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5486400" cy="320040"/>
          </a:xfrm>
          <a:prstGeom prst="rect">
            <a:avLst/>
          </a:prstGeom>
          <a:noFill/>
          <a:ln/>
        </p:spPr>
        <p:txBody>
          <a:bodyPr wrap="square" rtlCol="0" anchor="ctr"/>
          <a:lstStyle/>
          <a:p>
            <a:pPr indent="0" marL="0">
              <a:buNone/>
            </a:pPr>
            <a:r>
              <a:rPr lang="en-US" sz="1200" b="1" spc="200" kern="0" dirty="0">
                <a:solidFill>
                  <a:srgbClr val="3E9C6E"/>
                </a:solidFill>
                <a:latin typeface="Calibri" pitchFamily="34" charset="0"/>
                <a:ea typeface="Calibri" pitchFamily="34" charset="-122"/>
                <a:cs typeface="Calibri" pitchFamily="34" charset="-120"/>
              </a:rPr>
              <a:t>RESULTS · FINDING 1</a:t>
            </a:r>
            <a:endParaRPr lang="en-US" sz="1200" dirty="0"/>
          </a:p>
        </p:txBody>
      </p:sp>
      <p:sp>
        <p:nvSpPr>
          <p:cNvPr id="3" name="Text 1"/>
          <p:cNvSpPr/>
          <p:nvPr/>
        </p:nvSpPr>
        <p:spPr>
          <a:xfrm>
            <a:off x="457200" y="777240"/>
            <a:ext cx="7315200" cy="548640"/>
          </a:xfrm>
          <a:prstGeom prst="rect">
            <a:avLst/>
          </a:prstGeom>
          <a:noFill/>
          <a:ln/>
        </p:spPr>
        <p:txBody>
          <a:bodyPr wrap="square"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Workforce engagement health</a:t>
            </a:r>
            <a:endParaRPr lang="en-US" sz="2700" dirty="0"/>
          </a:p>
        </p:txBody>
      </p:sp>
      <p:sp>
        <p:nvSpPr>
          <p:cNvPr id="4" name="Text 2"/>
          <p:cNvSpPr/>
          <p:nvPr/>
        </p:nvSpPr>
        <p:spPr>
          <a:xfrm>
            <a:off x="457200" y="1371600"/>
            <a:ext cx="6400800" cy="731520"/>
          </a:xfrm>
          <a:prstGeom prst="rect">
            <a:avLst/>
          </a:prstGeom>
          <a:noFill/>
          <a:ln/>
        </p:spPr>
        <p:txBody>
          <a:bodyPr wrap="square" rtlCol="0" anchor="ctr"/>
          <a:lstStyle/>
          <a:p>
            <a:pPr indent="0" marL="0">
              <a:lnSpc>
                <a:spcPct val="120000"/>
              </a:lnSpc>
              <a:buNone/>
            </a:pPr>
            <a:r>
              <a:rPr lang="en-US" sz="1350" dirty="0">
                <a:solidFill>
                  <a:srgbClr val="5B6B8C"/>
                </a:solidFill>
                <a:latin typeface="Calibri" pitchFamily="34" charset="0"/>
                <a:ea typeface="Calibri" pitchFamily="34" charset="-122"/>
                <a:cs typeface="Calibri" pitchFamily="34" charset="-120"/>
              </a:rPr>
              <a:t>Only 1 in 5 employees is fully engaged. Company-wide average Engagement Index: 0.574 (median 0.583).</a:t>
            </a:r>
            <a:endParaRPr lang="en-US" sz="1350" dirty="0"/>
          </a:p>
        </p:txBody>
      </p:sp>
      <p:graphicFrame>
        <p:nvGraphicFramePr>
          <p:cNvPr id="5" name="Chart 0" descr=""/>
          <p:cNvGraphicFramePr/>
          <p:nvPr/>
        </p:nvGraphicFramePr>
        <p:xfrm>
          <a:off x="320040" y="2148840"/>
          <a:ext cx="4846320" cy="4023360"/>
        </p:xfrm>
        <a:graphic xmlns:a="http://schemas.openxmlformats.org/drawingml/2006/main">
          <a:graphicData uri="http://schemas.openxmlformats.org/drawingml/2006/chart">
            <c:chart xmlns:c="http://schemas.openxmlformats.org/drawingml/2006/chart" r:id="rId1"/>
          </a:graphicData>
        </a:graphic>
      </p:graphicFrame>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532120" y="2331720"/>
          <a:ext cx="6172200" cy="1920240"/>
        </p:xfrm>
        <a:graphic>
          <a:graphicData uri="http://schemas.openxmlformats.org/drawingml/2006/table">
            <a:tbl>
              <a:tblPr/>
              <a:tblGrid>
                <a:gridCol w="2057400"/>
                <a:gridCol w="2057400"/>
                <a:gridCol w="2057400"/>
              </a:tblGrid>
              <a:tr h="3840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Engagement Tier</a:t>
                      </a:r>
                      <a:endParaRPr lang="en-US" sz="1300" dirty="0">
                        <a:latin typeface="Calibri" charset="0"/>
                        <a:ea typeface="Calibri" charset="0"/>
                        <a:cs typeface="Calibri" charset="0"/>
                      </a:endParaRPr>
                    </a:p>
                  </a:txBody>
                  <a:tcPr marL="91440" marR="91440" marT="45720" marB="45720"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1B2A4A"/>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Count</a:t>
                      </a:r>
                      <a:endParaRPr lang="en-US" sz="1300" dirty="0">
                        <a:latin typeface="Calibri" charset="0"/>
                        <a:ea typeface="Calibri" charset="0"/>
                        <a:cs typeface="Calibri" charset="0"/>
                      </a:endParaRPr>
                    </a:p>
                  </a:txBody>
                  <a:tcPr marL="91440" marR="91440" marT="45720" marB="45720"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1B2A4A"/>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Attrition Rate</a:t>
                      </a:r>
                      <a:endParaRPr lang="en-US" sz="1300" dirty="0">
                        <a:latin typeface="Calibri" charset="0"/>
                        <a:ea typeface="Calibri" charset="0"/>
                        <a:cs typeface="Calibri" charset="0"/>
                      </a:endParaRPr>
                    </a:p>
                  </a:txBody>
                  <a:tcPr marL="91440" marR="91440" marT="45720" marB="45720"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1B2A4A"/>
                    </a:solidFill>
                  </a:tcPr>
                </a:tc>
              </a:tr>
              <a:tr h="384048">
                <a:tc>
                  <a:txBody>
                    <a:bodyPr/>
                    <a:lstStyle/>
                    <a:p>
                      <a:pPr indent="0" marL="0">
                        <a:buNone/>
                      </a:pPr>
                      <a:r>
                        <a:rPr lang="en-US" sz="1300" dirty="0">
                          <a:solidFill>
                            <a:srgbClr val="1B2A4A"/>
                          </a:solidFill>
                          <a:latin typeface="Calibri" pitchFamily="34" charset="0"/>
                          <a:ea typeface="Calibri" pitchFamily="34" charset="-122"/>
                          <a:cs typeface="Calibri" pitchFamily="34" charset="-120"/>
                        </a:rPr>
                        <a:t>High</a:t>
                      </a:r>
                      <a:endParaRPr lang="en-US" sz="1300" dirty="0">
                        <a:latin typeface="Calibri" charset="0"/>
                        <a:ea typeface="Calibri" charset="0"/>
                        <a:cs typeface="Calibri" charset="0"/>
                      </a:endParaRPr>
                    </a:p>
                  </a:txBody>
                  <a:tcPr marL="91440" marR="91440" marT="45720" marB="45720"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tcPr>
                </a:tc>
                <a:tc>
                  <a:txBody>
                    <a:bodyPr/>
                    <a:lstStyle/>
                    <a:p>
                      <a:pPr algn="ctr" indent="0" marL="0">
                        <a:buNone/>
                      </a:pPr>
                      <a:r>
                        <a:rPr lang="en-US" sz="1300" dirty="0">
                          <a:solidFill>
                            <a:srgbClr val="1B2A4A"/>
                          </a:solidFill>
                          <a:latin typeface="Calibri" pitchFamily="34" charset="0"/>
                          <a:ea typeface="Calibri" pitchFamily="34" charset="-122"/>
                          <a:cs typeface="Calibri" pitchFamily="34" charset="-120"/>
                        </a:rPr>
                        <a:t>322</a:t>
                      </a:r>
                      <a:endParaRPr lang="en-US" sz="1300" dirty="0">
                        <a:latin typeface="Calibri" charset="0"/>
                        <a:ea typeface="Calibri" charset="0"/>
                        <a:cs typeface="Calibri" charset="0"/>
                      </a:endParaRPr>
                    </a:p>
                  </a:txBody>
                  <a:tcPr marL="91440" marR="91440" marT="45720" marB="45720"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tcPr>
                </a:tc>
                <a:tc>
                  <a:txBody>
                    <a:bodyPr/>
                    <a:lstStyle/>
                    <a:p>
                      <a:pPr algn="ctr" indent="0" marL="0">
                        <a:buNone/>
                      </a:pPr>
                      <a:r>
                        <a:rPr lang="en-US" sz="1300" b="1" dirty="0">
                          <a:solidFill>
                            <a:srgbClr val="3E9C6E"/>
                          </a:solidFill>
                          <a:latin typeface="Calibri" pitchFamily="34" charset="0"/>
                          <a:ea typeface="Calibri" pitchFamily="34" charset="-122"/>
                          <a:cs typeface="Calibri" pitchFamily="34" charset="-120"/>
                        </a:rPr>
                        <a:t>10.2%</a:t>
                      </a:r>
                      <a:endParaRPr lang="en-US" sz="1300" dirty="0">
                        <a:latin typeface="Calibri" charset="0"/>
                        <a:ea typeface="Calibri" charset="0"/>
                        <a:cs typeface="Calibri" charset="0"/>
                      </a:endParaRPr>
                    </a:p>
                  </a:txBody>
                  <a:tcPr marL="91440" marR="91440" marT="45720" marB="45720"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tcPr>
                </a:tc>
              </a:tr>
              <a:tr h="384048">
                <a:tc>
                  <a:txBody>
                    <a:bodyPr/>
                    <a:lstStyle/>
                    <a:p>
                      <a:pPr indent="0" marL="0">
                        <a:buNone/>
                      </a:pPr>
                      <a:r>
                        <a:rPr lang="en-US" sz="1300" dirty="0">
                          <a:solidFill>
                            <a:srgbClr val="1B2A4A"/>
                          </a:solidFill>
                          <a:latin typeface="Calibri" pitchFamily="34" charset="0"/>
                          <a:ea typeface="Calibri" pitchFamily="34" charset="-122"/>
                          <a:cs typeface="Calibri" pitchFamily="34" charset="-120"/>
                        </a:rPr>
                        <a:t>Medium</a:t>
                      </a:r>
                      <a:endParaRPr lang="en-US" sz="1300" dirty="0">
                        <a:latin typeface="Calibri" charset="0"/>
                        <a:ea typeface="Calibri" charset="0"/>
                        <a:cs typeface="Calibri" charset="0"/>
                      </a:endParaRPr>
                    </a:p>
                  </a:txBody>
                  <a:tcPr marL="91440" marR="91440" marT="45720" marB="45720"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tcPr>
                </a:tc>
                <a:tc>
                  <a:txBody>
                    <a:bodyPr/>
                    <a:lstStyle/>
                    <a:p>
                      <a:pPr algn="ctr" indent="0" marL="0">
                        <a:buNone/>
                      </a:pPr>
                      <a:r>
                        <a:rPr lang="en-US" sz="1300" dirty="0">
                          <a:solidFill>
                            <a:srgbClr val="1B2A4A"/>
                          </a:solidFill>
                          <a:latin typeface="Calibri" pitchFamily="34" charset="0"/>
                          <a:ea typeface="Calibri" pitchFamily="34" charset="-122"/>
                          <a:cs typeface="Calibri" pitchFamily="34" charset="-120"/>
                        </a:rPr>
                        <a:t>1,079</a:t>
                      </a:r>
                      <a:endParaRPr lang="en-US" sz="1300" dirty="0">
                        <a:latin typeface="Calibri" charset="0"/>
                        <a:ea typeface="Calibri" charset="0"/>
                        <a:cs typeface="Calibri" charset="0"/>
                      </a:endParaRPr>
                    </a:p>
                  </a:txBody>
                  <a:tcPr marL="91440" marR="91440" marT="45720" marB="45720"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tcPr>
                </a:tc>
                <a:tc>
                  <a:txBody>
                    <a:bodyPr/>
                    <a:lstStyle/>
                    <a:p>
                      <a:pPr algn="ctr" indent="0" marL="0">
                        <a:buNone/>
                      </a:pPr>
                      <a:r>
                        <a:rPr lang="en-US" sz="1300" b="1" dirty="0">
                          <a:solidFill>
                            <a:srgbClr val="E3A23D"/>
                          </a:solidFill>
                          <a:latin typeface="Calibri" pitchFamily="34" charset="0"/>
                          <a:ea typeface="Calibri" pitchFamily="34" charset="-122"/>
                          <a:cs typeface="Calibri" pitchFamily="34" charset="-120"/>
                        </a:rPr>
                        <a:t>16.2%</a:t>
                      </a:r>
                      <a:endParaRPr lang="en-US" sz="1300" dirty="0">
                        <a:latin typeface="Calibri" charset="0"/>
                        <a:ea typeface="Calibri" charset="0"/>
                        <a:cs typeface="Calibri" charset="0"/>
                      </a:endParaRPr>
                    </a:p>
                  </a:txBody>
                  <a:tcPr marL="91440" marR="91440" marT="45720" marB="45720"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tcPr>
                </a:tc>
              </a:tr>
              <a:tr h="384048">
                <a:tc>
                  <a:txBody>
                    <a:bodyPr/>
                    <a:lstStyle/>
                    <a:p>
                      <a:pPr indent="0" marL="0">
                        <a:buNone/>
                      </a:pPr>
                      <a:r>
                        <a:rPr lang="en-US" sz="1300" dirty="0">
                          <a:solidFill>
                            <a:srgbClr val="1B2A4A"/>
                          </a:solidFill>
                          <a:latin typeface="Calibri" pitchFamily="34" charset="0"/>
                          <a:ea typeface="Calibri" pitchFamily="34" charset="-122"/>
                          <a:cs typeface="Calibri" pitchFamily="34" charset="-120"/>
                        </a:rPr>
                        <a:t>Low</a:t>
                      </a:r>
                      <a:endParaRPr lang="en-US" sz="1300" dirty="0">
                        <a:latin typeface="Calibri" charset="0"/>
                        <a:ea typeface="Calibri" charset="0"/>
                        <a:cs typeface="Calibri" charset="0"/>
                      </a:endParaRPr>
                    </a:p>
                  </a:txBody>
                  <a:tcPr marL="91440" marR="91440" marT="45720" marB="45720"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tcPr>
                </a:tc>
                <a:tc>
                  <a:txBody>
                    <a:bodyPr/>
                    <a:lstStyle/>
                    <a:p>
                      <a:pPr algn="ctr" indent="0" marL="0">
                        <a:buNone/>
                      </a:pPr>
                      <a:r>
                        <a:rPr lang="en-US" sz="1300" dirty="0">
                          <a:solidFill>
                            <a:srgbClr val="1B2A4A"/>
                          </a:solidFill>
                          <a:latin typeface="Calibri" pitchFamily="34" charset="0"/>
                          <a:ea typeface="Calibri" pitchFamily="34" charset="-122"/>
                          <a:cs typeface="Calibri" pitchFamily="34" charset="-120"/>
                        </a:rPr>
                        <a:t>69</a:t>
                      </a:r>
                      <a:endParaRPr lang="en-US" sz="1300" dirty="0">
                        <a:latin typeface="Calibri" charset="0"/>
                        <a:ea typeface="Calibri" charset="0"/>
                        <a:cs typeface="Calibri" charset="0"/>
                      </a:endParaRPr>
                    </a:p>
                  </a:txBody>
                  <a:tcPr marL="91440" marR="91440" marT="45720" marB="45720"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tcPr>
                </a:tc>
                <a:tc>
                  <a:txBody>
                    <a:bodyPr/>
                    <a:lstStyle/>
                    <a:p>
                      <a:pPr algn="ctr" indent="0" marL="0">
                        <a:buNone/>
                      </a:pPr>
                      <a:r>
                        <a:rPr lang="en-US" sz="1300" b="1" dirty="0">
                          <a:solidFill>
                            <a:srgbClr val="D6584F"/>
                          </a:solidFill>
                          <a:latin typeface="Calibri" pitchFamily="34" charset="0"/>
                          <a:ea typeface="Calibri" pitchFamily="34" charset="-122"/>
                          <a:cs typeface="Calibri" pitchFamily="34" charset="-120"/>
                        </a:rPr>
                        <a:t>42.0%</a:t>
                      </a:r>
                      <a:endParaRPr lang="en-US" sz="1300" dirty="0">
                        <a:latin typeface="Calibri" charset="0"/>
                        <a:ea typeface="Calibri" charset="0"/>
                        <a:cs typeface="Calibri" charset="0"/>
                      </a:endParaRPr>
                    </a:p>
                  </a:txBody>
                  <a:tcPr marL="91440" marR="91440" marT="45720" marB="45720"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tcPr>
                </a:tc>
              </a:tr>
              <a:tr h="384048">
                <a:tc>
                  <a:txBody>
                    <a:bodyPr/>
                    <a:lstStyle/>
                    <a:p>
                      <a:pPr indent="0" marL="0">
                        <a:buNone/>
                      </a:pPr>
                      <a:r>
                        <a:rPr lang="en-US" sz="1300" b="1" dirty="0">
                          <a:solidFill>
                            <a:srgbClr val="1B2A4A"/>
                          </a:solidFill>
                          <a:latin typeface="Calibri" pitchFamily="34" charset="0"/>
                          <a:ea typeface="Calibri" pitchFamily="34" charset="-122"/>
                          <a:cs typeface="Calibri" pitchFamily="34" charset="-120"/>
                        </a:rPr>
                        <a:t>Overall</a:t>
                      </a:r>
                      <a:endParaRPr lang="en-US" sz="1300" dirty="0">
                        <a:latin typeface="Calibri" charset="0"/>
                        <a:ea typeface="Calibri" charset="0"/>
                        <a:cs typeface="Calibri" charset="0"/>
                      </a:endParaRPr>
                    </a:p>
                  </a:txBody>
                  <a:tcPr marL="91440" marR="91440" marT="45720" marB="45720"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tcPr>
                </a:tc>
                <a:tc>
                  <a:txBody>
                    <a:bodyPr/>
                    <a:lstStyle/>
                    <a:p>
                      <a:pPr algn="ctr" indent="0" marL="0">
                        <a:buNone/>
                      </a:pPr>
                      <a:r>
                        <a:rPr lang="en-US" sz="1300" b="1" dirty="0">
                          <a:solidFill>
                            <a:srgbClr val="1B2A4A"/>
                          </a:solidFill>
                          <a:latin typeface="Calibri" pitchFamily="34" charset="0"/>
                          <a:ea typeface="Calibri" pitchFamily="34" charset="-122"/>
                          <a:cs typeface="Calibri" pitchFamily="34" charset="-120"/>
                        </a:rPr>
                        <a:t>1,470</a:t>
                      </a:r>
                      <a:endParaRPr lang="en-US" sz="1300" dirty="0">
                        <a:latin typeface="Calibri" charset="0"/>
                        <a:ea typeface="Calibri" charset="0"/>
                        <a:cs typeface="Calibri" charset="0"/>
                      </a:endParaRPr>
                    </a:p>
                  </a:txBody>
                  <a:tcPr marL="91440" marR="91440" marT="45720" marB="45720"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tcPr>
                </a:tc>
                <a:tc>
                  <a:txBody>
                    <a:bodyPr/>
                    <a:lstStyle/>
                    <a:p>
                      <a:pPr algn="ctr" indent="0" marL="0">
                        <a:buNone/>
                      </a:pPr>
                      <a:r>
                        <a:rPr lang="en-US" sz="1300" b="1" dirty="0">
                          <a:solidFill>
                            <a:srgbClr val="1B2A4A"/>
                          </a:solidFill>
                          <a:latin typeface="Calibri" pitchFamily="34" charset="0"/>
                          <a:ea typeface="Calibri" pitchFamily="34" charset="-122"/>
                          <a:cs typeface="Calibri" pitchFamily="34" charset="-120"/>
                        </a:rPr>
                        <a:t>16.1%</a:t>
                      </a:r>
                      <a:endParaRPr lang="en-US" sz="1300" dirty="0">
                        <a:latin typeface="Calibri" charset="0"/>
                        <a:ea typeface="Calibri" charset="0"/>
                        <a:cs typeface="Calibri" charset="0"/>
                      </a:endParaRPr>
                    </a:p>
                  </a:txBody>
                  <a:tcPr marL="91440" marR="91440" marT="45720" marB="45720"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tcPr>
                </a:tc>
              </a:tr>
            </a:tbl>
          </a:graphicData>
        </a:graphic>
      </p:graphicFrame>
      <p:sp>
        <p:nvSpPr>
          <p:cNvPr id="7" name="Shape 3"/>
          <p:cNvSpPr/>
          <p:nvPr/>
        </p:nvSpPr>
        <p:spPr>
          <a:xfrm>
            <a:off x="5532120" y="4572000"/>
            <a:ext cx="6172200" cy="1417320"/>
          </a:xfrm>
          <a:prstGeom prst="roundRect">
            <a:avLst>
              <a:gd name="adj" fmla="val 5161"/>
            </a:avLst>
          </a:prstGeom>
          <a:solidFill>
            <a:srgbClr val="F4F6FB"/>
          </a:solidFill>
          <a:ln w="12700">
            <a:solidFill>
              <a:srgbClr val="F4F6FB"/>
            </a:solidFill>
            <a:prstDash val="solid"/>
          </a:ln>
        </p:spPr>
      </p:sp>
      <p:sp>
        <p:nvSpPr>
          <p:cNvPr id="8" name="Text 4"/>
          <p:cNvSpPr/>
          <p:nvPr/>
        </p:nvSpPr>
        <p:spPr>
          <a:xfrm>
            <a:off x="5806440" y="4709160"/>
            <a:ext cx="5623560" cy="1143000"/>
          </a:xfrm>
          <a:prstGeom prst="rect">
            <a:avLst/>
          </a:prstGeom>
          <a:noFill/>
          <a:ln/>
        </p:spPr>
        <p:txBody>
          <a:bodyPr wrap="square" rtlCol="0" anchor="ctr"/>
          <a:lstStyle/>
          <a:p>
            <a:pPr indent="0" marL="0">
              <a:lnSpc>
                <a:spcPct val="120000"/>
              </a:lnSpc>
              <a:buNone/>
            </a:pPr>
            <a:r>
              <a:rPr lang="en-US" sz="1300" i="1" dirty="0">
                <a:solidFill>
                  <a:srgbClr val="1B2A4A"/>
                </a:solidFill>
                <a:latin typeface="Calibri" pitchFamily="34" charset="0"/>
                <a:ea typeface="Calibri" pitchFamily="34" charset="-122"/>
                <a:cs typeface="Calibri" pitchFamily="34" charset="-120"/>
              </a:rPr>
              <a:t>Low-engagement employees (4.7% of the workforce) leave at 4× the rate of high-engagement employees — a small group carrying disproportionate turnover risk.</a:t>
            </a:r>
            <a:endParaRPr lang="en-US" sz="1300" dirty="0"/>
          </a:p>
        </p:txBody>
      </p:sp>
      <p:sp>
        <p:nvSpPr>
          <p:cNvPr id="9" name="Text 5"/>
          <p:cNvSpPr/>
          <p:nvPr/>
        </p:nvSpPr>
        <p:spPr>
          <a:xfrm>
            <a:off x="457200" y="6473952"/>
            <a:ext cx="7315200" cy="274320"/>
          </a:xfrm>
          <a:prstGeom prst="rect">
            <a:avLst/>
          </a:prstGeom>
          <a:noFill/>
          <a:ln/>
        </p:spPr>
        <p:txBody>
          <a:bodyPr wrap="square" rtlCol="0" anchor="ctr"/>
          <a:lstStyle/>
          <a:p>
            <a:pPr indent="0" marL="0">
              <a:buNone/>
            </a:pPr>
            <a:r>
              <a:rPr lang="en-US" sz="1000" dirty="0">
                <a:solidFill>
                  <a:srgbClr val="A6AFC7"/>
                </a:solidFill>
                <a:latin typeface="Calibri" pitchFamily="34" charset="0"/>
                <a:ea typeface="Calibri" pitchFamily="34" charset="-122"/>
                <a:cs typeface="Calibri" pitchFamily="34" charset="-120"/>
              </a:rPr>
              <a:t>Palo Alto Networks — HR Analytics Diagnostic</a:t>
            </a:r>
            <a:endParaRPr lang="en-US" sz="1000" dirty="0"/>
          </a:p>
        </p:txBody>
      </p:sp>
      <p:sp>
        <p:nvSpPr>
          <p:cNvPr id="10" name="Text 6"/>
          <p:cNvSpPr/>
          <p:nvPr/>
        </p:nvSpPr>
        <p:spPr>
          <a:xfrm>
            <a:off x="11567160" y="6473952"/>
            <a:ext cx="457200" cy="274320"/>
          </a:xfrm>
          <a:prstGeom prst="rect">
            <a:avLst/>
          </a:prstGeom>
          <a:noFill/>
          <a:ln/>
        </p:spPr>
        <p:txBody>
          <a:bodyPr wrap="square" rtlCol="0" anchor="ctr"/>
          <a:lstStyle/>
          <a:p>
            <a:pPr algn="r" indent="0" marL="0">
              <a:buNone/>
            </a:pPr>
            <a:r>
              <a:rPr lang="en-US" sz="1000" dirty="0">
                <a:solidFill>
                  <a:srgbClr val="A6AFC7"/>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5486400" cy="320040"/>
          </a:xfrm>
          <a:prstGeom prst="rect">
            <a:avLst/>
          </a:prstGeom>
          <a:noFill/>
          <a:ln/>
        </p:spPr>
        <p:txBody>
          <a:bodyPr wrap="square" rtlCol="0" anchor="ctr"/>
          <a:lstStyle/>
          <a:p>
            <a:pPr indent="0" marL="0">
              <a:buNone/>
            </a:pPr>
            <a:r>
              <a:rPr lang="en-US" sz="1200" b="1" spc="200" kern="0" dirty="0">
                <a:solidFill>
                  <a:srgbClr val="3E9C6E"/>
                </a:solidFill>
                <a:latin typeface="Calibri" pitchFamily="34" charset="0"/>
                <a:ea typeface="Calibri" pitchFamily="34" charset="-122"/>
                <a:cs typeface="Calibri" pitchFamily="34" charset="-120"/>
              </a:rPr>
              <a:t>RESULTS · FINDINGS 2–3</a:t>
            </a:r>
            <a:endParaRPr lang="en-US" sz="1200" dirty="0"/>
          </a:p>
        </p:txBody>
      </p:sp>
      <p:sp>
        <p:nvSpPr>
          <p:cNvPr id="3" name="Text 1"/>
          <p:cNvSpPr/>
          <p:nvPr/>
        </p:nvSpPr>
        <p:spPr>
          <a:xfrm>
            <a:off x="457200" y="777240"/>
            <a:ext cx="10515600" cy="548640"/>
          </a:xfrm>
          <a:prstGeom prst="rect">
            <a:avLst/>
          </a:prstGeom>
          <a:noFill/>
          <a:ln/>
        </p:spPr>
        <p:txBody>
          <a:bodyPr wrap="square"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Engagement is associated with attrition</a:t>
            </a:r>
            <a:endParaRPr lang="en-US" sz="2700" dirty="0"/>
          </a:p>
        </p:txBody>
      </p:sp>
      <p:graphicFrame>
        <p:nvGraphicFramePr>
          <p:cNvPr id="4" name="Chart 0" descr=""/>
          <p:cNvGraphicFramePr/>
          <p:nvPr/>
        </p:nvGraphicFramePr>
        <p:xfrm>
          <a:off x="365760" y="1554480"/>
          <a:ext cx="5577840" cy="44805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263640" y="1554480"/>
            <a:ext cx="5440680" cy="2057400"/>
          </a:xfrm>
          <a:prstGeom prst="roundRect">
            <a:avLst>
              <a:gd name="adj" fmla="val 3556"/>
            </a:avLst>
          </a:prstGeom>
          <a:solidFill>
            <a:srgbClr val="F4F6FB"/>
          </a:solidFill>
          <a:ln w="12700">
            <a:solidFill>
              <a:srgbClr val="F4F6FB"/>
            </a:solidFill>
            <a:prstDash val="solid"/>
          </a:ln>
        </p:spPr>
      </p:sp>
      <p:sp>
        <p:nvSpPr>
          <p:cNvPr id="6" name="Text 3"/>
          <p:cNvSpPr/>
          <p:nvPr/>
        </p:nvSpPr>
        <p:spPr>
          <a:xfrm>
            <a:off x="6537960" y="1691640"/>
            <a:ext cx="2743200" cy="914400"/>
          </a:xfrm>
          <a:prstGeom prst="rect">
            <a:avLst/>
          </a:prstGeom>
          <a:noFill/>
          <a:ln/>
        </p:spPr>
        <p:txBody>
          <a:bodyPr wrap="square" rtlCol="0" anchor="ctr"/>
          <a:lstStyle/>
          <a:p>
            <a:pPr indent="0" marL="0">
              <a:buNone/>
            </a:pPr>
            <a:r>
              <a:rPr lang="en-US" sz="4200" b="1" dirty="0">
                <a:solidFill>
                  <a:srgbClr val="1B2A4A"/>
                </a:solidFill>
                <a:latin typeface="Cambria" pitchFamily="34" charset="0"/>
                <a:ea typeface="Cambria" pitchFamily="34" charset="-122"/>
                <a:cs typeface="Cambria" pitchFamily="34" charset="-120"/>
              </a:rPr>
              <a:t>14.2%</a:t>
            </a:r>
            <a:endParaRPr lang="en-US" sz="4200" dirty="0"/>
          </a:p>
        </p:txBody>
      </p:sp>
      <p:sp>
        <p:nvSpPr>
          <p:cNvPr id="7" name="Text 4"/>
          <p:cNvSpPr/>
          <p:nvPr/>
        </p:nvSpPr>
        <p:spPr>
          <a:xfrm>
            <a:off x="6537960" y="2606040"/>
            <a:ext cx="4892040" cy="914400"/>
          </a:xfrm>
          <a:prstGeom prst="rect">
            <a:avLst/>
          </a:prstGeom>
          <a:noFill/>
          <a:ln/>
        </p:spPr>
        <p:txBody>
          <a:bodyPr wrap="square" rtlCol="0" anchor="ctr"/>
          <a:lstStyle/>
          <a:p>
            <a:pPr indent="0" marL="0">
              <a:lnSpc>
                <a:spcPct val="120000"/>
              </a:lnSpc>
              <a:buNone/>
            </a:pPr>
            <a:r>
              <a:rPr lang="en-US" sz="1250" dirty="0">
                <a:solidFill>
                  <a:srgbClr val="5B6B8C"/>
                </a:solidFill>
                <a:latin typeface="Calibri" pitchFamily="34" charset="0"/>
                <a:ea typeface="Calibri" pitchFamily="34" charset="-122"/>
                <a:cs typeface="Calibri" pitchFamily="34" charset="-120"/>
              </a:rPr>
              <a:t>lower Engagement Index among leavers (0.504) vs. stayers (0.588) — a consistent directional signal across all 1,470 employees.</a:t>
            </a:r>
            <a:endParaRPr lang="en-US" sz="1250" dirty="0"/>
          </a:p>
        </p:txBody>
      </p:sp>
      <p:sp>
        <p:nvSpPr>
          <p:cNvPr id="8" name="Shape 5"/>
          <p:cNvSpPr/>
          <p:nvPr/>
        </p:nvSpPr>
        <p:spPr>
          <a:xfrm>
            <a:off x="6263640" y="3794760"/>
            <a:ext cx="5440680" cy="2240280"/>
          </a:xfrm>
          <a:prstGeom prst="roundRect">
            <a:avLst>
              <a:gd name="adj" fmla="val 3265"/>
            </a:avLst>
          </a:prstGeom>
          <a:solidFill>
            <a:srgbClr val="1B2A4A"/>
          </a:solidFill>
          <a:ln w="12700">
            <a:solidFill>
              <a:srgbClr val="1B2A4A"/>
            </a:solidFill>
            <a:prstDash val="solid"/>
          </a:ln>
        </p:spPr>
      </p:sp>
      <p:sp>
        <p:nvSpPr>
          <p:cNvPr id="9" name="Text 6"/>
          <p:cNvSpPr/>
          <p:nvPr/>
        </p:nvSpPr>
        <p:spPr>
          <a:xfrm>
            <a:off x="6537960" y="3977640"/>
            <a:ext cx="2743200" cy="914400"/>
          </a:xfrm>
          <a:prstGeom prst="rect">
            <a:avLst/>
          </a:prstGeom>
          <a:noFill/>
          <a:ln/>
        </p:spPr>
        <p:txBody>
          <a:bodyPr wrap="square" rtlCol="0" anchor="ctr"/>
          <a:lstStyle/>
          <a:p>
            <a:pPr indent="0" marL="0">
              <a:buNone/>
            </a:pPr>
            <a:r>
              <a:rPr lang="en-US" sz="4200" b="1" dirty="0">
                <a:solidFill>
                  <a:srgbClr val="D6584F"/>
                </a:solidFill>
                <a:latin typeface="Cambria" pitchFamily="34" charset="0"/>
                <a:ea typeface="Cambria" pitchFamily="34" charset="-122"/>
                <a:cs typeface="Cambria" pitchFamily="34" charset="-120"/>
              </a:rPr>
              <a:t>4.1×</a:t>
            </a:r>
            <a:endParaRPr lang="en-US" sz="4200" dirty="0"/>
          </a:p>
        </p:txBody>
      </p:sp>
      <p:sp>
        <p:nvSpPr>
          <p:cNvPr id="10" name="Text 7"/>
          <p:cNvSpPr/>
          <p:nvPr/>
        </p:nvSpPr>
        <p:spPr>
          <a:xfrm>
            <a:off x="6537960" y="4892040"/>
            <a:ext cx="4892040" cy="1051560"/>
          </a:xfrm>
          <a:prstGeom prst="rect">
            <a:avLst/>
          </a:prstGeom>
          <a:noFill/>
          <a:ln/>
        </p:spPr>
        <p:txBody>
          <a:bodyPr wrap="square" rtlCol="0" anchor="ctr"/>
          <a:lstStyle/>
          <a:p>
            <a:pPr indent="0" marL="0">
              <a:lnSpc>
                <a:spcPct val="120000"/>
              </a:lnSpc>
              <a:buNone/>
            </a:pPr>
            <a:r>
              <a:rPr lang="en-US" sz="1250" dirty="0">
                <a:solidFill>
                  <a:srgbClr val="D6DEF2"/>
                </a:solidFill>
                <a:latin typeface="Calibri" pitchFamily="34" charset="0"/>
                <a:ea typeface="Calibri" pitchFamily="34" charset="-122"/>
                <a:cs typeface="Calibri" pitchFamily="34" charset="-120"/>
              </a:rPr>
              <a:t>higher attrition among Low-engagement employees (42.0%) vs. High-engagement employees (10.2%) — the most actionable pattern in the Engagement Index.</a:t>
            </a:r>
            <a:endParaRPr lang="en-US" sz="1250" dirty="0"/>
          </a:p>
        </p:txBody>
      </p:sp>
      <p:sp>
        <p:nvSpPr>
          <p:cNvPr id="11" name="Text 8"/>
          <p:cNvSpPr/>
          <p:nvPr/>
        </p:nvSpPr>
        <p:spPr>
          <a:xfrm>
            <a:off x="457200" y="6473952"/>
            <a:ext cx="7315200" cy="274320"/>
          </a:xfrm>
          <a:prstGeom prst="rect">
            <a:avLst/>
          </a:prstGeom>
          <a:noFill/>
          <a:ln/>
        </p:spPr>
        <p:txBody>
          <a:bodyPr wrap="square" rtlCol="0" anchor="ctr"/>
          <a:lstStyle/>
          <a:p>
            <a:pPr indent="0" marL="0">
              <a:buNone/>
            </a:pPr>
            <a:r>
              <a:rPr lang="en-US" sz="1000" dirty="0">
                <a:solidFill>
                  <a:srgbClr val="A6AFC7"/>
                </a:solidFill>
                <a:latin typeface="Calibri" pitchFamily="34" charset="0"/>
                <a:ea typeface="Calibri" pitchFamily="34" charset="-122"/>
                <a:cs typeface="Calibri" pitchFamily="34" charset="-120"/>
              </a:rPr>
              <a:t>Palo Alto Networks — HR Analytics Diagnostic</a:t>
            </a:r>
            <a:endParaRPr lang="en-US" sz="1000" dirty="0"/>
          </a:p>
        </p:txBody>
      </p:sp>
      <p:sp>
        <p:nvSpPr>
          <p:cNvPr id="12" name="Text 9"/>
          <p:cNvSpPr/>
          <p:nvPr/>
        </p:nvSpPr>
        <p:spPr>
          <a:xfrm>
            <a:off x="11567160" y="6473952"/>
            <a:ext cx="457200" cy="274320"/>
          </a:xfrm>
          <a:prstGeom prst="rect">
            <a:avLst/>
          </a:prstGeom>
          <a:noFill/>
          <a:ln/>
        </p:spPr>
        <p:txBody>
          <a:bodyPr wrap="square" rtlCol="0" anchor="ctr"/>
          <a:lstStyle/>
          <a:p>
            <a:pPr algn="r" indent="0" marL="0">
              <a:buNone/>
            </a:pPr>
            <a:r>
              <a:rPr lang="en-US" sz="1000" dirty="0">
                <a:solidFill>
                  <a:srgbClr val="A6AFC7"/>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5486400" cy="320040"/>
          </a:xfrm>
          <a:prstGeom prst="rect">
            <a:avLst/>
          </a:prstGeom>
          <a:noFill/>
          <a:ln/>
        </p:spPr>
        <p:txBody>
          <a:bodyPr wrap="square" rtlCol="0" anchor="ctr"/>
          <a:lstStyle/>
          <a:p>
            <a:pPr indent="0" marL="0">
              <a:buNone/>
            </a:pPr>
            <a:r>
              <a:rPr lang="en-US" sz="1200" b="1" spc="200" kern="0" dirty="0">
                <a:solidFill>
                  <a:srgbClr val="D6584F"/>
                </a:solidFill>
                <a:latin typeface="Calibri" pitchFamily="34" charset="0"/>
                <a:ea typeface="Calibri" pitchFamily="34" charset="-122"/>
                <a:cs typeface="Calibri" pitchFamily="34" charset="-120"/>
              </a:rPr>
              <a:t>RESULTS · FINDINGS 5–7</a:t>
            </a:r>
            <a:endParaRPr lang="en-US" sz="1200" dirty="0"/>
          </a:p>
        </p:txBody>
      </p:sp>
      <p:sp>
        <p:nvSpPr>
          <p:cNvPr id="3" name="Text 1"/>
          <p:cNvSpPr/>
          <p:nvPr/>
        </p:nvSpPr>
        <p:spPr>
          <a:xfrm>
            <a:off x="457200" y="777240"/>
            <a:ext cx="10515600" cy="548640"/>
          </a:xfrm>
          <a:prstGeom prst="rect">
            <a:avLst/>
          </a:prstGeom>
          <a:noFill/>
          <a:ln/>
        </p:spPr>
        <p:txBody>
          <a:bodyPr wrap="square"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Burnout risk and overtime drive attrition</a:t>
            </a:r>
            <a:endParaRPr lang="en-US" sz="2700" dirty="0"/>
          </a:p>
        </p:txBody>
      </p:sp>
      <p:graphicFrame>
        <p:nvGraphicFramePr>
          <p:cNvPr id="4" name="Chart 0" descr=""/>
          <p:cNvGraphicFramePr/>
          <p:nvPr/>
        </p:nvGraphicFramePr>
        <p:xfrm>
          <a:off x="365760" y="1554480"/>
          <a:ext cx="5394960" cy="448056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6035040" y="1600200"/>
            <a:ext cx="5669280" cy="320040"/>
          </a:xfrm>
          <a:prstGeom prst="rect">
            <a:avLst/>
          </a:prstGeom>
          <a:noFill/>
          <a:ln/>
        </p:spPr>
        <p:txBody>
          <a:bodyPr wrap="square" rtlCol="0" anchor="ctr"/>
          <a:lstStyle/>
          <a:p>
            <a:pPr indent="0" marL="0">
              <a:buNone/>
            </a:pPr>
            <a:r>
              <a:rPr lang="en-US" sz="1200" b="1" spc="100" kern="0" dirty="0">
                <a:solidFill>
                  <a:srgbClr val="D6584F"/>
                </a:solidFill>
                <a:latin typeface="Calibri" pitchFamily="34" charset="0"/>
                <a:ea typeface="Calibri" pitchFamily="34" charset="-122"/>
                <a:cs typeface="Calibri" pitchFamily="34" charset="-120"/>
              </a:rPr>
              <a:t>OVERTIME IS THE #1 SIGNAL</a:t>
            </a:r>
            <a:endParaRPr lang="en-US" sz="1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035040" y="2011680"/>
          <a:ext cx="5669280" cy="1920240"/>
        </p:xfrm>
        <a:graphic>
          <a:graphicData uri="http://schemas.openxmlformats.org/drawingml/2006/table">
            <a:tbl>
              <a:tblPr/>
              <a:tblGrid>
                <a:gridCol w="1889760"/>
                <a:gridCol w="1889760"/>
                <a:gridCol w="1889760"/>
              </a:tblGrid>
              <a:tr h="38404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Metric</a:t>
                      </a:r>
                      <a:endParaRPr lang="en-US" sz="1200" dirty="0">
                        <a:latin typeface="Calibri" charset="0"/>
                        <a:ea typeface="Calibri" charset="0"/>
                        <a:cs typeface="Calibri" charset="0"/>
                      </a:endParaRPr>
                    </a:p>
                  </a:txBody>
                  <a:tcPr marL="91440" marR="91440" marT="45720" marB="45720"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1B2A4A"/>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Overtime</a:t>
                      </a:r>
                      <a:endParaRPr lang="en-US" sz="1200" dirty="0">
                        <a:latin typeface="Calibri" charset="0"/>
                        <a:ea typeface="Calibri" charset="0"/>
                        <a:cs typeface="Calibri" charset="0"/>
                      </a:endParaRPr>
                    </a:p>
                  </a:txBody>
                  <a:tcPr marL="91440" marR="91440" marT="45720" marB="45720"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1B2A4A"/>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No Overtime</a:t>
                      </a:r>
                      <a:endParaRPr lang="en-US" sz="1200" dirty="0">
                        <a:latin typeface="Calibri" charset="0"/>
                        <a:ea typeface="Calibri" charset="0"/>
                        <a:cs typeface="Calibri" charset="0"/>
                      </a:endParaRPr>
                    </a:p>
                  </a:txBody>
                  <a:tcPr marL="91440" marR="91440" marT="45720" marB="45720"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1B2A4A"/>
                    </a:solidFill>
                  </a:tcPr>
                </a:tc>
              </a:tr>
              <a:tr h="384048">
                <a:tc>
                  <a:txBody>
                    <a:bodyPr/>
                    <a:lstStyle/>
                    <a:p>
                      <a:pPr indent="0" marL="0">
                        <a:buNone/>
                      </a:pPr>
                      <a:r>
                        <a:rPr lang="en-US" sz="1200" dirty="0">
                          <a:solidFill>
                            <a:srgbClr val="1B2A4A"/>
                          </a:solidFill>
                          <a:latin typeface="Calibri" pitchFamily="34" charset="0"/>
                          <a:ea typeface="Calibri" pitchFamily="34" charset="-122"/>
                          <a:cs typeface="Calibri" pitchFamily="34" charset="-120"/>
                        </a:rPr>
                        <a:t>Attrition Rate</a:t>
                      </a:r>
                      <a:endParaRPr lang="en-US" sz="1200" dirty="0">
                        <a:latin typeface="Calibri" charset="0"/>
                        <a:ea typeface="Calibri" charset="0"/>
                        <a:cs typeface="Calibri" charset="0"/>
                      </a:endParaRPr>
                    </a:p>
                  </a:txBody>
                  <a:tcPr marL="91440" marR="91440" marT="45720" marB="45720"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tcPr>
                </a:tc>
                <a:tc>
                  <a:txBody>
                    <a:bodyPr/>
                    <a:lstStyle/>
                    <a:p>
                      <a:pPr algn="ctr" indent="0" marL="0">
                        <a:buNone/>
                      </a:pPr>
                      <a:r>
                        <a:rPr lang="en-US" sz="1200" b="1" dirty="0">
                          <a:solidFill>
                            <a:srgbClr val="D6584F"/>
                          </a:solidFill>
                          <a:latin typeface="Calibri" pitchFamily="34" charset="0"/>
                          <a:ea typeface="Calibri" pitchFamily="34" charset="-122"/>
                          <a:cs typeface="Calibri" pitchFamily="34" charset="-120"/>
                        </a:rPr>
                        <a:t>30.5%</a:t>
                      </a:r>
                      <a:endParaRPr lang="en-US" sz="1200" dirty="0">
                        <a:latin typeface="Calibri" charset="0"/>
                        <a:ea typeface="Calibri" charset="0"/>
                        <a:cs typeface="Calibri" charset="0"/>
                      </a:endParaRPr>
                    </a:p>
                  </a:txBody>
                  <a:tcPr marL="91440" marR="91440" marT="45720" marB="45720"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tcPr>
                </a:tc>
                <a:tc>
                  <a:txBody>
                    <a:bodyPr/>
                    <a:lstStyle/>
                    <a:p>
                      <a:pPr algn="ctr" indent="0" marL="0">
                        <a:buNone/>
                      </a:pPr>
                      <a:r>
                        <a:rPr lang="en-US" sz="1200" dirty="0">
                          <a:solidFill>
                            <a:srgbClr val="1B2A4A"/>
                          </a:solidFill>
                          <a:latin typeface="Calibri" pitchFamily="34" charset="0"/>
                          <a:ea typeface="Calibri" pitchFamily="34" charset="-122"/>
                          <a:cs typeface="Calibri" pitchFamily="34" charset="-120"/>
                        </a:rPr>
                        <a:t>10.4%</a:t>
                      </a:r>
                      <a:endParaRPr lang="en-US" sz="1200" dirty="0">
                        <a:latin typeface="Calibri" charset="0"/>
                        <a:ea typeface="Calibri" charset="0"/>
                        <a:cs typeface="Calibri" charset="0"/>
                      </a:endParaRPr>
                    </a:p>
                  </a:txBody>
                  <a:tcPr marL="91440" marR="91440" marT="45720" marB="45720"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tcPr>
                </a:tc>
              </a:tr>
              <a:tr h="384048">
                <a:tc>
                  <a:txBody>
                    <a:bodyPr/>
                    <a:lstStyle/>
                    <a:p>
                      <a:pPr indent="0" marL="0">
                        <a:buNone/>
                      </a:pPr>
                      <a:r>
                        <a:rPr lang="en-US" sz="1200" dirty="0">
                          <a:solidFill>
                            <a:srgbClr val="1B2A4A"/>
                          </a:solidFill>
                          <a:latin typeface="Calibri" pitchFamily="34" charset="0"/>
                          <a:ea typeface="Calibri" pitchFamily="34" charset="-122"/>
                          <a:cs typeface="Calibri" pitchFamily="34" charset="-120"/>
                        </a:rPr>
                        <a:t>Avg Engagement</a:t>
                      </a:r>
                      <a:endParaRPr lang="en-US" sz="1200" dirty="0">
                        <a:latin typeface="Calibri" charset="0"/>
                        <a:ea typeface="Calibri" charset="0"/>
                        <a:cs typeface="Calibri" charset="0"/>
                      </a:endParaRPr>
                    </a:p>
                  </a:txBody>
                  <a:tcPr marL="91440" marR="91440" marT="45720" marB="45720"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tcPr>
                </a:tc>
                <a:tc>
                  <a:txBody>
                    <a:bodyPr/>
                    <a:lstStyle/>
                    <a:p>
                      <a:pPr algn="ctr" indent="0" marL="0">
                        <a:buNone/>
                      </a:pPr>
                      <a:r>
                        <a:rPr lang="en-US" sz="1200" dirty="0">
                          <a:solidFill>
                            <a:srgbClr val="1B2A4A"/>
                          </a:solidFill>
                          <a:latin typeface="Calibri" pitchFamily="34" charset="0"/>
                          <a:ea typeface="Calibri" pitchFamily="34" charset="-122"/>
                          <a:cs typeface="Calibri" pitchFamily="34" charset="-120"/>
                        </a:rPr>
                        <a:t>0.595</a:t>
                      </a:r>
                      <a:endParaRPr lang="en-US" sz="1200" dirty="0">
                        <a:latin typeface="Calibri" charset="0"/>
                        <a:ea typeface="Calibri" charset="0"/>
                        <a:cs typeface="Calibri" charset="0"/>
                      </a:endParaRPr>
                    </a:p>
                  </a:txBody>
                  <a:tcPr marL="91440" marR="91440" marT="45720" marB="45720"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tcPr>
                </a:tc>
                <a:tc>
                  <a:txBody>
                    <a:bodyPr/>
                    <a:lstStyle/>
                    <a:p>
                      <a:pPr algn="ctr" indent="0" marL="0">
                        <a:buNone/>
                      </a:pPr>
                      <a:r>
                        <a:rPr lang="en-US" sz="1200" dirty="0">
                          <a:solidFill>
                            <a:srgbClr val="1B2A4A"/>
                          </a:solidFill>
                          <a:latin typeface="Calibri" pitchFamily="34" charset="0"/>
                          <a:ea typeface="Calibri" pitchFamily="34" charset="-122"/>
                          <a:cs typeface="Calibri" pitchFamily="34" charset="-120"/>
                        </a:rPr>
                        <a:t>0.566</a:t>
                      </a:r>
                      <a:endParaRPr lang="en-US" sz="1200" dirty="0">
                        <a:latin typeface="Calibri" charset="0"/>
                        <a:ea typeface="Calibri" charset="0"/>
                        <a:cs typeface="Calibri" charset="0"/>
                      </a:endParaRPr>
                    </a:p>
                  </a:txBody>
                  <a:tcPr marL="91440" marR="91440" marT="45720" marB="45720"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tcPr>
                </a:tc>
              </a:tr>
              <a:tr h="384048">
                <a:tc>
                  <a:txBody>
                    <a:bodyPr/>
                    <a:lstStyle/>
                    <a:p>
                      <a:pPr indent="0" marL="0">
                        <a:buNone/>
                      </a:pPr>
                      <a:r>
                        <a:rPr lang="en-US" sz="1200" dirty="0">
                          <a:solidFill>
                            <a:srgbClr val="1B2A4A"/>
                          </a:solidFill>
                          <a:latin typeface="Calibri" pitchFamily="34" charset="0"/>
                          <a:ea typeface="Calibri" pitchFamily="34" charset="-122"/>
                          <a:cs typeface="Calibri" pitchFamily="34" charset="-120"/>
                        </a:rPr>
                        <a:t>Avg Work-Life Balance</a:t>
                      </a:r>
                      <a:endParaRPr lang="en-US" sz="1200" dirty="0">
                        <a:latin typeface="Calibri" charset="0"/>
                        <a:ea typeface="Calibri" charset="0"/>
                        <a:cs typeface="Calibri" charset="0"/>
                      </a:endParaRPr>
                    </a:p>
                  </a:txBody>
                  <a:tcPr marL="91440" marR="91440" marT="45720" marB="45720"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tcPr>
                </a:tc>
                <a:tc>
                  <a:txBody>
                    <a:bodyPr/>
                    <a:lstStyle/>
                    <a:p>
                      <a:pPr algn="ctr" indent="0" marL="0">
                        <a:buNone/>
                      </a:pPr>
                      <a:r>
                        <a:rPr lang="en-US" sz="1200" dirty="0">
                          <a:solidFill>
                            <a:srgbClr val="1B2A4A"/>
                          </a:solidFill>
                          <a:latin typeface="Calibri" pitchFamily="34" charset="0"/>
                          <a:ea typeface="Calibri" pitchFamily="34" charset="-122"/>
                          <a:cs typeface="Calibri" pitchFamily="34" charset="-120"/>
                        </a:rPr>
                        <a:t>2.73</a:t>
                      </a:r>
                      <a:endParaRPr lang="en-US" sz="1200" dirty="0">
                        <a:latin typeface="Calibri" charset="0"/>
                        <a:ea typeface="Calibri" charset="0"/>
                        <a:cs typeface="Calibri" charset="0"/>
                      </a:endParaRPr>
                    </a:p>
                  </a:txBody>
                  <a:tcPr marL="91440" marR="91440" marT="45720" marB="45720"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tcPr>
                </a:tc>
                <a:tc>
                  <a:txBody>
                    <a:bodyPr/>
                    <a:lstStyle/>
                    <a:p>
                      <a:pPr algn="ctr" indent="0" marL="0">
                        <a:buNone/>
                      </a:pPr>
                      <a:r>
                        <a:rPr lang="en-US" sz="1200" dirty="0">
                          <a:solidFill>
                            <a:srgbClr val="1B2A4A"/>
                          </a:solidFill>
                          <a:latin typeface="Calibri" pitchFamily="34" charset="0"/>
                          <a:ea typeface="Calibri" pitchFamily="34" charset="-122"/>
                          <a:cs typeface="Calibri" pitchFamily="34" charset="-120"/>
                        </a:rPr>
                        <a:t>2.77</a:t>
                      </a:r>
                      <a:endParaRPr lang="en-US" sz="1200" dirty="0">
                        <a:latin typeface="Calibri" charset="0"/>
                        <a:ea typeface="Calibri" charset="0"/>
                        <a:cs typeface="Calibri" charset="0"/>
                      </a:endParaRPr>
                    </a:p>
                  </a:txBody>
                  <a:tcPr marL="91440" marR="91440" marT="45720" marB="45720"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tcPr>
                </a:tc>
              </a:tr>
              <a:tr h="384048">
                <a:tc>
                  <a:txBody>
                    <a:bodyPr/>
                    <a:lstStyle/>
                    <a:p>
                      <a:pPr indent="0" marL="0">
                        <a:buNone/>
                      </a:pPr>
                      <a:r>
                        <a:rPr lang="en-US" sz="1200" dirty="0">
                          <a:solidFill>
                            <a:srgbClr val="1B2A4A"/>
                          </a:solidFill>
                          <a:latin typeface="Calibri" pitchFamily="34" charset="0"/>
                          <a:ea typeface="Calibri" pitchFamily="34" charset="-122"/>
                          <a:cs typeface="Calibri" pitchFamily="34" charset="-120"/>
                        </a:rPr>
                        <a:t>High Burnout Risk %</a:t>
                      </a:r>
                      <a:endParaRPr lang="en-US" sz="1200" dirty="0">
                        <a:latin typeface="Calibri" charset="0"/>
                        <a:ea typeface="Calibri" charset="0"/>
                        <a:cs typeface="Calibri" charset="0"/>
                      </a:endParaRPr>
                    </a:p>
                  </a:txBody>
                  <a:tcPr marL="91440" marR="91440" marT="45720" marB="45720"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tcPr>
                </a:tc>
                <a:tc>
                  <a:txBody>
                    <a:bodyPr/>
                    <a:lstStyle/>
                    <a:p>
                      <a:pPr algn="ctr" indent="0" marL="0">
                        <a:buNone/>
                      </a:pPr>
                      <a:r>
                        <a:rPr lang="en-US" sz="1200" b="1" dirty="0">
                          <a:solidFill>
                            <a:srgbClr val="D6584F"/>
                          </a:solidFill>
                          <a:latin typeface="Calibri" pitchFamily="34" charset="0"/>
                          <a:ea typeface="Calibri" pitchFamily="34" charset="-122"/>
                          <a:cs typeface="Calibri" pitchFamily="34" charset="-120"/>
                        </a:rPr>
                        <a:t>31.0%</a:t>
                      </a:r>
                      <a:endParaRPr lang="en-US" sz="1200" dirty="0">
                        <a:latin typeface="Calibri" charset="0"/>
                        <a:ea typeface="Calibri" charset="0"/>
                        <a:cs typeface="Calibri" charset="0"/>
                      </a:endParaRPr>
                    </a:p>
                  </a:txBody>
                  <a:tcPr marL="91440" marR="91440" marT="45720" marB="45720"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tcPr>
                </a:tc>
                <a:tc>
                  <a:txBody>
                    <a:bodyPr/>
                    <a:lstStyle/>
                    <a:p>
                      <a:pPr algn="ctr" indent="0" marL="0">
                        <a:buNone/>
                      </a:pPr>
                      <a:r>
                        <a:rPr lang="en-US" sz="1200" dirty="0">
                          <a:solidFill>
                            <a:srgbClr val="1B2A4A"/>
                          </a:solidFill>
                          <a:latin typeface="Calibri" pitchFamily="34" charset="0"/>
                          <a:ea typeface="Calibri" pitchFamily="34" charset="-122"/>
                          <a:cs typeface="Calibri" pitchFamily="34" charset="-120"/>
                        </a:rPr>
                        <a:t>0.3%</a:t>
                      </a:r>
                      <a:endParaRPr lang="en-US" sz="1200" dirty="0">
                        <a:latin typeface="Calibri" charset="0"/>
                        <a:ea typeface="Calibri" charset="0"/>
                        <a:cs typeface="Calibri" charset="0"/>
                      </a:endParaRPr>
                    </a:p>
                  </a:txBody>
                  <a:tcPr marL="91440" marR="91440" marT="45720" marB="45720"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tcPr>
                </a:tc>
              </a:tr>
            </a:tbl>
          </a:graphicData>
        </a:graphic>
      </p:graphicFrame>
      <p:sp>
        <p:nvSpPr>
          <p:cNvPr id="7" name="Shape 3"/>
          <p:cNvSpPr/>
          <p:nvPr/>
        </p:nvSpPr>
        <p:spPr>
          <a:xfrm>
            <a:off x="6035040" y="4160520"/>
            <a:ext cx="5669280" cy="1874520"/>
          </a:xfrm>
          <a:prstGeom prst="roundRect">
            <a:avLst>
              <a:gd name="adj" fmla="val 3902"/>
            </a:avLst>
          </a:prstGeom>
          <a:solidFill>
            <a:srgbClr val="F4F6FB"/>
          </a:solidFill>
          <a:ln w="12700">
            <a:solidFill>
              <a:srgbClr val="F4F6FB"/>
            </a:solidFill>
            <a:prstDash val="solid"/>
          </a:ln>
        </p:spPr>
      </p:sp>
      <p:sp>
        <p:nvSpPr>
          <p:cNvPr id="8" name="Text 4"/>
          <p:cNvSpPr/>
          <p:nvPr/>
        </p:nvSpPr>
        <p:spPr>
          <a:xfrm>
            <a:off x="6309360" y="4297680"/>
            <a:ext cx="5120640" cy="1600200"/>
          </a:xfrm>
          <a:prstGeom prst="rect">
            <a:avLst/>
          </a:prstGeom>
          <a:noFill/>
          <a:ln/>
        </p:spPr>
        <p:txBody>
          <a:bodyPr wrap="square" rtlCol="0" anchor="ctr"/>
          <a:lstStyle/>
          <a:p>
            <a:pPr indent="0" marL="0">
              <a:lnSpc>
                <a:spcPct val="125000"/>
              </a:lnSpc>
              <a:buNone/>
            </a:pPr>
            <a:r>
              <a:rPr lang="en-US" sz="1300" i="1" dirty="0">
                <a:solidFill>
                  <a:srgbClr val="1B2A4A"/>
                </a:solidFill>
                <a:latin typeface="Calibri" pitchFamily="34" charset="0"/>
                <a:ea typeface="Calibri" pitchFamily="34" charset="-122"/>
                <a:cs typeface="Calibri" pitchFamily="34" charset="-120"/>
              </a:rPr>
              <a:t>Overtime workers report higher engagement, not lower. They are not disengaged — they are overextended. The fix is workload redistribution, not motivation programmes.</a:t>
            </a:r>
            <a:endParaRPr lang="en-US" sz="1300" dirty="0"/>
          </a:p>
        </p:txBody>
      </p:sp>
      <p:sp>
        <p:nvSpPr>
          <p:cNvPr id="9" name="Text 5"/>
          <p:cNvSpPr/>
          <p:nvPr/>
        </p:nvSpPr>
        <p:spPr>
          <a:xfrm>
            <a:off x="457200" y="6473952"/>
            <a:ext cx="7315200" cy="274320"/>
          </a:xfrm>
          <a:prstGeom prst="rect">
            <a:avLst/>
          </a:prstGeom>
          <a:noFill/>
          <a:ln/>
        </p:spPr>
        <p:txBody>
          <a:bodyPr wrap="square" rtlCol="0" anchor="ctr"/>
          <a:lstStyle/>
          <a:p>
            <a:pPr indent="0" marL="0">
              <a:buNone/>
            </a:pPr>
            <a:r>
              <a:rPr lang="en-US" sz="1000" dirty="0">
                <a:solidFill>
                  <a:srgbClr val="A6AFC7"/>
                </a:solidFill>
                <a:latin typeface="Calibri" pitchFamily="34" charset="0"/>
                <a:ea typeface="Calibri" pitchFamily="34" charset="-122"/>
                <a:cs typeface="Calibri" pitchFamily="34" charset="-120"/>
              </a:rPr>
              <a:t>Palo Alto Networks — HR Analytics Diagnostic</a:t>
            </a:r>
            <a:endParaRPr lang="en-US" sz="1000" dirty="0"/>
          </a:p>
        </p:txBody>
      </p:sp>
      <p:sp>
        <p:nvSpPr>
          <p:cNvPr id="10" name="Text 6"/>
          <p:cNvSpPr/>
          <p:nvPr/>
        </p:nvSpPr>
        <p:spPr>
          <a:xfrm>
            <a:off x="11567160" y="6473952"/>
            <a:ext cx="457200" cy="274320"/>
          </a:xfrm>
          <a:prstGeom prst="rect">
            <a:avLst/>
          </a:prstGeom>
          <a:noFill/>
          <a:ln/>
        </p:spPr>
        <p:txBody>
          <a:bodyPr wrap="square" rtlCol="0" anchor="ctr"/>
          <a:lstStyle/>
          <a:p>
            <a:pPr algn="r" indent="0" marL="0">
              <a:buNone/>
            </a:pPr>
            <a:r>
              <a:rPr lang="en-US" sz="1000" dirty="0">
                <a:solidFill>
                  <a:srgbClr val="A6AFC7"/>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2A4A"/>
        </a:solidFill>
      </p:bgPr>
    </p:bg>
    <p:spTree>
      <p:nvGrpSpPr>
        <p:cNvPr id="1" name=""/>
        <p:cNvGrpSpPr/>
        <p:nvPr/>
      </p:nvGrpSpPr>
      <p:grpSpPr>
        <a:xfrm>
          <a:off x="0" y="0"/>
          <a:ext cx="0" cy="0"/>
          <a:chOff x="0" y="0"/>
          <a:chExt cx="0" cy="0"/>
        </a:xfrm>
      </p:grpSpPr>
      <p:sp>
        <p:nvSpPr>
          <p:cNvPr id="2" name="Text 0"/>
          <p:cNvSpPr/>
          <p:nvPr/>
        </p:nvSpPr>
        <p:spPr>
          <a:xfrm>
            <a:off x="457200" y="365760"/>
            <a:ext cx="5486400" cy="320040"/>
          </a:xfrm>
          <a:prstGeom prst="rect">
            <a:avLst/>
          </a:prstGeom>
          <a:noFill/>
          <a:ln/>
        </p:spPr>
        <p:txBody>
          <a:bodyPr wrap="square" rtlCol="0" anchor="ctr"/>
          <a:lstStyle/>
          <a:p>
            <a:pPr indent="0" marL="0">
              <a:buNone/>
            </a:pPr>
            <a:r>
              <a:rPr lang="en-US" sz="1200" b="1" spc="200" kern="0" dirty="0">
                <a:solidFill>
                  <a:srgbClr val="8FA3D6"/>
                </a:solidFill>
                <a:latin typeface="Calibri" pitchFamily="34" charset="0"/>
                <a:ea typeface="Calibri" pitchFamily="34" charset="-122"/>
                <a:cs typeface="Calibri" pitchFamily="34" charset="-120"/>
              </a:rPr>
              <a:t>RESULTS · FINDING 10</a:t>
            </a:r>
            <a:endParaRPr lang="en-US" sz="1200" dirty="0"/>
          </a:p>
        </p:txBody>
      </p:sp>
      <p:sp>
        <p:nvSpPr>
          <p:cNvPr id="3" name="Text 1"/>
          <p:cNvSpPr/>
          <p:nvPr/>
        </p:nvSpPr>
        <p:spPr>
          <a:xfrm>
            <a:off x="457200" y="777240"/>
            <a:ext cx="7315200" cy="548640"/>
          </a:xfrm>
          <a:prstGeom prst="rect">
            <a:avLst/>
          </a:prstGeom>
          <a:noFill/>
          <a:ln/>
        </p:spPr>
        <p:txBody>
          <a:bodyPr wrap="square"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The "Bright Burn" pattern</a:t>
            </a:r>
            <a:endParaRPr lang="en-US" sz="2700" dirty="0"/>
          </a:p>
        </p:txBody>
      </p:sp>
      <p:sp>
        <p:nvSpPr>
          <p:cNvPr id="4" name="Text 2"/>
          <p:cNvSpPr/>
          <p:nvPr/>
        </p:nvSpPr>
        <p:spPr>
          <a:xfrm>
            <a:off x="457200" y="1371600"/>
            <a:ext cx="10515600" cy="457200"/>
          </a:xfrm>
          <a:prstGeom prst="rect">
            <a:avLst/>
          </a:prstGeom>
          <a:noFill/>
          <a:ln/>
        </p:spPr>
        <p:txBody>
          <a:bodyPr wrap="square" rtlCol="0" anchor="ctr"/>
          <a:lstStyle/>
          <a:p>
            <a:pPr indent="0" marL="0">
              <a:buNone/>
            </a:pPr>
            <a:r>
              <a:rPr lang="en-US" sz="1350" dirty="0">
                <a:solidFill>
                  <a:srgbClr val="C4D0EE"/>
                </a:solidFill>
                <a:latin typeface="Calibri" pitchFamily="34" charset="0"/>
                <a:ea typeface="Calibri" pitchFamily="34" charset="-122"/>
                <a:cs typeface="Calibri" pitchFamily="34" charset="-120"/>
              </a:rPr>
              <a:t>Employees with the highest Workload Stress score report the highest engagement — yet the highest attrition.</a:t>
            </a:r>
            <a:endParaRPr lang="en-US" sz="1350" dirty="0"/>
          </a:p>
        </p:txBody>
      </p:sp>
      <p:graphicFrame>
        <p:nvGraphicFramePr>
          <p:cNvPr id="5" name="Chart 0" descr=""/>
          <p:cNvGraphicFramePr/>
          <p:nvPr/>
        </p:nvGraphicFramePr>
        <p:xfrm>
          <a:off x="457200" y="1965960"/>
          <a:ext cx="7406640" cy="420624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8092440" y="1965960"/>
            <a:ext cx="3611880" cy="4206240"/>
          </a:xfrm>
          <a:prstGeom prst="roundRect">
            <a:avLst>
              <a:gd name="adj" fmla="val 2278"/>
            </a:avLst>
          </a:prstGeom>
          <a:solidFill>
            <a:srgbClr val="24365C"/>
          </a:solidFill>
          <a:ln w="12700">
            <a:solidFill>
              <a:srgbClr val="3E4E78"/>
            </a:solidFill>
            <a:prstDash val="solid"/>
          </a:ln>
        </p:spPr>
      </p:sp>
      <p:sp>
        <p:nvSpPr>
          <p:cNvPr id="7" name="Text 4"/>
          <p:cNvSpPr/>
          <p:nvPr/>
        </p:nvSpPr>
        <p:spPr>
          <a:xfrm>
            <a:off x="8366760" y="2148840"/>
            <a:ext cx="3063240" cy="685800"/>
          </a:xfrm>
          <a:prstGeom prst="rect">
            <a:avLst/>
          </a:prstGeom>
          <a:noFill/>
          <a:ln/>
        </p:spPr>
        <p:txBody>
          <a:bodyPr wrap="square" rtlCol="0" anchor="ctr"/>
          <a:lstStyle/>
          <a:p>
            <a:pPr indent="0" marL="0">
              <a:buNone/>
            </a:pPr>
            <a:r>
              <a:rPr lang="en-US" sz="3400" b="1" dirty="0">
                <a:solidFill>
                  <a:srgbClr val="D6584F"/>
                </a:solidFill>
                <a:latin typeface="Cambria" pitchFamily="34" charset="0"/>
                <a:ea typeface="Cambria" pitchFamily="34" charset="-122"/>
                <a:cs typeface="Cambria" pitchFamily="34" charset="-120"/>
              </a:rPr>
              <a:t>50.0%</a:t>
            </a:r>
            <a:endParaRPr lang="en-US" sz="3400" dirty="0"/>
          </a:p>
        </p:txBody>
      </p:sp>
      <p:sp>
        <p:nvSpPr>
          <p:cNvPr id="8" name="Text 5"/>
          <p:cNvSpPr/>
          <p:nvPr/>
        </p:nvSpPr>
        <p:spPr>
          <a:xfrm>
            <a:off x="8366760" y="2788920"/>
            <a:ext cx="3063240" cy="640080"/>
          </a:xfrm>
          <a:prstGeom prst="rect">
            <a:avLst/>
          </a:prstGeom>
          <a:noFill/>
          <a:ln/>
        </p:spPr>
        <p:txBody>
          <a:bodyPr wrap="square" rtlCol="0" anchor="ctr"/>
          <a:lstStyle/>
          <a:p>
            <a:pPr indent="0" marL="0">
              <a:lnSpc>
                <a:spcPct val="115000"/>
              </a:lnSpc>
              <a:buNone/>
            </a:pPr>
            <a:r>
              <a:rPr lang="en-US" sz="1150" dirty="0">
                <a:solidFill>
                  <a:srgbClr val="CBD5EF"/>
                </a:solidFill>
                <a:latin typeface="Calibri" pitchFamily="34" charset="0"/>
                <a:ea typeface="Calibri" pitchFamily="34" charset="-122"/>
                <a:cs typeface="Calibri" pitchFamily="34" charset="-120"/>
              </a:rPr>
              <a:t>attrition at max stress score — vs. 3.4% at zero stress</a:t>
            </a:r>
            <a:endParaRPr lang="en-US" sz="1150" dirty="0"/>
          </a:p>
        </p:txBody>
      </p:sp>
      <p:sp>
        <p:nvSpPr>
          <p:cNvPr id="9" name="Text 6"/>
          <p:cNvSpPr/>
          <p:nvPr/>
        </p:nvSpPr>
        <p:spPr>
          <a:xfrm>
            <a:off x="8366760" y="3566160"/>
            <a:ext cx="3063240" cy="2468880"/>
          </a:xfrm>
          <a:prstGeom prst="rect">
            <a:avLst/>
          </a:prstGeom>
          <a:noFill/>
          <a:ln/>
        </p:spPr>
        <p:txBody>
          <a:bodyPr wrap="square" rtlCol="0" anchor="ctr"/>
          <a:lstStyle/>
          <a:p>
            <a:pPr indent="0" marL="0">
              <a:lnSpc>
                <a:spcPct val="125000"/>
              </a:lnSpc>
              <a:buNone/>
            </a:pPr>
            <a:r>
              <a:rPr lang="en-US" sz="1200" dirty="0">
                <a:solidFill>
                  <a:srgbClr val="CBD5EF"/>
                </a:solidFill>
                <a:latin typeface="Calibri" pitchFamily="34" charset="0"/>
                <a:ea typeface="Calibri" pitchFamily="34" charset="-122"/>
                <a:cs typeface="Calibri" pitchFamily="34" charset="-120"/>
              </a:rPr>
              <a:t>These are high-performing, deeply committed employees who leave not from disengagement, but because their market value creates superior outside options before exhaustion becomes complete.</a:t>
            </a:r>
            <a:endParaRPr lang="en-US" sz="1200" dirty="0"/>
          </a:p>
          <a:p>
            <a:pPr indent="0" marL="0">
              <a:lnSpc>
                <a:spcPct val="125000"/>
              </a:lnSpc>
              <a:buNone/>
            </a:pPr>
            <a:endParaRPr lang="en-US" sz="1200" dirty="0"/>
          </a:p>
          <a:p>
            <a:pPr indent="0" marL="0">
              <a:lnSpc>
                <a:spcPct val="125000"/>
              </a:lnSpc>
              <a:buNone/>
            </a:pPr>
            <a:r>
              <a:rPr lang="en-US" sz="1200" dirty="0">
                <a:solidFill>
                  <a:srgbClr val="CBD5EF"/>
                </a:solidFill>
                <a:latin typeface="Calibri" pitchFamily="34" charset="0"/>
                <a:ea typeface="Calibri" pitchFamily="34" charset="-122"/>
                <a:cs typeface="Calibri" pitchFamily="34" charset="-120"/>
              </a:rPr>
              <a:t>Engagement surveys alone systematically underestimate risk in this segment — workload must be monitored independently.</a:t>
            </a:r>
            <a:endParaRPr lang="en-US" sz="1200" dirty="0"/>
          </a:p>
        </p:txBody>
      </p:sp>
      <p:sp>
        <p:nvSpPr>
          <p:cNvPr id="10" name="Text 7"/>
          <p:cNvSpPr/>
          <p:nvPr/>
        </p:nvSpPr>
        <p:spPr>
          <a:xfrm>
            <a:off x="11567160" y="6473952"/>
            <a:ext cx="457200" cy="274320"/>
          </a:xfrm>
          <a:prstGeom prst="rect">
            <a:avLst/>
          </a:prstGeom>
          <a:noFill/>
          <a:ln/>
        </p:spPr>
        <p:txBody>
          <a:bodyPr wrap="square" rtlCol="0" anchor="ctr"/>
          <a:lstStyle/>
          <a:p>
            <a:pPr algn="r" indent="0" marL="0">
              <a:buNone/>
            </a:pPr>
            <a:r>
              <a:rPr lang="en-US" sz="1000" dirty="0">
                <a:solidFill>
                  <a:srgbClr val="8A96B5"/>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5486400" cy="320040"/>
          </a:xfrm>
          <a:prstGeom prst="rect">
            <a:avLst/>
          </a:prstGeom>
          <a:noFill/>
          <a:ln/>
        </p:spPr>
        <p:txBody>
          <a:bodyPr wrap="square" rtlCol="0" anchor="ctr"/>
          <a:lstStyle/>
          <a:p>
            <a:pPr indent="0" marL="0">
              <a:buNone/>
            </a:pPr>
            <a:r>
              <a:rPr lang="en-US" sz="1200" b="1" spc="200" kern="0" dirty="0">
                <a:solidFill>
                  <a:srgbClr val="D6584F"/>
                </a:solidFill>
                <a:latin typeface="Calibri" pitchFamily="34" charset="0"/>
                <a:ea typeface="Calibri" pitchFamily="34" charset="-122"/>
                <a:cs typeface="Calibri" pitchFamily="34" charset="-120"/>
              </a:rPr>
              <a:t>RESULTS · FINDING 11</a:t>
            </a:r>
            <a:endParaRPr lang="en-US" sz="1200" dirty="0"/>
          </a:p>
        </p:txBody>
      </p:sp>
      <p:sp>
        <p:nvSpPr>
          <p:cNvPr id="3" name="Text 1"/>
          <p:cNvSpPr/>
          <p:nvPr/>
        </p:nvSpPr>
        <p:spPr>
          <a:xfrm>
            <a:off x="457200" y="777240"/>
            <a:ext cx="10515600" cy="548640"/>
          </a:xfrm>
          <a:prstGeom prst="rect">
            <a:avLst/>
          </a:prstGeom>
          <a:noFill/>
          <a:ln/>
        </p:spPr>
        <p:txBody>
          <a:bodyPr wrap="square" rtlCol="0" anchor="ctr"/>
          <a:lstStyle/>
          <a:p>
            <a:pPr indent="0" marL="0">
              <a:buNone/>
            </a:pPr>
            <a:r>
              <a:rPr lang="en-US" sz="2600" b="1" dirty="0">
                <a:solidFill>
                  <a:srgbClr val="1B2A4A"/>
                </a:solidFill>
                <a:latin typeface="Cambria" pitchFamily="34" charset="0"/>
                <a:ea typeface="Cambria" pitchFamily="34" charset="-122"/>
                <a:cs typeface="Cambria" pitchFamily="34" charset="-120"/>
              </a:rPr>
              <a:t>Stressors stack — multiplicatively, not additively</a:t>
            </a:r>
            <a:endParaRPr lang="en-US" sz="2600" dirty="0"/>
          </a:p>
        </p:txBody>
      </p:sp>
      <p:sp>
        <p:nvSpPr>
          <p:cNvPr id="4" name="Text 2"/>
          <p:cNvSpPr/>
          <p:nvPr/>
        </p:nvSpPr>
        <p:spPr>
          <a:xfrm>
            <a:off x="457200" y="1371600"/>
            <a:ext cx="10515600" cy="457200"/>
          </a:xfrm>
          <a:prstGeom prst="rect">
            <a:avLst/>
          </a:prstGeom>
          <a:noFill/>
          <a:ln/>
        </p:spPr>
        <p:txBody>
          <a:bodyPr wrap="square" rtlCol="0" anchor="ctr"/>
          <a:lstStyle/>
          <a:p>
            <a:pPr indent="0" marL="0">
              <a:buNone/>
            </a:pPr>
            <a:r>
              <a:rPr lang="en-US" sz="1350" dirty="0">
                <a:solidFill>
                  <a:srgbClr val="5B6B8C"/>
                </a:solidFill>
                <a:latin typeface="Calibri" pitchFamily="34" charset="0"/>
                <a:ea typeface="Calibri" pitchFamily="34" charset="-122"/>
                <a:cs typeface="Calibri" pitchFamily="34" charset="-120"/>
              </a:rPr>
              <a:t>Frequent travel combined with overtime produces 41.9% attrition — 2.4× the frequent-travel-alone rate.</a:t>
            </a:r>
            <a:endParaRPr lang="en-US" sz="1350" dirty="0"/>
          </a:p>
        </p:txBody>
      </p:sp>
      <p:sp>
        <p:nvSpPr>
          <p:cNvPr id="5" name="Text 3"/>
          <p:cNvSpPr/>
          <p:nvPr/>
        </p:nvSpPr>
        <p:spPr>
          <a:xfrm>
            <a:off x="1828800" y="1764792"/>
            <a:ext cx="3200400" cy="320040"/>
          </a:xfrm>
          <a:prstGeom prst="rect">
            <a:avLst/>
          </a:prstGeom>
          <a:noFill/>
          <a:ln/>
        </p:spPr>
        <p:txBody>
          <a:bodyPr wrap="square" rtlCol="0" anchor="ctr"/>
          <a:lstStyle/>
          <a:p>
            <a:pPr algn="ctr" indent="0" marL="0">
              <a:buNone/>
            </a:pPr>
            <a:r>
              <a:rPr lang="en-US" sz="1200" b="1" dirty="0">
                <a:solidFill>
                  <a:srgbClr val="1B2A4A"/>
                </a:solidFill>
                <a:latin typeface="Calibri" pitchFamily="34" charset="0"/>
                <a:ea typeface="Calibri" pitchFamily="34" charset="-122"/>
                <a:cs typeface="Calibri" pitchFamily="34" charset="-120"/>
              </a:rPr>
              <a:t>No Overtime</a:t>
            </a:r>
            <a:endParaRPr lang="en-US" sz="1200" dirty="0"/>
          </a:p>
        </p:txBody>
      </p:sp>
      <p:sp>
        <p:nvSpPr>
          <p:cNvPr id="6" name="Text 4"/>
          <p:cNvSpPr/>
          <p:nvPr/>
        </p:nvSpPr>
        <p:spPr>
          <a:xfrm>
            <a:off x="5138928" y="1764792"/>
            <a:ext cx="3200400" cy="320040"/>
          </a:xfrm>
          <a:prstGeom prst="rect">
            <a:avLst/>
          </a:prstGeom>
          <a:noFill/>
          <a:ln/>
        </p:spPr>
        <p:txBody>
          <a:bodyPr wrap="square" rtlCol="0" anchor="ctr"/>
          <a:lstStyle/>
          <a:p>
            <a:pPr algn="ctr" indent="0" marL="0">
              <a:buNone/>
            </a:pPr>
            <a:r>
              <a:rPr lang="en-US" sz="1200" b="1" dirty="0">
                <a:solidFill>
                  <a:srgbClr val="1B2A4A"/>
                </a:solidFill>
                <a:latin typeface="Calibri" pitchFamily="34" charset="0"/>
                <a:ea typeface="Calibri" pitchFamily="34" charset="-122"/>
                <a:cs typeface="Calibri" pitchFamily="34" charset="-120"/>
              </a:rPr>
              <a:t>Overtime</a:t>
            </a:r>
            <a:endParaRPr lang="en-US" sz="1200" dirty="0"/>
          </a:p>
        </p:txBody>
      </p:sp>
      <p:sp>
        <p:nvSpPr>
          <p:cNvPr id="7" name="Text 5"/>
          <p:cNvSpPr/>
          <p:nvPr/>
        </p:nvSpPr>
        <p:spPr>
          <a:xfrm>
            <a:off x="457200" y="2514600"/>
            <a:ext cx="1280160" cy="54864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No Travel</a:t>
            </a:r>
            <a:endParaRPr lang="en-US" sz="1200" dirty="0"/>
          </a:p>
        </p:txBody>
      </p:sp>
      <p:sp>
        <p:nvSpPr>
          <p:cNvPr id="8" name="Shape 6"/>
          <p:cNvSpPr/>
          <p:nvPr/>
        </p:nvSpPr>
        <p:spPr>
          <a:xfrm>
            <a:off x="1828800" y="2148840"/>
            <a:ext cx="3200400" cy="1234440"/>
          </a:xfrm>
          <a:prstGeom prst="roundRect">
            <a:avLst>
              <a:gd name="adj" fmla="val 5185"/>
            </a:avLst>
          </a:prstGeom>
          <a:solidFill>
            <a:srgbClr val="4D966B"/>
          </a:solidFill>
          <a:ln/>
        </p:spPr>
      </p:sp>
      <p:sp>
        <p:nvSpPr>
          <p:cNvPr id="9" name="Text 7"/>
          <p:cNvSpPr/>
          <p:nvPr/>
        </p:nvSpPr>
        <p:spPr>
          <a:xfrm>
            <a:off x="1828800" y="2148840"/>
            <a:ext cx="3200400" cy="1234440"/>
          </a:xfrm>
          <a:prstGeom prst="rect">
            <a:avLst/>
          </a:prstGeom>
          <a:noFill/>
          <a:ln/>
        </p:spPr>
        <p:txBody>
          <a:bodyPr wrap="square"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4.3%</a:t>
            </a:r>
            <a:endParaRPr lang="en-US" sz="2200" dirty="0"/>
          </a:p>
        </p:txBody>
      </p:sp>
      <p:sp>
        <p:nvSpPr>
          <p:cNvPr id="10" name="Shape 8"/>
          <p:cNvSpPr/>
          <p:nvPr/>
        </p:nvSpPr>
        <p:spPr>
          <a:xfrm>
            <a:off x="5138928" y="2148840"/>
            <a:ext cx="3200400" cy="1234440"/>
          </a:xfrm>
          <a:prstGeom prst="roundRect">
            <a:avLst>
              <a:gd name="adj" fmla="val 5185"/>
            </a:avLst>
          </a:prstGeom>
          <a:solidFill>
            <a:srgbClr val="827E60"/>
          </a:solidFill>
          <a:ln/>
        </p:spPr>
      </p:sp>
      <p:sp>
        <p:nvSpPr>
          <p:cNvPr id="11" name="Text 9"/>
          <p:cNvSpPr/>
          <p:nvPr/>
        </p:nvSpPr>
        <p:spPr>
          <a:xfrm>
            <a:off x="5138928" y="2148840"/>
            <a:ext cx="3200400" cy="1234440"/>
          </a:xfrm>
          <a:prstGeom prst="rect">
            <a:avLst/>
          </a:prstGeom>
          <a:noFill/>
          <a:ln/>
        </p:spPr>
        <p:txBody>
          <a:bodyPr wrap="square"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20.0%</a:t>
            </a:r>
            <a:endParaRPr lang="en-US" sz="2200" dirty="0"/>
          </a:p>
        </p:txBody>
      </p:sp>
      <p:sp>
        <p:nvSpPr>
          <p:cNvPr id="12" name="Text 10"/>
          <p:cNvSpPr/>
          <p:nvPr/>
        </p:nvSpPr>
        <p:spPr>
          <a:xfrm>
            <a:off x="457200" y="3858768"/>
            <a:ext cx="1280160" cy="54864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Rare Travel</a:t>
            </a:r>
            <a:endParaRPr lang="en-US" sz="1200" dirty="0"/>
          </a:p>
        </p:txBody>
      </p:sp>
      <p:sp>
        <p:nvSpPr>
          <p:cNvPr id="13" name="Shape 11"/>
          <p:cNvSpPr/>
          <p:nvPr/>
        </p:nvSpPr>
        <p:spPr>
          <a:xfrm>
            <a:off x="1828800" y="3493008"/>
            <a:ext cx="3200400" cy="1234440"/>
          </a:xfrm>
          <a:prstGeom prst="roundRect">
            <a:avLst>
              <a:gd name="adj" fmla="val 5185"/>
            </a:avLst>
          </a:prstGeom>
          <a:solidFill>
            <a:srgbClr val="5E8D67"/>
          </a:solidFill>
          <a:ln/>
        </p:spPr>
      </p:sp>
      <p:sp>
        <p:nvSpPr>
          <p:cNvPr id="14" name="Text 12"/>
          <p:cNvSpPr/>
          <p:nvPr/>
        </p:nvSpPr>
        <p:spPr>
          <a:xfrm>
            <a:off x="1828800" y="3493008"/>
            <a:ext cx="3200400" cy="1234440"/>
          </a:xfrm>
          <a:prstGeom prst="rect">
            <a:avLst/>
          </a:prstGeom>
          <a:noFill/>
          <a:ln/>
        </p:spPr>
        <p:txBody>
          <a:bodyPr wrap="square"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9.6%</a:t>
            </a:r>
            <a:endParaRPr lang="en-US" sz="2200" dirty="0"/>
          </a:p>
        </p:txBody>
      </p:sp>
      <p:sp>
        <p:nvSpPr>
          <p:cNvPr id="15" name="Shape 13"/>
          <p:cNvSpPr/>
          <p:nvPr/>
        </p:nvSpPr>
        <p:spPr>
          <a:xfrm>
            <a:off x="5138928" y="3493008"/>
            <a:ext cx="3200400" cy="1234440"/>
          </a:xfrm>
          <a:prstGeom prst="roundRect">
            <a:avLst>
              <a:gd name="adj" fmla="val 5185"/>
            </a:avLst>
          </a:prstGeom>
          <a:solidFill>
            <a:srgbClr val="9E715A"/>
          </a:solidFill>
          <a:ln/>
        </p:spPr>
      </p:sp>
      <p:sp>
        <p:nvSpPr>
          <p:cNvPr id="16" name="Text 14"/>
          <p:cNvSpPr/>
          <p:nvPr/>
        </p:nvSpPr>
        <p:spPr>
          <a:xfrm>
            <a:off x="5138928" y="3493008"/>
            <a:ext cx="3200400" cy="1234440"/>
          </a:xfrm>
          <a:prstGeom prst="rect">
            <a:avLst/>
          </a:prstGeom>
          <a:noFill/>
          <a:ln/>
        </p:spPr>
        <p:txBody>
          <a:bodyPr wrap="square"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28.5%</a:t>
            </a:r>
            <a:endParaRPr lang="en-US" sz="2200" dirty="0"/>
          </a:p>
        </p:txBody>
      </p:sp>
      <p:sp>
        <p:nvSpPr>
          <p:cNvPr id="17" name="Text 15"/>
          <p:cNvSpPr/>
          <p:nvPr/>
        </p:nvSpPr>
        <p:spPr>
          <a:xfrm>
            <a:off x="457200" y="5202936"/>
            <a:ext cx="1280160" cy="54864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Frequent Travel</a:t>
            </a:r>
            <a:endParaRPr lang="en-US" sz="1200" dirty="0"/>
          </a:p>
        </p:txBody>
      </p:sp>
      <p:sp>
        <p:nvSpPr>
          <p:cNvPr id="18" name="Shape 16"/>
          <p:cNvSpPr/>
          <p:nvPr/>
        </p:nvSpPr>
        <p:spPr>
          <a:xfrm>
            <a:off x="1828800" y="4837176"/>
            <a:ext cx="3200400" cy="1234440"/>
          </a:xfrm>
          <a:prstGeom prst="roundRect">
            <a:avLst>
              <a:gd name="adj" fmla="val 5185"/>
            </a:avLst>
          </a:prstGeom>
          <a:solidFill>
            <a:srgbClr val="788262"/>
          </a:solidFill>
          <a:ln/>
        </p:spPr>
      </p:sp>
      <p:sp>
        <p:nvSpPr>
          <p:cNvPr id="19" name="Text 17"/>
          <p:cNvSpPr/>
          <p:nvPr/>
        </p:nvSpPr>
        <p:spPr>
          <a:xfrm>
            <a:off x="1828800" y="4837176"/>
            <a:ext cx="3200400" cy="1234440"/>
          </a:xfrm>
          <a:prstGeom prst="rect">
            <a:avLst/>
          </a:prstGeom>
          <a:noFill/>
          <a:ln/>
        </p:spPr>
        <p:txBody>
          <a:bodyPr wrap="square"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17.3%</a:t>
            </a:r>
            <a:endParaRPr lang="en-US" sz="2200" dirty="0"/>
          </a:p>
        </p:txBody>
      </p:sp>
      <p:sp>
        <p:nvSpPr>
          <p:cNvPr id="20" name="Shape 18"/>
          <p:cNvSpPr/>
          <p:nvPr/>
        </p:nvSpPr>
        <p:spPr>
          <a:xfrm>
            <a:off x="5138928" y="4837176"/>
            <a:ext cx="3200400" cy="1234440"/>
          </a:xfrm>
          <a:prstGeom prst="roundRect">
            <a:avLst>
              <a:gd name="adj" fmla="val 5185"/>
            </a:avLst>
          </a:prstGeom>
          <a:solidFill>
            <a:srgbClr val="CC5D51"/>
          </a:solidFill>
          <a:ln w="25400">
            <a:solidFill>
              <a:srgbClr val="1B2A4A"/>
            </a:solidFill>
            <a:prstDash val="solid"/>
          </a:ln>
        </p:spPr>
      </p:sp>
      <p:sp>
        <p:nvSpPr>
          <p:cNvPr id="21" name="Text 19"/>
          <p:cNvSpPr/>
          <p:nvPr/>
        </p:nvSpPr>
        <p:spPr>
          <a:xfrm>
            <a:off x="5138928" y="4837176"/>
            <a:ext cx="3200400" cy="1234440"/>
          </a:xfrm>
          <a:prstGeom prst="rect">
            <a:avLst/>
          </a:prstGeom>
          <a:noFill/>
          <a:ln/>
        </p:spPr>
        <p:txBody>
          <a:bodyPr wrap="square"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41.9%</a:t>
            </a:r>
            <a:endParaRPr lang="en-US" sz="2200" dirty="0"/>
          </a:p>
        </p:txBody>
      </p:sp>
      <p:sp>
        <p:nvSpPr>
          <p:cNvPr id="22" name="Shape 20"/>
          <p:cNvSpPr/>
          <p:nvPr/>
        </p:nvSpPr>
        <p:spPr>
          <a:xfrm>
            <a:off x="8503920" y="2148840"/>
            <a:ext cx="3200400" cy="3703320"/>
          </a:xfrm>
          <a:prstGeom prst="roundRect">
            <a:avLst>
              <a:gd name="adj" fmla="val 2286"/>
            </a:avLst>
          </a:prstGeom>
          <a:solidFill>
            <a:srgbClr val="F4F6FB"/>
          </a:solidFill>
          <a:ln w="12700">
            <a:solidFill>
              <a:srgbClr val="F4F6FB"/>
            </a:solidFill>
            <a:prstDash val="solid"/>
          </a:ln>
        </p:spPr>
      </p:sp>
      <p:sp>
        <p:nvSpPr>
          <p:cNvPr id="23" name="Text 21"/>
          <p:cNvSpPr/>
          <p:nvPr/>
        </p:nvSpPr>
        <p:spPr>
          <a:xfrm>
            <a:off x="8732520" y="2331720"/>
            <a:ext cx="2743200" cy="777240"/>
          </a:xfrm>
          <a:prstGeom prst="rect">
            <a:avLst/>
          </a:prstGeom>
          <a:noFill/>
          <a:ln/>
        </p:spPr>
        <p:txBody>
          <a:bodyPr wrap="square" rtlCol="0" anchor="ctr"/>
          <a:lstStyle/>
          <a:p>
            <a:pPr indent="0" marL="0">
              <a:buNone/>
            </a:pPr>
            <a:r>
              <a:rPr lang="en-US" sz="3800" b="1" dirty="0">
                <a:solidFill>
                  <a:srgbClr val="D6584F"/>
                </a:solidFill>
                <a:latin typeface="Cambria" pitchFamily="34" charset="0"/>
                <a:ea typeface="Cambria" pitchFamily="34" charset="-122"/>
                <a:cs typeface="Cambria" pitchFamily="34" charset="-120"/>
              </a:rPr>
              <a:t>86</a:t>
            </a:r>
            <a:endParaRPr lang="en-US" sz="3800" dirty="0"/>
          </a:p>
        </p:txBody>
      </p:sp>
      <p:sp>
        <p:nvSpPr>
          <p:cNvPr id="24" name="Text 22"/>
          <p:cNvSpPr/>
          <p:nvPr/>
        </p:nvSpPr>
        <p:spPr>
          <a:xfrm>
            <a:off x="8732520" y="3108960"/>
            <a:ext cx="2743200" cy="1463040"/>
          </a:xfrm>
          <a:prstGeom prst="rect">
            <a:avLst/>
          </a:prstGeom>
          <a:noFill/>
          <a:ln/>
        </p:spPr>
        <p:txBody>
          <a:bodyPr wrap="square" rtlCol="0" anchor="ctr"/>
          <a:lstStyle/>
          <a:p>
            <a:pPr indent="0" marL="0">
              <a:lnSpc>
                <a:spcPct val="120000"/>
              </a:lnSpc>
              <a:buNone/>
            </a:pPr>
            <a:r>
              <a:rPr lang="en-US" sz="1250" dirty="0">
                <a:solidFill>
                  <a:srgbClr val="1B2A4A"/>
                </a:solidFill>
                <a:latin typeface="Calibri" pitchFamily="34" charset="0"/>
                <a:ea typeface="Calibri" pitchFamily="34" charset="-122"/>
                <a:cs typeface="Calibri" pitchFamily="34" charset="-120"/>
              </a:rPr>
              <a:t>employees currently in the Frequent Travel + Overtime cohort — the highest-priority workload-intervention group in the dataset.</a:t>
            </a:r>
            <a:endParaRPr lang="en-US" sz="1250" dirty="0"/>
          </a:p>
        </p:txBody>
      </p:sp>
      <p:sp>
        <p:nvSpPr>
          <p:cNvPr id="25" name="Text 23"/>
          <p:cNvSpPr/>
          <p:nvPr/>
        </p:nvSpPr>
        <p:spPr>
          <a:xfrm>
            <a:off x="8732520" y="4709160"/>
            <a:ext cx="2743200" cy="1005840"/>
          </a:xfrm>
          <a:prstGeom prst="rect">
            <a:avLst/>
          </a:prstGeom>
          <a:noFill/>
          <a:ln/>
        </p:spPr>
        <p:txBody>
          <a:bodyPr wrap="square" rtlCol="0" anchor="ctr"/>
          <a:lstStyle/>
          <a:p>
            <a:pPr indent="0" marL="0">
              <a:lnSpc>
                <a:spcPct val="120000"/>
              </a:lnSpc>
              <a:buNone/>
            </a:pPr>
            <a:r>
              <a:rPr lang="en-US" sz="1100" i="1" dirty="0">
                <a:solidFill>
                  <a:srgbClr val="5B6B8C"/>
                </a:solidFill>
                <a:latin typeface="Calibri" pitchFamily="34" charset="0"/>
                <a:ea typeface="Calibri" pitchFamily="34" charset="-122"/>
                <a:cs typeface="Calibri" pitchFamily="34" charset="-120"/>
              </a:rPr>
              <a:t>Frequent travel alone: 17.3%   |   Overtime alone: 20.0%</a:t>
            </a:r>
            <a:endParaRPr lang="en-US" sz="1100" dirty="0"/>
          </a:p>
        </p:txBody>
      </p:sp>
      <p:sp>
        <p:nvSpPr>
          <p:cNvPr id="26" name="Text 24"/>
          <p:cNvSpPr/>
          <p:nvPr/>
        </p:nvSpPr>
        <p:spPr>
          <a:xfrm>
            <a:off x="457200" y="6473952"/>
            <a:ext cx="7315200" cy="274320"/>
          </a:xfrm>
          <a:prstGeom prst="rect">
            <a:avLst/>
          </a:prstGeom>
          <a:noFill/>
          <a:ln/>
        </p:spPr>
        <p:txBody>
          <a:bodyPr wrap="square" rtlCol="0" anchor="ctr"/>
          <a:lstStyle/>
          <a:p>
            <a:pPr indent="0" marL="0">
              <a:buNone/>
            </a:pPr>
            <a:r>
              <a:rPr lang="en-US" sz="1000" dirty="0">
                <a:solidFill>
                  <a:srgbClr val="A6AFC7"/>
                </a:solidFill>
                <a:latin typeface="Calibri" pitchFamily="34" charset="0"/>
                <a:ea typeface="Calibri" pitchFamily="34" charset="-122"/>
                <a:cs typeface="Calibri" pitchFamily="34" charset="-120"/>
              </a:rPr>
              <a:t>Palo Alto Networks — HR Analytics Diagnostic</a:t>
            </a:r>
            <a:endParaRPr lang="en-US" sz="1000" dirty="0"/>
          </a:p>
        </p:txBody>
      </p:sp>
      <p:sp>
        <p:nvSpPr>
          <p:cNvPr id="27" name="Text 25"/>
          <p:cNvSpPr/>
          <p:nvPr/>
        </p:nvSpPr>
        <p:spPr>
          <a:xfrm>
            <a:off x="11567160" y="6473952"/>
            <a:ext cx="457200" cy="274320"/>
          </a:xfrm>
          <a:prstGeom prst="rect">
            <a:avLst/>
          </a:prstGeom>
          <a:noFill/>
          <a:ln/>
        </p:spPr>
        <p:txBody>
          <a:bodyPr wrap="square" rtlCol="0" anchor="ctr"/>
          <a:lstStyle/>
          <a:p>
            <a:pPr algn="r" indent="0" marL="0">
              <a:buNone/>
            </a:pPr>
            <a:r>
              <a:rPr lang="en-US" sz="1000" dirty="0">
                <a:solidFill>
                  <a:srgbClr val="A6AFC7"/>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5486400" cy="320040"/>
          </a:xfrm>
          <a:prstGeom prst="rect">
            <a:avLst/>
          </a:prstGeom>
          <a:noFill/>
          <a:ln/>
        </p:spPr>
        <p:txBody>
          <a:bodyPr wrap="square" rtlCol="0" anchor="ctr"/>
          <a:lstStyle/>
          <a:p>
            <a:pPr indent="0" marL="0">
              <a:buNone/>
            </a:pPr>
            <a:r>
              <a:rPr lang="en-US" sz="1200" b="1" spc="200" kern="0" dirty="0">
                <a:solidFill>
                  <a:srgbClr val="E3A23D"/>
                </a:solidFill>
                <a:latin typeface="Calibri" pitchFamily="34" charset="0"/>
                <a:ea typeface="Calibri" pitchFamily="34" charset="-122"/>
                <a:cs typeface="Calibri" pitchFamily="34" charset="-120"/>
              </a:rPr>
              <a:t>RESULTS · FINDINGS 14–15</a:t>
            </a:r>
            <a:endParaRPr lang="en-US" sz="1200" dirty="0"/>
          </a:p>
        </p:txBody>
      </p:sp>
      <p:sp>
        <p:nvSpPr>
          <p:cNvPr id="3" name="Text 1"/>
          <p:cNvSpPr/>
          <p:nvPr/>
        </p:nvSpPr>
        <p:spPr>
          <a:xfrm>
            <a:off x="457200" y="777240"/>
            <a:ext cx="10515600" cy="548640"/>
          </a:xfrm>
          <a:prstGeom prst="rect">
            <a:avLst/>
          </a:prstGeom>
          <a:noFill/>
          <a:ln/>
        </p:spPr>
        <p:txBody>
          <a:bodyPr wrap="square" rtlCol="0" anchor="ctr"/>
          <a:lstStyle/>
          <a:p>
            <a:pPr indent="0" marL="0">
              <a:buNone/>
            </a:pPr>
            <a:r>
              <a:rPr lang="en-US" sz="2600" b="1" dirty="0">
                <a:solidFill>
                  <a:srgbClr val="1B2A4A"/>
                </a:solidFill>
                <a:latin typeface="Cambria" pitchFamily="34" charset="0"/>
                <a:ea typeface="Cambria" pitchFamily="34" charset="-122"/>
                <a:cs typeface="Cambria" pitchFamily="34" charset="-120"/>
              </a:rPr>
              <a:t>Career-stage risk: new hires and promotion timing</a:t>
            </a:r>
            <a:endParaRPr lang="en-US" sz="2600" dirty="0"/>
          </a:p>
        </p:txBody>
      </p:sp>
      <p:graphicFrame>
        <p:nvGraphicFramePr>
          <p:cNvPr id="4" name="Chart 0" descr=""/>
          <p:cNvGraphicFramePr/>
          <p:nvPr/>
        </p:nvGraphicFramePr>
        <p:xfrm>
          <a:off x="365760" y="1554480"/>
          <a:ext cx="5486400" cy="448056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6172200" y="1554480"/>
          <a:ext cx="5532120" cy="4480560"/>
        </p:xfrm>
        <a:graphic xmlns:a="http://schemas.openxmlformats.org/drawingml/2006/main">
          <a:graphicData uri="http://schemas.openxmlformats.org/drawingml/2006/chart">
            <c:chart xmlns:c="http://schemas.openxmlformats.org/drawingml/2006/chart" r:id="rId2"/>
          </a:graphicData>
        </a:graphic>
      </p:graphicFrame>
      <p:sp>
        <p:nvSpPr>
          <p:cNvPr id="6" name="Text 2"/>
          <p:cNvSpPr/>
          <p:nvPr/>
        </p:nvSpPr>
        <p:spPr>
          <a:xfrm>
            <a:off x="457200" y="6473952"/>
            <a:ext cx="7315200" cy="274320"/>
          </a:xfrm>
          <a:prstGeom prst="rect">
            <a:avLst/>
          </a:prstGeom>
          <a:noFill/>
          <a:ln/>
        </p:spPr>
        <p:txBody>
          <a:bodyPr wrap="square" rtlCol="0" anchor="ctr"/>
          <a:lstStyle/>
          <a:p>
            <a:pPr indent="0" marL="0">
              <a:buNone/>
            </a:pPr>
            <a:r>
              <a:rPr lang="en-US" sz="1000" dirty="0">
                <a:solidFill>
                  <a:srgbClr val="A6AFC7"/>
                </a:solidFill>
                <a:latin typeface="Calibri" pitchFamily="34" charset="0"/>
                <a:ea typeface="Calibri" pitchFamily="34" charset="-122"/>
                <a:cs typeface="Calibri" pitchFamily="34" charset="-120"/>
              </a:rPr>
              <a:t>New employees leave before disengagement or burnout appear — the cause is onboarding, not attitude.</a:t>
            </a:r>
            <a:endParaRPr lang="en-US" sz="1000" dirty="0"/>
          </a:p>
        </p:txBody>
      </p:sp>
      <p:sp>
        <p:nvSpPr>
          <p:cNvPr id="7" name="Text 3"/>
          <p:cNvSpPr/>
          <p:nvPr/>
        </p:nvSpPr>
        <p:spPr>
          <a:xfrm>
            <a:off x="11567160" y="6473952"/>
            <a:ext cx="457200" cy="274320"/>
          </a:xfrm>
          <a:prstGeom prst="rect">
            <a:avLst/>
          </a:prstGeom>
          <a:noFill/>
          <a:ln/>
        </p:spPr>
        <p:txBody>
          <a:bodyPr wrap="square" rtlCol="0" anchor="ctr"/>
          <a:lstStyle/>
          <a:p>
            <a:pPr algn="r" indent="0" marL="0">
              <a:buNone/>
            </a:pPr>
            <a:r>
              <a:rPr lang="en-US" sz="1000" dirty="0">
                <a:solidFill>
                  <a:srgbClr val="A6AFC7"/>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B2A4A"/>
        </a:solidFill>
      </p:bgPr>
    </p:bg>
    <p:spTree>
      <p:nvGrpSpPr>
        <p:cNvPr id="1" name=""/>
        <p:cNvGrpSpPr/>
        <p:nvPr/>
      </p:nvGrpSpPr>
      <p:grpSpPr>
        <a:xfrm>
          <a:off x="0" y="0"/>
          <a:ext cx="0" cy="0"/>
          <a:chOff x="0" y="0"/>
          <a:chExt cx="0" cy="0"/>
        </a:xfrm>
      </p:grpSpPr>
      <p:sp>
        <p:nvSpPr>
          <p:cNvPr id="2" name="Text 0"/>
          <p:cNvSpPr/>
          <p:nvPr/>
        </p:nvSpPr>
        <p:spPr>
          <a:xfrm>
            <a:off x="457200" y="365760"/>
            <a:ext cx="5486400" cy="320040"/>
          </a:xfrm>
          <a:prstGeom prst="rect">
            <a:avLst/>
          </a:prstGeom>
          <a:noFill/>
          <a:ln/>
        </p:spPr>
        <p:txBody>
          <a:bodyPr wrap="square" rtlCol="0" anchor="ctr"/>
          <a:lstStyle/>
          <a:p>
            <a:pPr indent="0" marL="0">
              <a:buNone/>
            </a:pPr>
            <a:r>
              <a:rPr lang="en-US" sz="1200" b="1" spc="200" kern="0" dirty="0">
                <a:solidFill>
                  <a:srgbClr val="8FA3D6"/>
                </a:solidFill>
                <a:latin typeface="Calibri" pitchFamily="34" charset="0"/>
                <a:ea typeface="Calibri" pitchFamily="34" charset="-122"/>
                <a:cs typeface="Calibri" pitchFamily="34" charset="-120"/>
              </a:rPr>
              <a:t>RESULTS · KPI DASHBOARD</a:t>
            </a:r>
            <a:endParaRPr lang="en-US" sz="1200" dirty="0"/>
          </a:p>
        </p:txBody>
      </p:sp>
      <p:sp>
        <p:nvSpPr>
          <p:cNvPr id="3" name="Text 1"/>
          <p:cNvSpPr/>
          <p:nvPr/>
        </p:nvSpPr>
        <p:spPr>
          <a:xfrm>
            <a:off x="457200" y="777240"/>
            <a:ext cx="10515600" cy="548640"/>
          </a:xfrm>
          <a:prstGeom prst="rect">
            <a:avLst/>
          </a:prstGeom>
          <a:noFill/>
          <a:ln/>
        </p:spPr>
        <p:txBody>
          <a:bodyPr wrap="square"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Master KPI summary — all five indicators</a:t>
            </a:r>
            <a:endParaRPr lang="en-US" sz="27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600200"/>
          <a:ext cx="11247120" cy="4572000"/>
        </p:xfrm>
        <a:graphic>
          <a:graphicData uri="http://schemas.openxmlformats.org/drawingml/2006/table">
            <a:tbl>
              <a:tblPr/>
              <a:tblGrid>
                <a:gridCol w="2834640"/>
                <a:gridCol w="3749040"/>
                <a:gridCol w="4663440"/>
              </a:tblGrid>
              <a:tr h="77724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KPI</a:t>
                      </a:r>
                      <a:endParaRPr lang="en-US" sz="1300" dirty="0">
                        <a:latin typeface="Calibri" charset="0"/>
                        <a:ea typeface="Calibri" charset="0"/>
                        <a:cs typeface="Calibri" charset="0"/>
                      </a:endParaRPr>
                    </a:p>
                  </a:txBody>
                  <a:tcPr marL="91440" marR="91440" marT="45720" marB="45720" anchor="ctr">
                    <a:lnL w="6350" cap="flat" cmpd="sng" algn="ctr">
                      <a:solidFill>
                        <a:srgbClr val="1B2A4A"/>
                      </a:solidFill>
                      <a:prstDash val="solid"/>
                      <a:round/>
                      <a:headEnd type="none" w="med" len="med"/>
                      <a:tailEnd type="none" w="med" len="med"/>
                    </a:lnL>
                    <a:lnR w="6350" cap="flat" cmpd="sng" algn="ctr">
                      <a:solidFill>
                        <a:srgbClr val="1B2A4A"/>
                      </a:solidFill>
                      <a:prstDash val="solid"/>
                      <a:round/>
                      <a:headEnd type="none" w="med" len="med"/>
                      <a:tailEnd type="none" w="med" len="med"/>
                    </a:lnR>
                    <a:lnT w="6350" cap="flat" cmpd="sng" algn="ctr">
                      <a:solidFill>
                        <a:srgbClr val="1B2A4A"/>
                      </a:solidFill>
                      <a:prstDash val="solid"/>
                      <a:round/>
                      <a:headEnd type="none" w="med" len="med"/>
                      <a:tailEnd type="none" w="med" len="med"/>
                    </a:lnT>
                    <a:lnB w="6350" cap="flat" cmpd="sng" algn="ctr">
                      <a:solidFill>
                        <a:srgbClr val="1B2A4A"/>
                      </a:solidFill>
                      <a:prstDash val="solid"/>
                      <a:round/>
                      <a:headEnd type="none" w="med" len="med"/>
                      <a:tailEnd type="none" w="med" len="med"/>
                    </a:lnB>
                    <a:solidFill>
                      <a:srgbClr val="24365C"/>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Key Metric</a:t>
                      </a:r>
                      <a:endParaRPr lang="en-US" sz="1300" dirty="0">
                        <a:latin typeface="Calibri" charset="0"/>
                        <a:ea typeface="Calibri" charset="0"/>
                        <a:cs typeface="Calibri" charset="0"/>
                      </a:endParaRPr>
                    </a:p>
                  </a:txBody>
                  <a:tcPr marL="91440" marR="91440" marT="45720" marB="45720" anchor="ctr">
                    <a:lnL w="6350" cap="flat" cmpd="sng" algn="ctr">
                      <a:solidFill>
                        <a:srgbClr val="1B2A4A"/>
                      </a:solidFill>
                      <a:prstDash val="solid"/>
                      <a:round/>
                      <a:headEnd type="none" w="med" len="med"/>
                      <a:tailEnd type="none" w="med" len="med"/>
                    </a:lnL>
                    <a:lnR w="6350" cap="flat" cmpd="sng" algn="ctr">
                      <a:solidFill>
                        <a:srgbClr val="1B2A4A"/>
                      </a:solidFill>
                      <a:prstDash val="solid"/>
                      <a:round/>
                      <a:headEnd type="none" w="med" len="med"/>
                      <a:tailEnd type="none" w="med" len="med"/>
                    </a:lnR>
                    <a:lnT w="6350" cap="flat" cmpd="sng" algn="ctr">
                      <a:solidFill>
                        <a:srgbClr val="1B2A4A"/>
                      </a:solidFill>
                      <a:prstDash val="solid"/>
                      <a:round/>
                      <a:headEnd type="none" w="med" len="med"/>
                      <a:tailEnd type="none" w="med" len="med"/>
                    </a:lnT>
                    <a:lnB w="6350" cap="flat" cmpd="sng" algn="ctr">
                      <a:solidFill>
                        <a:srgbClr val="1B2A4A"/>
                      </a:solidFill>
                      <a:prstDash val="solid"/>
                      <a:round/>
                      <a:headEnd type="none" w="med" len="med"/>
                      <a:tailEnd type="none" w="med" len="med"/>
                    </a:lnB>
                    <a:solidFill>
                      <a:srgbClr val="24365C"/>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Assessment</a:t>
                      </a:r>
                      <a:endParaRPr lang="en-US" sz="1300" dirty="0">
                        <a:latin typeface="Calibri" charset="0"/>
                        <a:ea typeface="Calibri" charset="0"/>
                        <a:cs typeface="Calibri" charset="0"/>
                      </a:endParaRPr>
                    </a:p>
                  </a:txBody>
                  <a:tcPr marL="91440" marR="91440" marT="45720" marB="45720" anchor="ctr">
                    <a:lnL w="6350" cap="flat" cmpd="sng" algn="ctr">
                      <a:solidFill>
                        <a:srgbClr val="1B2A4A"/>
                      </a:solidFill>
                      <a:prstDash val="solid"/>
                      <a:round/>
                      <a:headEnd type="none" w="med" len="med"/>
                      <a:tailEnd type="none" w="med" len="med"/>
                    </a:lnL>
                    <a:lnR w="6350" cap="flat" cmpd="sng" algn="ctr">
                      <a:solidFill>
                        <a:srgbClr val="1B2A4A"/>
                      </a:solidFill>
                      <a:prstDash val="solid"/>
                      <a:round/>
                      <a:headEnd type="none" w="med" len="med"/>
                      <a:tailEnd type="none" w="med" len="med"/>
                    </a:lnR>
                    <a:lnT w="6350" cap="flat" cmpd="sng" algn="ctr">
                      <a:solidFill>
                        <a:srgbClr val="1B2A4A"/>
                      </a:solidFill>
                      <a:prstDash val="solid"/>
                      <a:round/>
                      <a:headEnd type="none" w="med" len="med"/>
                      <a:tailEnd type="none" w="med" len="med"/>
                    </a:lnT>
                    <a:lnB w="6350" cap="flat" cmpd="sng" algn="ctr">
                      <a:solidFill>
                        <a:srgbClr val="1B2A4A"/>
                      </a:solidFill>
                      <a:prstDash val="solid"/>
                      <a:round/>
                      <a:headEnd type="none" w="med" len="med"/>
                      <a:tailEnd type="none" w="med" len="med"/>
                    </a:lnB>
                    <a:solidFill>
                      <a:srgbClr val="24365C"/>
                    </a:solidFill>
                  </a:tcPr>
                </a:tc>
              </a:tr>
              <a:tr h="777240">
                <a:tc>
                  <a:txBody>
                    <a:bodyPr/>
                    <a:lstStyle/>
                    <a:p>
                      <a:pPr indent="0" marL="0">
                        <a:buNone/>
                      </a:pPr>
                      <a:r>
                        <a:rPr lang="en-US" sz="1300" b="1" dirty="0">
                          <a:solidFill>
                            <a:srgbClr val="1B2A4A"/>
                          </a:solidFill>
                          <a:latin typeface="Calibri" pitchFamily="34" charset="0"/>
                          <a:ea typeface="Calibri" pitchFamily="34" charset="-122"/>
                          <a:cs typeface="Calibri" pitchFamily="34" charset="-120"/>
                        </a:rPr>
                        <a:t>Engagement Index</a:t>
                      </a:r>
                      <a:endParaRPr lang="en-US" sz="1300" dirty="0">
                        <a:latin typeface="Calibri" charset="0"/>
                        <a:ea typeface="Calibri" charset="0"/>
                        <a:cs typeface="Calibri" charset="0"/>
                      </a:endParaRPr>
                    </a:p>
                  </a:txBody>
                  <a:tcPr marL="91440" marR="91440" marT="45720" marB="45720" anchor="ctr">
                    <a:lnL w="6350" cap="flat" cmpd="sng" algn="ctr">
                      <a:solidFill>
                        <a:srgbClr val="1B2A4A"/>
                      </a:solidFill>
                      <a:prstDash val="solid"/>
                      <a:round/>
                      <a:headEnd type="none" w="med" len="med"/>
                      <a:tailEnd type="none" w="med" len="med"/>
                    </a:lnL>
                    <a:lnR w="6350" cap="flat" cmpd="sng" algn="ctr">
                      <a:solidFill>
                        <a:srgbClr val="1B2A4A"/>
                      </a:solidFill>
                      <a:prstDash val="solid"/>
                      <a:round/>
                      <a:headEnd type="none" w="med" len="med"/>
                      <a:tailEnd type="none" w="med" len="med"/>
                    </a:lnR>
                    <a:lnT w="6350" cap="flat" cmpd="sng" algn="ctr">
                      <a:solidFill>
                        <a:srgbClr val="1B2A4A"/>
                      </a:solidFill>
                      <a:prstDash val="solid"/>
                      <a:round/>
                      <a:headEnd type="none" w="med" len="med"/>
                      <a:tailEnd type="none" w="med" len="med"/>
                    </a:lnT>
                    <a:lnB w="6350" cap="flat" cmpd="sng" algn="ctr">
                      <a:solidFill>
                        <a:srgbClr val="1B2A4A"/>
                      </a:solidFill>
                      <a:prstDash val="solid"/>
                      <a:round/>
                      <a:headEnd type="none" w="med" len="med"/>
                      <a:tailEnd type="none" w="med" len="med"/>
                    </a:lnB>
                    <a:solidFill>
                      <a:srgbClr val="FFFFFF"/>
                    </a:solidFill>
                  </a:tcPr>
                </a:tc>
                <a:tc>
                  <a:txBody>
                    <a:bodyPr/>
                    <a:lstStyle/>
                    <a:p>
                      <a:pPr indent="0" marL="0">
                        <a:buNone/>
                      </a:pPr>
                      <a:r>
                        <a:rPr lang="en-US" sz="1300" dirty="0">
                          <a:solidFill>
                            <a:srgbClr val="1B2A4A"/>
                          </a:solidFill>
                          <a:latin typeface="Calibri" pitchFamily="34" charset="0"/>
                          <a:ea typeface="Calibri" pitchFamily="34" charset="-122"/>
                          <a:cs typeface="Calibri" pitchFamily="34" charset="-120"/>
                        </a:rPr>
                        <a:t>Leavers 0.504 vs. Stayers 0.588</a:t>
                      </a:r>
                      <a:endParaRPr lang="en-US" sz="1300" dirty="0">
                        <a:latin typeface="Calibri" charset="0"/>
                        <a:ea typeface="Calibri" charset="0"/>
                        <a:cs typeface="Calibri" charset="0"/>
                      </a:endParaRPr>
                    </a:p>
                  </a:txBody>
                  <a:tcPr marL="91440" marR="91440" marT="45720" marB="45720" anchor="ctr">
                    <a:lnL w="6350" cap="flat" cmpd="sng" algn="ctr">
                      <a:solidFill>
                        <a:srgbClr val="1B2A4A"/>
                      </a:solidFill>
                      <a:prstDash val="solid"/>
                      <a:round/>
                      <a:headEnd type="none" w="med" len="med"/>
                      <a:tailEnd type="none" w="med" len="med"/>
                    </a:lnL>
                    <a:lnR w="6350" cap="flat" cmpd="sng" algn="ctr">
                      <a:solidFill>
                        <a:srgbClr val="1B2A4A"/>
                      </a:solidFill>
                      <a:prstDash val="solid"/>
                      <a:round/>
                      <a:headEnd type="none" w="med" len="med"/>
                      <a:tailEnd type="none" w="med" len="med"/>
                    </a:lnR>
                    <a:lnT w="6350" cap="flat" cmpd="sng" algn="ctr">
                      <a:solidFill>
                        <a:srgbClr val="1B2A4A"/>
                      </a:solidFill>
                      <a:prstDash val="solid"/>
                      <a:round/>
                      <a:headEnd type="none" w="med" len="med"/>
                      <a:tailEnd type="none" w="med" len="med"/>
                    </a:lnT>
                    <a:lnB w="6350" cap="flat" cmpd="sng" algn="ctr">
                      <a:solidFill>
                        <a:srgbClr val="1B2A4A"/>
                      </a:solidFill>
                      <a:prstDash val="solid"/>
                      <a:round/>
                      <a:headEnd type="none" w="med" len="med"/>
                      <a:tailEnd type="none" w="med" len="med"/>
                    </a:lnB>
                    <a:solidFill>
                      <a:srgbClr val="FFFFFF"/>
                    </a:solidFill>
                  </a:tcPr>
                </a:tc>
                <a:tc>
                  <a:txBody>
                    <a:bodyPr/>
                    <a:lstStyle/>
                    <a:p>
                      <a:pPr indent="0" marL="0">
                        <a:buNone/>
                      </a:pPr>
                      <a:r>
                        <a:rPr lang="en-US" sz="1300" dirty="0">
                          <a:solidFill>
                            <a:srgbClr val="1B2A4A"/>
                          </a:solidFill>
                          <a:latin typeface="Calibri" pitchFamily="34" charset="0"/>
                          <a:ea typeface="Calibri" pitchFamily="34" charset="-122"/>
                          <a:cs typeface="Calibri" pitchFamily="34" charset="-120"/>
                        </a:rPr>
                        <a:t>14.2% directional gap — consistent attrition signal</a:t>
                      </a:r>
                      <a:endParaRPr lang="en-US" sz="1300" dirty="0">
                        <a:latin typeface="Calibri" charset="0"/>
                        <a:ea typeface="Calibri" charset="0"/>
                        <a:cs typeface="Calibri" charset="0"/>
                      </a:endParaRPr>
                    </a:p>
                  </a:txBody>
                  <a:tcPr marL="91440" marR="91440" marT="45720" marB="45720" anchor="ctr">
                    <a:lnL w="6350" cap="flat" cmpd="sng" algn="ctr">
                      <a:solidFill>
                        <a:srgbClr val="1B2A4A"/>
                      </a:solidFill>
                      <a:prstDash val="solid"/>
                      <a:round/>
                      <a:headEnd type="none" w="med" len="med"/>
                      <a:tailEnd type="none" w="med" len="med"/>
                    </a:lnL>
                    <a:lnR w="6350" cap="flat" cmpd="sng" algn="ctr">
                      <a:solidFill>
                        <a:srgbClr val="1B2A4A"/>
                      </a:solidFill>
                      <a:prstDash val="solid"/>
                      <a:round/>
                      <a:headEnd type="none" w="med" len="med"/>
                      <a:tailEnd type="none" w="med" len="med"/>
                    </a:lnR>
                    <a:lnT w="6350" cap="flat" cmpd="sng" algn="ctr">
                      <a:solidFill>
                        <a:srgbClr val="1B2A4A"/>
                      </a:solidFill>
                      <a:prstDash val="solid"/>
                      <a:round/>
                      <a:headEnd type="none" w="med" len="med"/>
                      <a:tailEnd type="none" w="med" len="med"/>
                    </a:lnT>
                    <a:lnB w="6350" cap="flat" cmpd="sng" algn="ctr">
                      <a:solidFill>
                        <a:srgbClr val="1B2A4A"/>
                      </a:solidFill>
                      <a:prstDash val="solid"/>
                      <a:round/>
                      <a:headEnd type="none" w="med" len="med"/>
                      <a:tailEnd type="none" w="med" len="med"/>
                    </a:lnB>
                    <a:solidFill>
                      <a:srgbClr val="FFFFFF"/>
                    </a:solidFill>
                  </a:tcPr>
                </a:tc>
              </a:tr>
              <a:tr h="777240">
                <a:tc>
                  <a:txBody>
                    <a:bodyPr/>
                    <a:lstStyle/>
                    <a:p>
                      <a:pPr indent="0" marL="0">
                        <a:buNone/>
                      </a:pPr>
                      <a:r>
                        <a:rPr lang="en-US" sz="1300" b="1" dirty="0">
                          <a:solidFill>
                            <a:srgbClr val="1B2A4A"/>
                          </a:solidFill>
                          <a:latin typeface="Calibri" pitchFamily="34" charset="0"/>
                          <a:ea typeface="Calibri" pitchFamily="34" charset="-122"/>
                          <a:cs typeface="Calibri" pitchFamily="34" charset="-120"/>
                        </a:rPr>
                        <a:t>Burnout Risk Score</a:t>
                      </a:r>
                      <a:endParaRPr lang="en-US" sz="1300" dirty="0">
                        <a:latin typeface="Calibri" charset="0"/>
                        <a:ea typeface="Calibri" charset="0"/>
                        <a:cs typeface="Calibri" charset="0"/>
                      </a:endParaRPr>
                    </a:p>
                  </a:txBody>
                  <a:tcPr marL="91440" marR="91440" marT="45720" marB="45720" anchor="ctr">
                    <a:lnL w="6350" cap="flat" cmpd="sng" algn="ctr">
                      <a:solidFill>
                        <a:srgbClr val="1B2A4A"/>
                      </a:solidFill>
                      <a:prstDash val="solid"/>
                      <a:round/>
                      <a:headEnd type="none" w="med" len="med"/>
                      <a:tailEnd type="none" w="med" len="med"/>
                    </a:lnL>
                    <a:lnR w="6350" cap="flat" cmpd="sng" algn="ctr">
                      <a:solidFill>
                        <a:srgbClr val="1B2A4A"/>
                      </a:solidFill>
                      <a:prstDash val="solid"/>
                      <a:round/>
                      <a:headEnd type="none" w="med" len="med"/>
                      <a:tailEnd type="none" w="med" len="med"/>
                    </a:lnR>
                    <a:lnT w="6350" cap="flat" cmpd="sng" algn="ctr">
                      <a:solidFill>
                        <a:srgbClr val="1B2A4A"/>
                      </a:solidFill>
                      <a:prstDash val="solid"/>
                      <a:round/>
                      <a:headEnd type="none" w="med" len="med"/>
                      <a:tailEnd type="none" w="med" len="med"/>
                    </a:lnT>
                    <a:lnB w="6350" cap="flat" cmpd="sng" algn="ctr">
                      <a:solidFill>
                        <a:srgbClr val="1B2A4A"/>
                      </a:solidFill>
                      <a:prstDash val="solid"/>
                      <a:round/>
                      <a:headEnd type="none" w="med" len="med"/>
                      <a:tailEnd type="none" w="med" len="med"/>
                    </a:lnB>
                    <a:solidFill>
                      <a:srgbClr val="FFFFFF"/>
                    </a:solidFill>
                  </a:tcPr>
                </a:tc>
                <a:tc>
                  <a:txBody>
                    <a:bodyPr/>
                    <a:lstStyle/>
                    <a:p>
                      <a:pPr indent="0" marL="0">
                        <a:buNone/>
                      </a:pPr>
                      <a:r>
                        <a:rPr lang="en-US" sz="1300" dirty="0">
                          <a:solidFill>
                            <a:srgbClr val="1B2A4A"/>
                          </a:solidFill>
                          <a:latin typeface="Calibri" pitchFamily="34" charset="0"/>
                          <a:ea typeface="Calibri" pitchFamily="34" charset="-122"/>
                          <a:cs typeface="Calibri" pitchFamily="34" charset="-120"/>
                        </a:rPr>
                        <a:t>9.0% High risk; 34.8% vs 8.7% attrition</a:t>
                      </a:r>
                      <a:endParaRPr lang="en-US" sz="1300" dirty="0">
                        <a:latin typeface="Calibri" charset="0"/>
                        <a:ea typeface="Calibri" charset="0"/>
                        <a:cs typeface="Calibri" charset="0"/>
                      </a:endParaRPr>
                    </a:p>
                  </a:txBody>
                  <a:tcPr marL="91440" marR="91440" marT="45720" marB="45720" anchor="ctr">
                    <a:lnL w="6350" cap="flat" cmpd="sng" algn="ctr">
                      <a:solidFill>
                        <a:srgbClr val="1B2A4A"/>
                      </a:solidFill>
                      <a:prstDash val="solid"/>
                      <a:round/>
                      <a:headEnd type="none" w="med" len="med"/>
                      <a:tailEnd type="none" w="med" len="med"/>
                    </a:lnL>
                    <a:lnR w="6350" cap="flat" cmpd="sng" algn="ctr">
                      <a:solidFill>
                        <a:srgbClr val="1B2A4A"/>
                      </a:solidFill>
                      <a:prstDash val="solid"/>
                      <a:round/>
                      <a:headEnd type="none" w="med" len="med"/>
                      <a:tailEnd type="none" w="med" len="med"/>
                    </a:lnR>
                    <a:lnT w="6350" cap="flat" cmpd="sng" algn="ctr">
                      <a:solidFill>
                        <a:srgbClr val="1B2A4A"/>
                      </a:solidFill>
                      <a:prstDash val="solid"/>
                      <a:round/>
                      <a:headEnd type="none" w="med" len="med"/>
                      <a:tailEnd type="none" w="med" len="med"/>
                    </a:lnT>
                    <a:lnB w="6350" cap="flat" cmpd="sng" algn="ctr">
                      <a:solidFill>
                        <a:srgbClr val="1B2A4A"/>
                      </a:solidFill>
                      <a:prstDash val="solid"/>
                      <a:round/>
                      <a:headEnd type="none" w="med" len="med"/>
                      <a:tailEnd type="none" w="med" len="med"/>
                    </a:lnB>
                    <a:solidFill>
                      <a:srgbClr val="FFFFFF"/>
                    </a:solidFill>
                  </a:tcPr>
                </a:tc>
                <a:tc>
                  <a:txBody>
                    <a:bodyPr/>
                    <a:lstStyle/>
                    <a:p>
                      <a:pPr indent="0" marL="0">
                        <a:buNone/>
                      </a:pPr>
                      <a:r>
                        <a:rPr lang="en-US" sz="1300" dirty="0">
                          <a:solidFill>
                            <a:srgbClr val="1B2A4A"/>
                          </a:solidFill>
                          <a:latin typeface="Calibri" pitchFamily="34" charset="0"/>
                          <a:ea typeface="Calibri" pitchFamily="34" charset="-122"/>
                          <a:cs typeface="Calibri" pitchFamily="34" charset="-120"/>
                        </a:rPr>
                        <a:t>Step-wise dose-response; strong prioritisation tool</a:t>
                      </a:r>
                      <a:endParaRPr lang="en-US" sz="1300" dirty="0">
                        <a:latin typeface="Calibri" charset="0"/>
                        <a:ea typeface="Calibri" charset="0"/>
                        <a:cs typeface="Calibri" charset="0"/>
                      </a:endParaRPr>
                    </a:p>
                  </a:txBody>
                  <a:tcPr marL="91440" marR="91440" marT="45720" marB="45720" anchor="ctr">
                    <a:lnL w="6350" cap="flat" cmpd="sng" algn="ctr">
                      <a:solidFill>
                        <a:srgbClr val="1B2A4A"/>
                      </a:solidFill>
                      <a:prstDash val="solid"/>
                      <a:round/>
                      <a:headEnd type="none" w="med" len="med"/>
                      <a:tailEnd type="none" w="med" len="med"/>
                    </a:lnL>
                    <a:lnR w="6350" cap="flat" cmpd="sng" algn="ctr">
                      <a:solidFill>
                        <a:srgbClr val="1B2A4A"/>
                      </a:solidFill>
                      <a:prstDash val="solid"/>
                      <a:round/>
                      <a:headEnd type="none" w="med" len="med"/>
                      <a:tailEnd type="none" w="med" len="med"/>
                    </a:lnR>
                    <a:lnT w="6350" cap="flat" cmpd="sng" algn="ctr">
                      <a:solidFill>
                        <a:srgbClr val="1B2A4A"/>
                      </a:solidFill>
                      <a:prstDash val="solid"/>
                      <a:round/>
                      <a:headEnd type="none" w="med" len="med"/>
                      <a:tailEnd type="none" w="med" len="med"/>
                    </a:lnT>
                    <a:lnB w="6350" cap="flat" cmpd="sng" algn="ctr">
                      <a:solidFill>
                        <a:srgbClr val="1B2A4A"/>
                      </a:solidFill>
                      <a:prstDash val="solid"/>
                      <a:round/>
                      <a:headEnd type="none" w="med" len="med"/>
                      <a:tailEnd type="none" w="med" len="med"/>
                    </a:lnB>
                    <a:solidFill>
                      <a:srgbClr val="FFFFFF"/>
                    </a:solidFill>
                  </a:tcPr>
                </a:tc>
              </a:tr>
              <a:tr h="777240">
                <a:tc>
                  <a:txBody>
                    <a:bodyPr/>
                    <a:lstStyle/>
                    <a:p>
                      <a:pPr indent="0" marL="0">
                        <a:buNone/>
                      </a:pPr>
                      <a:r>
                        <a:rPr lang="en-US" sz="1300" b="1" dirty="0">
                          <a:solidFill>
                            <a:srgbClr val="1B2A4A"/>
                          </a:solidFill>
                          <a:latin typeface="Calibri" pitchFamily="34" charset="0"/>
                          <a:ea typeface="Calibri" pitchFamily="34" charset="-122"/>
                          <a:cs typeface="Calibri" pitchFamily="34" charset="-120"/>
                        </a:rPr>
                        <a:t>Work-Life Balance Index</a:t>
                      </a:r>
                      <a:endParaRPr lang="en-US" sz="1300" dirty="0">
                        <a:latin typeface="Calibri" charset="0"/>
                        <a:ea typeface="Calibri" charset="0"/>
                        <a:cs typeface="Calibri" charset="0"/>
                      </a:endParaRPr>
                    </a:p>
                  </a:txBody>
                  <a:tcPr marL="91440" marR="91440" marT="45720" marB="45720" anchor="ctr">
                    <a:lnL w="6350" cap="flat" cmpd="sng" algn="ctr">
                      <a:solidFill>
                        <a:srgbClr val="1B2A4A"/>
                      </a:solidFill>
                      <a:prstDash val="solid"/>
                      <a:round/>
                      <a:headEnd type="none" w="med" len="med"/>
                      <a:tailEnd type="none" w="med" len="med"/>
                    </a:lnL>
                    <a:lnR w="6350" cap="flat" cmpd="sng" algn="ctr">
                      <a:solidFill>
                        <a:srgbClr val="1B2A4A"/>
                      </a:solidFill>
                      <a:prstDash val="solid"/>
                      <a:round/>
                      <a:headEnd type="none" w="med" len="med"/>
                      <a:tailEnd type="none" w="med" len="med"/>
                    </a:lnR>
                    <a:lnT w="6350" cap="flat" cmpd="sng" algn="ctr">
                      <a:solidFill>
                        <a:srgbClr val="1B2A4A"/>
                      </a:solidFill>
                      <a:prstDash val="solid"/>
                      <a:round/>
                      <a:headEnd type="none" w="med" len="med"/>
                      <a:tailEnd type="none" w="med" len="med"/>
                    </a:lnT>
                    <a:lnB w="6350" cap="flat" cmpd="sng" algn="ctr">
                      <a:solidFill>
                        <a:srgbClr val="1B2A4A"/>
                      </a:solidFill>
                      <a:prstDash val="solid"/>
                      <a:round/>
                      <a:headEnd type="none" w="med" len="med"/>
                      <a:tailEnd type="none" w="med" len="med"/>
                    </a:lnB>
                    <a:solidFill>
                      <a:srgbClr val="FFFFFF"/>
                    </a:solidFill>
                  </a:tcPr>
                </a:tc>
                <a:tc>
                  <a:txBody>
                    <a:bodyPr/>
                    <a:lstStyle/>
                    <a:p>
                      <a:pPr indent="0" marL="0">
                        <a:buNone/>
                      </a:pPr>
                      <a:r>
                        <a:rPr lang="en-US" sz="1300" dirty="0">
                          <a:solidFill>
                            <a:srgbClr val="1B2A4A"/>
                          </a:solidFill>
                          <a:latin typeface="Calibri" pitchFamily="34" charset="0"/>
                          <a:ea typeface="Calibri" pitchFamily="34" charset="-122"/>
                          <a:cs typeface="Calibri" pitchFamily="34" charset="-120"/>
                        </a:rPr>
                        <a:t>28.8% at-risk (WLB ≤2)</a:t>
                      </a:r>
                      <a:endParaRPr lang="en-US" sz="1300" dirty="0">
                        <a:latin typeface="Calibri" charset="0"/>
                        <a:ea typeface="Calibri" charset="0"/>
                        <a:cs typeface="Calibri" charset="0"/>
                      </a:endParaRPr>
                    </a:p>
                  </a:txBody>
                  <a:tcPr marL="91440" marR="91440" marT="45720" marB="45720" anchor="ctr">
                    <a:lnL w="6350" cap="flat" cmpd="sng" algn="ctr">
                      <a:solidFill>
                        <a:srgbClr val="1B2A4A"/>
                      </a:solidFill>
                      <a:prstDash val="solid"/>
                      <a:round/>
                      <a:headEnd type="none" w="med" len="med"/>
                      <a:tailEnd type="none" w="med" len="med"/>
                    </a:lnL>
                    <a:lnR w="6350" cap="flat" cmpd="sng" algn="ctr">
                      <a:solidFill>
                        <a:srgbClr val="1B2A4A"/>
                      </a:solidFill>
                      <a:prstDash val="solid"/>
                      <a:round/>
                      <a:headEnd type="none" w="med" len="med"/>
                      <a:tailEnd type="none" w="med" len="med"/>
                    </a:lnR>
                    <a:lnT w="6350" cap="flat" cmpd="sng" algn="ctr">
                      <a:solidFill>
                        <a:srgbClr val="1B2A4A"/>
                      </a:solidFill>
                      <a:prstDash val="solid"/>
                      <a:round/>
                      <a:headEnd type="none" w="med" len="med"/>
                      <a:tailEnd type="none" w="med" len="med"/>
                    </a:lnT>
                    <a:lnB w="6350" cap="flat" cmpd="sng" algn="ctr">
                      <a:solidFill>
                        <a:srgbClr val="1B2A4A"/>
                      </a:solidFill>
                      <a:prstDash val="solid"/>
                      <a:round/>
                      <a:headEnd type="none" w="med" len="med"/>
                      <a:tailEnd type="none" w="med" len="med"/>
                    </a:lnB>
                    <a:solidFill>
                      <a:srgbClr val="FFFFFF"/>
                    </a:solidFill>
                  </a:tcPr>
                </a:tc>
                <a:tc>
                  <a:txBody>
                    <a:bodyPr/>
                    <a:lstStyle/>
                    <a:p>
                      <a:pPr indent="0" marL="0">
                        <a:buNone/>
                      </a:pPr>
                      <a:r>
                        <a:rPr lang="en-US" sz="1300" dirty="0">
                          <a:solidFill>
                            <a:srgbClr val="1B2A4A"/>
                          </a:solidFill>
                          <a:latin typeface="Calibri" pitchFamily="34" charset="0"/>
                          <a:ea typeface="Calibri" pitchFamily="34" charset="-122"/>
                          <a:cs typeface="Calibri" pitchFamily="34" charset="-120"/>
                        </a:rPr>
                        <a:t>Expected direction, plus a paradox at WLB=4</a:t>
                      </a:r>
                      <a:endParaRPr lang="en-US" sz="1300" dirty="0">
                        <a:latin typeface="Calibri" charset="0"/>
                        <a:ea typeface="Calibri" charset="0"/>
                        <a:cs typeface="Calibri" charset="0"/>
                      </a:endParaRPr>
                    </a:p>
                  </a:txBody>
                  <a:tcPr marL="91440" marR="91440" marT="45720" marB="45720" anchor="ctr">
                    <a:lnL w="6350" cap="flat" cmpd="sng" algn="ctr">
                      <a:solidFill>
                        <a:srgbClr val="1B2A4A"/>
                      </a:solidFill>
                      <a:prstDash val="solid"/>
                      <a:round/>
                      <a:headEnd type="none" w="med" len="med"/>
                      <a:tailEnd type="none" w="med" len="med"/>
                    </a:lnL>
                    <a:lnR w="6350" cap="flat" cmpd="sng" algn="ctr">
                      <a:solidFill>
                        <a:srgbClr val="1B2A4A"/>
                      </a:solidFill>
                      <a:prstDash val="solid"/>
                      <a:round/>
                      <a:headEnd type="none" w="med" len="med"/>
                      <a:tailEnd type="none" w="med" len="med"/>
                    </a:lnR>
                    <a:lnT w="6350" cap="flat" cmpd="sng" algn="ctr">
                      <a:solidFill>
                        <a:srgbClr val="1B2A4A"/>
                      </a:solidFill>
                      <a:prstDash val="solid"/>
                      <a:round/>
                      <a:headEnd type="none" w="med" len="med"/>
                      <a:tailEnd type="none" w="med" len="med"/>
                    </a:lnT>
                    <a:lnB w="6350" cap="flat" cmpd="sng" algn="ctr">
                      <a:solidFill>
                        <a:srgbClr val="1B2A4A"/>
                      </a:solidFill>
                      <a:prstDash val="solid"/>
                      <a:round/>
                      <a:headEnd type="none" w="med" len="med"/>
                      <a:tailEnd type="none" w="med" len="med"/>
                    </a:lnB>
                    <a:solidFill>
                      <a:srgbClr val="FFFFFF"/>
                    </a:solidFill>
                  </a:tcPr>
                </a:tc>
              </a:tr>
              <a:tr h="777240">
                <a:tc>
                  <a:txBody>
                    <a:bodyPr/>
                    <a:lstStyle/>
                    <a:p>
                      <a:pPr indent="0" marL="0">
                        <a:buNone/>
                      </a:pPr>
                      <a:r>
                        <a:rPr lang="en-US" sz="1300" b="1" dirty="0">
                          <a:solidFill>
                            <a:srgbClr val="1B2A4A"/>
                          </a:solidFill>
                          <a:latin typeface="Calibri" pitchFamily="34" charset="0"/>
                          <a:ea typeface="Calibri" pitchFamily="34" charset="-122"/>
                          <a:cs typeface="Calibri" pitchFamily="34" charset="-120"/>
                        </a:rPr>
                        <a:t>Satisfaction Stability Score</a:t>
                      </a:r>
                      <a:endParaRPr lang="en-US" sz="1300" dirty="0">
                        <a:latin typeface="Calibri" charset="0"/>
                        <a:ea typeface="Calibri" charset="0"/>
                        <a:cs typeface="Calibri" charset="0"/>
                      </a:endParaRPr>
                    </a:p>
                  </a:txBody>
                  <a:tcPr marL="91440" marR="91440" marT="45720" marB="45720" anchor="ctr">
                    <a:lnL w="6350" cap="flat" cmpd="sng" algn="ctr">
                      <a:solidFill>
                        <a:srgbClr val="1B2A4A"/>
                      </a:solidFill>
                      <a:prstDash val="solid"/>
                      <a:round/>
                      <a:headEnd type="none" w="med" len="med"/>
                      <a:tailEnd type="none" w="med" len="med"/>
                    </a:lnL>
                    <a:lnR w="6350" cap="flat" cmpd="sng" algn="ctr">
                      <a:solidFill>
                        <a:srgbClr val="1B2A4A"/>
                      </a:solidFill>
                      <a:prstDash val="solid"/>
                      <a:round/>
                      <a:headEnd type="none" w="med" len="med"/>
                      <a:tailEnd type="none" w="med" len="med"/>
                    </a:lnR>
                    <a:lnT w="6350" cap="flat" cmpd="sng" algn="ctr">
                      <a:solidFill>
                        <a:srgbClr val="1B2A4A"/>
                      </a:solidFill>
                      <a:prstDash val="solid"/>
                      <a:round/>
                      <a:headEnd type="none" w="med" len="med"/>
                      <a:tailEnd type="none" w="med" len="med"/>
                    </a:lnT>
                    <a:lnB w="6350" cap="flat" cmpd="sng" algn="ctr">
                      <a:solidFill>
                        <a:srgbClr val="1B2A4A"/>
                      </a:solidFill>
                      <a:prstDash val="solid"/>
                      <a:round/>
                      <a:headEnd type="none" w="med" len="med"/>
                      <a:tailEnd type="none" w="med" len="med"/>
                    </a:lnB>
                    <a:solidFill>
                      <a:srgbClr val="FFFFFF"/>
                    </a:solidFill>
                  </a:tcPr>
                </a:tc>
                <a:tc>
                  <a:txBody>
                    <a:bodyPr/>
                    <a:lstStyle/>
                    <a:p>
                      <a:pPr indent="0" marL="0">
                        <a:buNone/>
                      </a:pPr>
                      <a:r>
                        <a:rPr lang="en-US" sz="1300" dirty="0">
                          <a:solidFill>
                            <a:srgbClr val="1B2A4A"/>
                          </a:solidFill>
                          <a:latin typeface="Calibri" pitchFamily="34" charset="0"/>
                          <a:ea typeface="Calibri" pitchFamily="34" charset="-122"/>
                          <a:cs typeface="Calibri" pitchFamily="34" charset="-120"/>
                        </a:rPr>
                        <a:t>Stable 14.0% vs Unstable 17.6% attrition</a:t>
                      </a:r>
                      <a:endParaRPr lang="en-US" sz="1300" dirty="0">
                        <a:latin typeface="Calibri" charset="0"/>
                        <a:ea typeface="Calibri" charset="0"/>
                        <a:cs typeface="Calibri" charset="0"/>
                      </a:endParaRPr>
                    </a:p>
                  </a:txBody>
                  <a:tcPr marL="91440" marR="91440" marT="45720" marB="45720" anchor="ctr">
                    <a:lnL w="6350" cap="flat" cmpd="sng" algn="ctr">
                      <a:solidFill>
                        <a:srgbClr val="1B2A4A"/>
                      </a:solidFill>
                      <a:prstDash val="solid"/>
                      <a:round/>
                      <a:headEnd type="none" w="med" len="med"/>
                      <a:tailEnd type="none" w="med" len="med"/>
                    </a:lnL>
                    <a:lnR w="6350" cap="flat" cmpd="sng" algn="ctr">
                      <a:solidFill>
                        <a:srgbClr val="1B2A4A"/>
                      </a:solidFill>
                      <a:prstDash val="solid"/>
                      <a:round/>
                      <a:headEnd type="none" w="med" len="med"/>
                      <a:tailEnd type="none" w="med" len="med"/>
                    </a:lnR>
                    <a:lnT w="6350" cap="flat" cmpd="sng" algn="ctr">
                      <a:solidFill>
                        <a:srgbClr val="1B2A4A"/>
                      </a:solidFill>
                      <a:prstDash val="solid"/>
                      <a:round/>
                      <a:headEnd type="none" w="med" len="med"/>
                      <a:tailEnd type="none" w="med" len="med"/>
                    </a:lnT>
                    <a:lnB w="6350" cap="flat" cmpd="sng" algn="ctr">
                      <a:solidFill>
                        <a:srgbClr val="1B2A4A"/>
                      </a:solidFill>
                      <a:prstDash val="solid"/>
                      <a:round/>
                      <a:headEnd type="none" w="med" len="med"/>
                      <a:tailEnd type="none" w="med" len="med"/>
                    </a:lnB>
                    <a:solidFill>
                      <a:srgbClr val="FFFFFF"/>
                    </a:solidFill>
                  </a:tcPr>
                </a:tc>
                <a:tc>
                  <a:txBody>
                    <a:bodyPr/>
                    <a:lstStyle/>
                    <a:p>
                      <a:pPr indent="0" marL="0">
                        <a:buNone/>
                      </a:pPr>
                      <a:r>
                        <a:rPr lang="en-US" sz="1300" dirty="0">
                          <a:solidFill>
                            <a:srgbClr val="1B2A4A"/>
                          </a:solidFill>
                          <a:latin typeface="Calibri" pitchFamily="34" charset="0"/>
                          <a:ea typeface="Calibri" pitchFamily="34" charset="-122"/>
                          <a:cs typeface="Calibri" pitchFamily="34" charset="-120"/>
                        </a:rPr>
                        <a:t>Modest effect — supplementary signal</a:t>
                      </a:r>
                      <a:endParaRPr lang="en-US" sz="1300" dirty="0">
                        <a:latin typeface="Calibri" charset="0"/>
                        <a:ea typeface="Calibri" charset="0"/>
                        <a:cs typeface="Calibri" charset="0"/>
                      </a:endParaRPr>
                    </a:p>
                  </a:txBody>
                  <a:tcPr marL="91440" marR="91440" marT="45720" marB="45720" anchor="ctr">
                    <a:lnL w="6350" cap="flat" cmpd="sng" algn="ctr">
                      <a:solidFill>
                        <a:srgbClr val="1B2A4A"/>
                      </a:solidFill>
                      <a:prstDash val="solid"/>
                      <a:round/>
                      <a:headEnd type="none" w="med" len="med"/>
                      <a:tailEnd type="none" w="med" len="med"/>
                    </a:lnL>
                    <a:lnR w="6350" cap="flat" cmpd="sng" algn="ctr">
                      <a:solidFill>
                        <a:srgbClr val="1B2A4A"/>
                      </a:solidFill>
                      <a:prstDash val="solid"/>
                      <a:round/>
                      <a:headEnd type="none" w="med" len="med"/>
                      <a:tailEnd type="none" w="med" len="med"/>
                    </a:lnR>
                    <a:lnT w="6350" cap="flat" cmpd="sng" algn="ctr">
                      <a:solidFill>
                        <a:srgbClr val="1B2A4A"/>
                      </a:solidFill>
                      <a:prstDash val="solid"/>
                      <a:round/>
                      <a:headEnd type="none" w="med" len="med"/>
                      <a:tailEnd type="none" w="med" len="med"/>
                    </a:lnT>
                    <a:lnB w="6350" cap="flat" cmpd="sng" algn="ctr">
                      <a:solidFill>
                        <a:srgbClr val="1B2A4A"/>
                      </a:solidFill>
                      <a:prstDash val="solid"/>
                      <a:round/>
                      <a:headEnd type="none" w="med" len="med"/>
                      <a:tailEnd type="none" w="med" len="med"/>
                    </a:lnB>
                    <a:solidFill>
                      <a:srgbClr val="FFFFFF"/>
                    </a:solidFill>
                  </a:tcPr>
                </a:tc>
              </a:tr>
              <a:tr h="777240">
                <a:tc>
                  <a:txBody>
                    <a:bodyPr/>
                    <a:lstStyle/>
                    <a:p>
                      <a:pPr indent="0" marL="0">
                        <a:buNone/>
                      </a:pPr>
                      <a:r>
                        <a:rPr lang="en-US" sz="1300" b="1" dirty="0">
                          <a:solidFill>
                            <a:srgbClr val="1B2A4A"/>
                          </a:solidFill>
                          <a:latin typeface="Calibri" pitchFamily="34" charset="0"/>
                          <a:ea typeface="Calibri" pitchFamily="34" charset="-122"/>
                          <a:cs typeface="Calibri" pitchFamily="34" charset="-120"/>
                        </a:rPr>
                        <a:t>Workload Stress Indicator</a:t>
                      </a:r>
                      <a:endParaRPr lang="en-US" sz="1300" dirty="0">
                        <a:latin typeface="Calibri" charset="0"/>
                        <a:ea typeface="Calibri" charset="0"/>
                        <a:cs typeface="Calibri" charset="0"/>
                      </a:endParaRPr>
                    </a:p>
                  </a:txBody>
                  <a:tcPr marL="91440" marR="91440" marT="45720" marB="45720" anchor="ctr">
                    <a:lnL w="6350" cap="flat" cmpd="sng" algn="ctr">
                      <a:solidFill>
                        <a:srgbClr val="1B2A4A"/>
                      </a:solidFill>
                      <a:prstDash val="solid"/>
                      <a:round/>
                      <a:headEnd type="none" w="med" len="med"/>
                      <a:tailEnd type="none" w="med" len="med"/>
                    </a:lnL>
                    <a:lnR w="6350" cap="flat" cmpd="sng" algn="ctr">
                      <a:solidFill>
                        <a:srgbClr val="1B2A4A"/>
                      </a:solidFill>
                      <a:prstDash val="solid"/>
                      <a:round/>
                      <a:headEnd type="none" w="med" len="med"/>
                      <a:tailEnd type="none" w="med" len="med"/>
                    </a:lnR>
                    <a:lnT w="6350" cap="flat" cmpd="sng" algn="ctr">
                      <a:solidFill>
                        <a:srgbClr val="1B2A4A"/>
                      </a:solidFill>
                      <a:prstDash val="solid"/>
                      <a:round/>
                      <a:headEnd type="none" w="med" len="med"/>
                      <a:tailEnd type="none" w="med" len="med"/>
                    </a:lnT>
                    <a:lnB w="6350" cap="flat" cmpd="sng" algn="ctr">
                      <a:solidFill>
                        <a:srgbClr val="1B2A4A"/>
                      </a:solidFill>
                      <a:prstDash val="solid"/>
                      <a:round/>
                      <a:headEnd type="none" w="med" len="med"/>
                      <a:tailEnd type="none" w="med" len="med"/>
                    </a:lnB>
                    <a:solidFill>
                      <a:srgbClr val="FFFFFF"/>
                    </a:solidFill>
                  </a:tcPr>
                </a:tc>
                <a:tc>
                  <a:txBody>
                    <a:bodyPr/>
                    <a:lstStyle/>
                    <a:p>
                      <a:pPr indent="0" marL="0">
                        <a:buNone/>
                      </a:pPr>
                      <a:r>
                        <a:rPr lang="en-US" sz="1300" dirty="0">
                          <a:solidFill>
                            <a:srgbClr val="1B2A4A"/>
                          </a:solidFill>
                          <a:latin typeface="Calibri" pitchFamily="34" charset="0"/>
                          <a:ea typeface="Calibri" pitchFamily="34" charset="-122"/>
                          <a:cs typeface="Calibri" pitchFamily="34" charset="-120"/>
                        </a:rPr>
                        <a:t>26.8% High stress; r = 0.278</a:t>
                      </a:r>
                      <a:endParaRPr lang="en-US" sz="1300" dirty="0">
                        <a:latin typeface="Calibri" charset="0"/>
                        <a:ea typeface="Calibri" charset="0"/>
                        <a:cs typeface="Calibri" charset="0"/>
                      </a:endParaRPr>
                    </a:p>
                  </a:txBody>
                  <a:tcPr marL="91440" marR="91440" marT="45720" marB="45720" anchor="ctr">
                    <a:lnL w="6350" cap="flat" cmpd="sng" algn="ctr">
                      <a:solidFill>
                        <a:srgbClr val="1B2A4A"/>
                      </a:solidFill>
                      <a:prstDash val="solid"/>
                      <a:round/>
                      <a:headEnd type="none" w="med" len="med"/>
                      <a:tailEnd type="none" w="med" len="med"/>
                    </a:lnL>
                    <a:lnR w="6350" cap="flat" cmpd="sng" algn="ctr">
                      <a:solidFill>
                        <a:srgbClr val="1B2A4A"/>
                      </a:solidFill>
                      <a:prstDash val="solid"/>
                      <a:round/>
                      <a:headEnd type="none" w="med" len="med"/>
                      <a:tailEnd type="none" w="med" len="med"/>
                    </a:lnR>
                    <a:lnT w="6350" cap="flat" cmpd="sng" algn="ctr">
                      <a:solidFill>
                        <a:srgbClr val="1B2A4A"/>
                      </a:solidFill>
                      <a:prstDash val="solid"/>
                      <a:round/>
                      <a:headEnd type="none" w="med" len="med"/>
                      <a:tailEnd type="none" w="med" len="med"/>
                    </a:lnT>
                    <a:lnB w="6350" cap="flat" cmpd="sng" algn="ctr">
                      <a:solidFill>
                        <a:srgbClr val="1B2A4A"/>
                      </a:solidFill>
                      <a:prstDash val="solid"/>
                      <a:round/>
                      <a:headEnd type="none" w="med" len="med"/>
                      <a:tailEnd type="none" w="med" len="med"/>
                    </a:lnB>
                    <a:solidFill>
                      <a:srgbClr val="FFFFFF"/>
                    </a:solidFill>
                  </a:tcPr>
                </a:tc>
                <a:tc>
                  <a:txBody>
                    <a:bodyPr/>
                    <a:lstStyle/>
                    <a:p>
                      <a:pPr indent="0" marL="0">
                        <a:buNone/>
                      </a:pPr>
                      <a:r>
                        <a:rPr lang="en-US" sz="1300" dirty="0">
                          <a:solidFill>
                            <a:srgbClr val="1B2A4A"/>
                          </a:solidFill>
                          <a:latin typeface="Calibri" pitchFamily="34" charset="0"/>
                          <a:ea typeface="Calibri" pitchFamily="34" charset="-122"/>
                          <a:cs typeface="Calibri" pitchFamily="34" charset="-120"/>
                        </a:rPr>
                        <a:t>Strongest aggregate external-pressure signal</a:t>
                      </a:r>
                      <a:endParaRPr lang="en-US" sz="1300" dirty="0">
                        <a:latin typeface="Calibri" charset="0"/>
                        <a:ea typeface="Calibri" charset="0"/>
                        <a:cs typeface="Calibri" charset="0"/>
                      </a:endParaRPr>
                    </a:p>
                  </a:txBody>
                  <a:tcPr marL="91440" marR="91440" marT="45720" marB="45720" anchor="ctr">
                    <a:lnL w="6350" cap="flat" cmpd="sng" algn="ctr">
                      <a:solidFill>
                        <a:srgbClr val="1B2A4A"/>
                      </a:solidFill>
                      <a:prstDash val="solid"/>
                      <a:round/>
                      <a:headEnd type="none" w="med" len="med"/>
                      <a:tailEnd type="none" w="med" len="med"/>
                    </a:lnL>
                    <a:lnR w="6350" cap="flat" cmpd="sng" algn="ctr">
                      <a:solidFill>
                        <a:srgbClr val="1B2A4A"/>
                      </a:solidFill>
                      <a:prstDash val="solid"/>
                      <a:round/>
                      <a:headEnd type="none" w="med" len="med"/>
                      <a:tailEnd type="none" w="med" len="med"/>
                    </a:lnR>
                    <a:lnT w="6350" cap="flat" cmpd="sng" algn="ctr">
                      <a:solidFill>
                        <a:srgbClr val="1B2A4A"/>
                      </a:solidFill>
                      <a:prstDash val="solid"/>
                      <a:round/>
                      <a:headEnd type="none" w="med" len="med"/>
                      <a:tailEnd type="none" w="med" len="med"/>
                    </a:lnT>
                    <a:lnB w="6350" cap="flat" cmpd="sng" algn="ctr">
                      <a:solidFill>
                        <a:srgbClr val="1B2A4A"/>
                      </a:solidFill>
                      <a:prstDash val="solid"/>
                      <a:round/>
                      <a:headEnd type="none" w="med" len="med"/>
                      <a:tailEnd type="none" w="med" len="med"/>
                    </a:lnB>
                    <a:solidFill>
                      <a:srgbClr val="FFFFFF"/>
                    </a:solidFill>
                  </a:tcPr>
                </a:tc>
              </a:tr>
            </a:tbl>
          </a:graphicData>
        </a:graphic>
      </p:graphicFrame>
      <p:sp>
        <p:nvSpPr>
          <p:cNvPr id="5" name="Text 2"/>
          <p:cNvSpPr/>
          <p:nvPr/>
        </p:nvSpPr>
        <p:spPr>
          <a:xfrm>
            <a:off x="11567160" y="6473952"/>
            <a:ext cx="457200" cy="274320"/>
          </a:xfrm>
          <a:prstGeom prst="rect">
            <a:avLst/>
          </a:prstGeom>
          <a:noFill/>
          <a:ln/>
        </p:spPr>
        <p:txBody>
          <a:bodyPr wrap="square" rtlCol="0" anchor="ctr"/>
          <a:lstStyle/>
          <a:p>
            <a:pPr algn="r" indent="0" marL="0">
              <a:buNone/>
            </a:pPr>
            <a:r>
              <a:rPr lang="en-US" sz="1000" dirty="0">
                <a:solidFill>
                  <a:srgbClr val="8A96B5"/>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5486400" cy="320040"/>
          </a:xfrm>
          <a:prstGeom prst="rect">
            <a:avLst/>
          </a:prstGeom>
          <a:noFill/>
          <a:ln/>
        </p:spPr>
        <p:txBody>
          <a:bodyPr wrap="square" rtlCol="0" anchor="ctr"/>
          <a:lstStyle/>
          <a:p>
            <a:pPr indent="0" marL="0">
              <a:buNone/>
            </a:pPr>
            <a:r>
              <a:rPr lang="en-US" sz="1200" b="1" spc="200" kern="0" dirty="0">
                <a:solidFill>
                  <a:srgbClr val="3E9C6E"/>
                </a:solidFill>
                <a:latin typeface="Calibri" pitchFamily="34" charset="0"/>
                <a:ea typeface="Calibri" pitchFamily="34" charset="-122"/>
                <a:cs typeface="Calibri" pitchFamily="34" charset="-120"/>
              </a:rPr>
              <a:t>RECOMMENDATIONS</a:t>
            </a:r>
            <a:endParaRPr lang="en-US" sz="1200" dirty="0"/>
          </a:p>
        </p:txBody>
      </p:sp>
      <p:sp>
        <p:nvSpPr>
          <p:cNvPr id="3" name="Text 1"/>
          <p:cNvSpPr/>
          <p:nvPr/>
        </p:nvSpPr>
        <p:spPr>
          <a:xfrm>
            <a:off x="457200" y="777240"/>
            <a:ext cx="10058400" cy="548640"/>
          </a:xfrm>
          <a:prstGeom prst="rect">
            <a:avLst/>
          </a:prstGeom>
          <a:noFill/>
          <a:ln/>
        </p:spPr>
        <p:txBody>
          <a:bodyPr wrap="square"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From diagnosis to intervention</a:t>
            </a:r>
            <a:endParaRPr lang="en-US" sz="2700" dirty="0"/>
          </a:p>
        </p:txBody>
      </p:sp>
      <p:sp>
        <p:nvSpPr>
          <p:cNvPr id="4" name="Shape 2"/>
          <p:cNvSpPr/>
          <p:nvPr/>
        </p:nvSpPr>
        <p:spPr>
          <a:xfrm>
            <a:off x="457200" y="1600200"/>
            <a:ext cx="3611880" cy="4526280"/>
          </a:xfrm>
          <a:prstGeom prst="roundRect">
            <a:avLst>
              <a:gd name="adj" fmla="val 2278"/>
            </a:avLst>
          </a:prstGeom>
          <a:solidFill>
            <a:srgbClr val="F4F6FB"/>
          </a:solidFill>
          <a:ln w="12700">
            <a:solidFill>
              <a:srgbClr val="F4F6FB"/>
            </a:solidFill>
            <a:prstDash val="solid"/>
          </a:ln>
        </p:spPr>
      </p:sp>
      <p:sp>
        <p:nvSpPr>
          <p:cNvPr id="5" name="Shape 3"/>
          <p:cNvSpPr/>
          <p:nvPr/>
        </p:nvSpPr>
        <p:spPr>
          <a:xfrm>
            <a:off x="457200" y="1600200"/>
            <a:ext cx="3611880" cy="73152"/>
          </a:xfrm>
          <a:prstGeom prst="rect">
            <a:avLst/>
          </a:prstGeom>
          <a:solidFill>
            <a:srgbClr val="D6584F"/>
          </a:solidFill>
          <a:ln/>
        </p:spPr>
      </p:sp>
      <p:sp>
        <p:nvSpPr>
          <p:cNvPr id="6" name="Text 4"/>
          <p:cNvSpPr/>
          <p:nvPr/>
        </p:nvSpPr>
        <p:spPr>
          <a:xfrm>
            <a:off x="731520" y="1828800"/>
            <a:ext cx="3063240" cy="411480"/>
          </a:xfrm>
          <a:prstGeom prst="rect">
            <a:avLst/>
          </a:prstGeom>
          <a:noFill/>
          <a:ln/>
        </p:spPr>
        <p:txBody>
          <a:bodyPr wrap="square" rtlCol="0" anchor="ctr"/>
          <a:lstStyle/>
          <a:p>
            <a:pPr indent="0" marL="0">
              <a:buNone/>
            </a:pPr>
            <a:r>
              <a:rPr lang="en-US" sz="1800" b="1" dirty="0">
                <a:solidFill>
                  <a:srgbClr val="1B2A4A"/>
                </a:solidFill>
                <a:latin typeface="Cambria" pitchFamily="34" charset="0"/>
                <a:ea typeface="Cambria" pitchFamily="34" charset="-122"/>
                <a:cs typeface="Cambria" pitchFamily="34" charset="-120"/>
              </a:rPr>
              <a:t>Immediate</a:t>
            </a:r>
            <a:endParaRPr lang="en-US" sz="1800" dirty="0"/>
          </a:p>
        </p:txBody>
      </p:sp>
      <p:sp>
        <p:nvSpPr>
          <p:cNvPr id="7" name="Text 5"/>
          <p:cNvSpPr/>
          <p:nvPr/>
        </p:nvSpPr>
        <p:spPr>
          <a:xfrm>
            <a:off x="731520" y="2240280"/>
            <a:ext cx="3063240" cy="274320"/>
          </a:xfrm>
          <a:prstGeom prst="rect">
            <a:avLst/>
          </a:prstGeom>
          <a:noFill/>
          <a:ln/>
        </p:spPr>
        <p:txBody>
          <a:bodyPr wrap="square" rtlCol="0" anchor="ctr"/>
          <a:lstStyle/>
          <a:p>
            <a:pPr indent="0" marL="0">
              <a:buNone/>
            </a:pPr>
            <a:r>
              <a:rPr lang="en-US" sz="1050" b="1" spc="100" kern="0" dirty="0">
                <a:solidFill>
                  <a:srgbClr val="D6584F"/>
                </a:solidFill>
                <a:latin typeface="Calibri" pitchFamily="34" charset="0"/>
                <a:ea typeface="Calibri" pitchFamily="34" charset="-122"/>
                <a:cs typeface="Calibri" pitchFamily="34" charset="-120"/>
              </a:rPr>
              <a:t>0–3 MONTHS</a:t>
            </a:r>
            <a:endParaRPr lang="en-US" sz="1050" dirty="0"/>
          </a:p>
        </p:txBody>
      </p:sp>
      <p:sp>
        <p:nvSpPr>
          <p:cNvPr id="8" name="Text 6"/>
          <p:cNvSpPr/>
          <p:nvPr/>
        </p:nvSpPr>
        <p:spPr>
          <a:xfrm>
            <a:off x="731520" y="2651760"/>
            <a:ext cx="3063240" cy="914400"/>
          </a:xfrm>
          <a:prstGeom prst="rect">
            <a:avLst/>
          </a:prstGeom>
          <a:noFill/>
          <a:ln/>
        </p:spPr>
        <p:txBody>
          <a:bodyPr wrap="square" rtlCol="0" anchor="ctr"/>
          <a:lstStyle/>
          <a:p>
            <a:pPr indent="0" marL="0">
              <a:lnSpc>
                <a:spcPct val="115000"/>
              </a:lnSpc>
              <a:buNone/>
            </a:pPr>
            <a:r>
              <a:rPr lang="en-US" sz="1150" dirty="0">
                <a:solidFill>
                  <a:srgbClr val="1B2A4A"/>
                </a:solidFill>
                <a:latin typeface="Calibri" pitchFamily="34" charset="0"/>
                <a:ea typeface="Calibri" pitchFamily="34" charset="-122"/>
                <a:cs typeface="Calibri" pitchFamily="34" charset="-120"/>
              </a:rPr>
              <a:t>•  Direct HR outreach to the 5 remaining Danger-Zone employees (high burnout + low engagement)</a:t>
            </a:r>
            <a:endParaRPr lang="en-US" sz="1150" dirty="0"/>
          </a:p>
        </p:txBody>
      </p:sp>
      <p:sp>
        <p:nvSpPr>
          <p:cNvPr id="9" name="Text 7"/>
          <p:cNvSpPr/>
          <p:nvPr/>
        </p:nvSpPr>
        <p:spPr>
          <a:xfrm>
            <a:off x="731520" y="3611880"/>
            <a:ext cx="3063240" cy="914400"/>
          </a:xfrm>
          <a:prstGeom prst="rect">
            <a:avLst/>
          </a:prstGeom>
          <a:noFill/>
          <a:ln/>
        </p:spPr>
        <p:txBody>
          <a:bodyPr wrap="square" rtlCol="0" anchor="ctr"/>
          <a:lstStyle/>
          <a:p>
            <a:pPr indent="0" marL="0">
              <a:lnSpc>
                <a:spcPct val="115000"/>
              </a:lnSpc>
              <a:buNone/>
            </a:pPr>
            <a:r>
              <a:rPr lang="en-US" sz="1150" dirty="0">
                <a:solidFill>
                  <a:srgbClr val="1B2A4A"/>
                </a:solidFill>
                <a:latin typeface="Calibri" pitchFamily="34" charset="0"/>
                <a:ea typeface="Calibri" pitchFamily="34" charset="-122"/>
                <a:cs typeface="Calibri" pitchFamily="34" charset="-120"/>
              </a:rPr>
              <a:t>•  Audit the 416 overtime employees; redistribute structural (non-project) overtime</a:t>
            </a:r>
            <a:endParaRPr lang="en-US" sz="1150" dirty="0"/>
          </a:p>
        </p:txBody>
      </p:sp>
      <p:sp>
        <p:nvSpPr>
          <p:cNvPr id="10" name="Text 8"/>
          <p:cNvSpPr/>
          <p:nvPr/>
        </p:nvSpPr>
        <p:spPr>
          <a:xfrm>
            <a:off x="731520" y="4572000"/>
            <a:ext cx="3063240" cy="914400"/>
          </a:xfrm>
          <a:prstGeom prst="rect">
            <a:avLst/>
          </a:prstGeom>
          <a:noFill/>
          <a:ln/>
        </p:spPr>
        <p:txBody>
          <a:bodyPr wrap="square" rtlCol="0" anchor="ctr"/>
          <a:lstStyle/>
          <a:p>
            <a:pPr indent="0" marL="0">
              <a:lnSpc>
                <a:spcPct val="115000"/>
              </a:lnSpc>
              <a:buNone/>
            </a:pPr>
            <a:r>
              <a:rPr lang="en-US" sz="1150" dirty="0">
                <a:solidFill>
                  <a:srgbClr val="1B2A4A"/>
                </a:solidFill>
                <a:latin typeface="Calibri" pitchFamily="34" charset="0"/>
                <a:ea typeface="Calibri" pitchFamily="34" charset="-122"/>
                <a:cs typeface="Calibri" pitchFamily="34" charset="-120"/>
              </a:rPr>
              <a:t>•  Prioritised review of the 40 remaining Low-engagement employees</a:t>
            </a:r>
            <a:endParaRPr lang="en-US" sz="1150" dirty="0"/>
          </a:p>
        </p:txBody>
      </p:sp>
      <p:sp>
        <p:nvSpPr>
          <p:cNvPr id="11" name="Shape 9"/>
          <p:cNvSpPr/>
          <p:nvPr/>
        </p:nvSpPr>
        <p:spPr>
          <a:xfrm>
            <a:off x="4251960" y="1600200"/>
            <a:ext cx="3611880" cy="4526280"/>
          </a:xfrm>
          <a:prstGeom prst="roundRect">
            <a:avLst>
              <a:gd name="adj" fmla="val 2278"/>
            </a:avLst>
          </a:prstGeom>
          <a:solidFill>
            <a:srgbClr val="F4F6FB"/>
          </a:solidFill>
          <a:ln w="12700">
            <a:solidFill>
              <a:srgbClr val="F4F6FB"/>
            </a:solidFill>
            <a:prstDash val="solid"/>
          </a:ln>
        </p:spPr>
      </p:sp>
      <p:sp>
        <p:nvSpPr>
          <p:cNvPr id="12" name="Shape 10"/>
          <p:cNvSpPr/>
          <p:nvPr/>
        </p:nvSpPr>
        <p:spPr>
          <a:xfrm>
            <a:off x="4251960" y="1600200"/>
            <a:ext cx="3611880" cy="73152"/>
          </a:xfrm>
          <a:prstGeom prst="rect">
            <a:avLst/>
          </a:prstGeom>
          <a:solidFill>
            <a:srgbClr val="E3A23D"/>
          </a:solidFill>
          <a:ln/>
        </p:spPr>
      </p:sp>
      <p:sp>
        <p:nvSpPr>
          <p:cNvPr id="13" name="Text 11"/>
          <p:cNvSpPr/>
          <p:nvPr/>
        </p:nvSpPr>
        <p:spPr>
          <a:xfrm>
            <a:off x="4526280" y="1828800"/>
            <a:ext cx="3063240" cy="411480"/>
          </a:xfrm>
          <a:prstGeom prst="rect">
            <a:avLst/>
          </a:prstGeom>
          <a:noFill/>
          <a:ln/>
        </p:spPr>
        <p:txBody>
          <a:bodyPr wrap="square" rtlCol="0" anchor="ctr"/>
          <a:lstStyle/>
          <a:p>
            <a:pPr indent="0" marL="0">
              <a:buNone/>
            </a:pPr>
            <a:r>
              <a:rPr lang="en-US" sz="1800" b="1" dirty="0">
                <a:solidFill>
                  <a:srgbClr val="1B2A4A"/>
                </a:solidFill>
                <a:latin typeface="Cambria" pitchFamily="34" charset="0"/>
                <a:ea typeface="Cambria" pitchFamily="34" charset="-122"/>
                <a:cs typeface="Cambria" pitchFamily="34" charset="-120"/>
              </a:rPr>
              <a:t>Medium-Term</a:t>
            </a:r>
            <a:endParaRPr lang="en-US" sz="1800" dirty="0"/>
          </a:p>
        </p:txBody>
      </p:sp>
      <p:sp>
        <p:nvSpPr>
          <p:cNvPr id="14" name="Text 12"/>
          <p:cNvSpPr/>
          <p:nvPr/>
        </p:nvSpPr>
        <p:spPr>
          <a:xfrm>
            <a:off x="4526280" y="2240280"/>
            <a:ext cx="3063240" cy="274320"/>
          </a:xfrm>
          <a:prstGeom prst="rect">
            <a:avLst/>
          </a:prstGeom>
          <a:noFill/>
          <a:ln/>
        </p:spPr>
        <p:txBody>
          <a:bodyPr wrap="square" rtlCol="0" anchor="ctr"/>
          <a:lstStyle/>
          <a:p>
            <a:pPr indent="0" marL="0">
              <a:buNone/>
            </a:pPr>
            <a:r>
              <a:rPr lang="en-US" sz="1050" b="1" spc="100" kern="0" dirty="0">
                <a:solidFill>
                  <a:srgbClr val="E3A23D"/>
                </a:solidFill>
                <a:latin typeface="Calibri" pitchFamily="34" charset="0"/>
                <a:ea typeface="Calibri" pitchFamily="34" charset="-122"/>
                <a:cs typeface="Calibri" pitchFamily="34" charset="-120"/>
              </a:rPr>
              <a:t>3–12 MONTHS</a:t>
            </a:r>
            <a:endParaRPr lang="en-US" sz="1050" dirty="0"/>
          </a:p>
        </p:txBody>
      </p:sp>
      <p:sp>
        <p:nvSpPr>
          <p:cNvPr id="15" name="Text 13"/>
          <p:cNvSpPr/>
          <p:nvPr/>
        </p:nvSpPr>
        <p:spPr>
          <a:xfrm>
            <a:off x="4526280" y="2651760"/>
            <a:ext cx="3063240" cy="914400"/>
          </a:xfrm>
          <a:prstGeom prst="rect">
            <a:avLst/>
          </a:prstGeom>
          <a:noFill/>
          <a:ln/>
        </p:spPr>
        <p:txBody>
          <a:bodyPr wrap="square" rtlCol="0" anchor="ctr"/>
          <a:lstStyle/>
          <a:p>
            <a:pPr indent="0" marL="0">
              <a:lnSpc>
                <a:spcPct val="115000"/>
              </a:lnSpc>
              <a:buNone/>
            </a:pPr>
            <a:r>
              <a:rPr lang="en-US" sz="1150" dirty="0">
                <a:solidFill>
                  <a:srgbClr val="1B2A4A"/>
                </a:solidFill>
                <a:latin typeface="Calibri" pitchFamily="34" charset="0"/>
                <a:ea typeface="Calibri" pitchFamily="34" charset="-122"/>
                <a:cs typeface="Calibri" pitchFamily="34" charset="-120"/>
              </a:rPr>
              <a:t>•  New-hire anchoring programme: mentors, 30-60-90 day check-ins, role clarity</a:t>
            </a:r>
            <a:endParaRPr lang="en-US" sz="1150" dirty="0"/>
          </a:p>
        </p:txBody>
      </p:sp>
      <p:sp>
        <p:nvSpPr>
          <p:cNvPr id="16" name="Text 14"/>
          <p:cNvSpPr/>
          <p:nvPr/>
        </p:nvSpPr>
        <p:spPr>
          <a:xfrm>
            <a:off x="4526280" y="3611880"/>
            <a:ext cx="3063240" cy="914400"/>
          </a:xfrm>
          <a:prstGeom prst="rect">
            <a:avLst/>
          </a:prstGeom>
          <a:noFill/>
          <a:ln/>
        </p:spPr>
        <p:txBody>
          <a:bodyPr wrap="square" rtlCol="0" anchor="ctr"/>
          <a:lstStyle/>
          <a:p>
            <a:pPr indent="0" marL="0">
              <a:lnSpc>
                <a:spcPct val="115000"/>
              </a:lnSpc>
              <a:buNone/>
            </a:pPr>
            <a:r>
              <a:rPr lang="en-US" sz="1150" dirty="0">
                <a:solidFill>
                  <a:srgbClr val="1B2A4A"/>
                </a:solidFill>
                <a:latin typeface="Calibri" pitchFamily="34" charset="0"/>
                <a:ea typeface="Calibri" pitchFamily="34" charset="-122"/>
                <a:cs typeface="Calibri" pitchFamily="34" charset="-120"/>
              </a:rPr>
              <a:t>•  Post-promotion transition support to soften the "promoted into overwhelm" effect</a:t>
            </a:r>
            <a:endParaRPr lang="en-US" sz="1150" dirty="0"/>
          </a:p>
        </p:txBody>
      </p:sp>
      <p:sp>
        <p:nvSpPr>
          <p:cNvPr id="17" name="Text 15"/>
          <p:cNvSpPr/>
          <p:nvPr/>
        </p:nvSpPr>
        <p:spPr>
          <a:xfrm>
            <a:off x="4526280" y="4572000"/>
            <a:ext cx="3063240" cy="914400"/>
          </a:xfrm>
          <a:prstGeom prst="rect">
            <a:avLst/>
          </a:prstGeom>
          <a:noFill/>
          <a:ln/>
        </p:spPr>
        <p:txBody>
          <a:bodyPr wrap="square" rtlCol="0" anchor="ctr"/>
          <a:lstStyle/>
          <a:p>
            <a:pPr indent="0" marL="0">
              <a:lnSpc>
                <a:spcPct val="115000"/>
              </a:lnSpc>
              <a:buNone/>
            </a:pPr>
            <a:r>
              <a:rPr lang="en-US" sz="1150" dirty="0">
                <a:solidFill>
                  <a:srgbClr val="1B2A4A"/>
                </a:solidFill>
                <a:latin typeface="Calibri" pitchFamily="34" charset="0"/>
                <a:ea typeface="Calibri" pitchFamily="34" charset="-122"/>
                <a:cs typeface="Calibri" pitchFamily="34" charset="-120"/>
              </a:rPr>
              <a:t>•  Targeted engagement diagnostic for Sales</a:t>
            </a:r>
            <a:endParaRPr lang="en-US" sz="1150" dirty="0"/>
          </a:p>
        </p:txBody>
      </p:sp>
      <p:sp>
        <p:nvSpPr>
          <p:cNvPr id="18" name="Text 16"/>
          <p:cNvSpPr/>
          <p:nvPr/>
        </p:nvSpPr>
        <p:spPr>
          <a:xfrm>
            <a:off x="4526280" y="5532120"/>
            <a:ext cx="3063240" cy="914400"/>
          </a:xfrm>
          <a:prstGeom prst="rect">
            <a:avLst/>
          </a:prstGeom>
          <a:noFill/>
          <a:ln/>
        </p:spPr>
        <p:txBody>
          <a:bodyPr wrap="square" rtlCol="0" anchor="ctr"/>
          <a:lstStyle/>
          <a:p>
            <a:pPr indent="0" marL="0">
              <a:lnSpc>
                <a:spcPct val="115000"/>
              </a:lnSpc>
              <a:buNone/>
            </a:pPr>
            <a:r>
              <a:rPr lang="en-US" sz="1150" dirty="0">
                <a:solidFill>
                  <a:srgbClr val="1B2A4A"/>
                </a:solidFill>
                <a:latin typeface="Calibri" pitchFamily="34" charset="0"/>
                <a:ea typeface="Calibri" pitchFamily="34" charset="-122"/>
                <a:cs typeface="Calibri" pitchFamily="34" charset="-120"/>
              </a:rPr>
              <a:t>•  Review travel policy for the 86 frequent-travel + overtime employees</a:t>
            </a:r>
            <a:endParaRPr lang="en-US" sz="1150" dirty="0"/>
          </a:p>
        </p:txBody>
      </p:sp>
      <p:sp>
        <p:nvSpPr>
          <p:cNvPr id="19" name="Shape 17"/>
          <p:cNvSpPr/>
          <p:nvPr/>
        </p:nvSpPr>
        <p:spPr>
          <a:xfrm>
            <a:off x="8046720" y="1600200"/>
            <a:ext cx="3611880" cy="4526280"/>
          </a:xfrm>
          <a:prstGeom prst="roundRect">
            <a:avLst>
              <a:gd name="adj" fmla="val 2278"/>
            </a:avLst>
          </a:prstGeom>
          <a:solidFill>
            <a:srgbClr val="F4F6FB"/>
          </a:solidFill>
          <a:ln w="12700">
            <a:solidFill>
              <a:srgbClr val="F4F6FB"/>
            </a:solidFill>
            <a:prstDash val="solid"/>
          </a:ln>
        </p:spPr>
      </p:sp>
      <p:sp>
        <p:nvSpPr>
          <p:cNvPr id="20" name="Shape 18"/>
          <p:cNvSpPr/>
          <p:nvPr/>
        </p:nvSpPr>
        <p:spPr>
          <a:xfrm>
            <a:off x="8046720" y="1600200"/>
            <a:ext cx="3611880" cy="73152"/>
          </a:xfrm>
          <a:prstGeom prst="rect">
            <a:avLst/>
          </a:prstGeom>
          <a:solidFill>
            <a:srgbClr val="3E9C6E"/>
          </a:solidFill>
          <a:ln/>
        </p:spPr>
      </p:sp>
      <p:sp>
        <p:nvSpPr>
          <p:cNvPr id="21" name="Text 19"/>
          <p:cNvSpPr/>
          <p:nvPr/>
        </p:nvSpPr>
        <p:spPr>
          <a:xfrm>
            <a:off x="8321040" y="1828800"/>
            <a:ext cx="3063240" cy="411480"/>
          </a:xfrm>
          <a:prstGeom prst="rect">
            <a:avLst/>
          </a:prstGeom>
          <a:noFill/>
          <a:ln/>
        </p:spPr>
        <p:txBody>
          <a:bodyPr wrap="square" rtlCol="0" anchor="ctr"/>
          <a:lstStyle/>
          <a:p>
            <a:pPr indent="0" marL="0">
              <a:buNone/>
            </a:pPr>
            <a:r>
              <a:rPr lang="en-US" sz="1800" b="1" dirty="0">
                <a:solidFill>
                  <a:srgbClr val="1B2A4A"/>
                </a:solidFill>
                <a:latin typeface="Cambria" pitchFamily="34" charset="0"/>
                <a:ea typeface="Cambria" pitchFamily="34" charset="-122"/>
                <a:cs typeface="Cambria" pitchFamily="34" charset="-120"/>
              </a:rPr>
              <a:t>Long-Term</a:t>
            </a:r>
            <a:endParaRPr lang="en-US" sz="1800" dirty="0"/>
          </a:p>
        </p:txBody>
      </p:sp>
      <p:sp>
        <p:nvSpPr>
          <p:cNvPr id="22" name="Text 20"/>
          <p:cNvSpPr/>
          <p:nvPr/>
        </p:nvSpPr>
        <p:spPr>
          <a:xfrm>
            <a:off x="8321040" y="2240280"/>
            <a:ext cx="3063240" cy="274320"/>
          </a:xfrm>
          <a:prstGeom prst="rect">
            <a:avLst/>
          </a:prstGeom>
          <a:noFill/>
          <a:ln/>
        </p:spPr>
        <p:txBody>
          <a:bodyPr wrap="square" rtlCol="0" anchor="ctr"/>
          <a:lstStyle/>
          <a:p>
            <a:pPr indent="0" marL="0">
              <a:buNone/>
            </a:pPr>
            <a:r>
              <a:rPr lang="en-US" sz="1050" b="1" spc="100" kern="0" dirty="0">
                <a:solidFill>
                  <a:srgbClr val="3E9C6E"/>
                </a:solidFill>
                <a:latin typeface="Calibri" pitchFamily="34" charset="0"/>
                <a:ea typeface="Calibri" pitchFamily="34" charset="-122"/>
                <a:cs typeface="Calibri" pitchFamily="34" charset="-120"/>
              </a:rPr>
              <a:t>12+ MONTHS</a:t>
            </a:r>
            <a:endParaRPr lang="en-US" sz="1050" dirty="0"/>
          </a:p>
        </p:txBody>
      </p:sp>
      <p:sp>
        <p:nvSpPr>
          <p:cNvPr id="23" name="Text 21"/>
          <p:cNvSpPr/>
          <p:nvPr/>
        </p:nvSpPr>
        <p:spPr>
          <a:xfrm>
            <a:off x="8321040" y="2651760"/>
            <a:ext cx="3063240" cy="914400"/>
          </a:xfrm>
          <a:prstGeom prst="rect">
            <a:avLst/>
          </a:prstGeom>
          <a:noFill/>
          <a:ln/>
        </p:spPr>
        <p:txBody>
          <a:bodyPr wrap="square" rtlCol="0" anchor="ctr"/>
          <a:lstStyle/>
          <a:p>
            <a:pPr indent="0" marL="0">
              <a:lnSpc>
                <a:spcPct val="115000"/>
              </a:lnSpc>
              <a:buNone/>
            </a:pPr>
            <a:r>
              <a:rPr lang="en-US" sz="1150" dirty="0">
                <a:solidFill>
                  <a:srgbClr val="1B2A4A"/>
                </a:solidFill>
                <a:latin typeface="Calibri" pitchFamily="34" charset="0"/>
                <a:ea typeface="Calibri" pitchFamily="34" charset="-122"/>
                <a:cs typeface="Calibri" pitchFamily="34" charset="-120"/>
              </a:rPr>
              <a:t>•  Operationalise all 5 KPIs into a quarterly HR monitoring dashboard</a:t>
            </a:r>
            <a:endParaRPr lang="en-US" sz="1150" dirty="0"/>
          </a:p>
        </p:txBody>
      </p:sp>
      <p:sp>
        <p:nvSpPr>
          <p:cNvPr id="24" name="Text 22"/>
          <p:cNvSpPr/>
          <p:nvPr/>
        </p:nvSpPr>
        <p:spPr>
          <a:xfrm>
            <a:off x="8321040" y="3611880"/>
            <a:ext cx="3063240" cy="914400"/>
          </a:xfrm>
          <a:prstGeom prst="rect">
            <a:avLst/>
          </a:prstGeom>
          <a:noFill/>
          <a:ln/>
        </p:spPr>
        <p:txBody>
          <a:bodyPr wrap="square" rtlCol="0" anchor="ctr"/>
          <a:lstStyle/>
          <a:p>
            <a:pPr indent="0" marL="0">
              <a:lnSpc>
                <a:spcPct val="115000"/>
              </a:lnSpc>
              <a:buNone/>
            </a:pPr>
            <a:r>
              <a:rPr lang="en-US" sz="1150" dirty="0">
                <a:solidFill>
                  <a:srgbClr val="1B2A4A"/>
                </a:solidFill>
                <a:latin typeface="Calibri" pitchFamily="34" charset="0"/>
                <a:ea typeface="Calibri" pitchFamily="34" charset="-122"/>
                <a:cs typeface="Calibri" pitchFamily="34" charset="-120"/>
              </a:rPr>
              <a:t>•  Hybrid/flexible work options for employees commuting 15km+</a:t>
            </a:r>
            <a:endParaRPr lang="en-US" sz="1150" dirty="0"/>
          </a:p>
        </p:txBody>
      </p:sp>
      <p:sp>
        <p:nvSpPr>
          <p:cNvPr id="25" name="Text 23"/>
          <p:cNvSpPr/>
          <p:nvPr/>
        </p:nvSpPr>
        <p:spPr>
          <a:xfrm>
            <a:off x="8321040" y="4572000"/>
            <a:ext cx="3063240" cy="914400"/>
          </a:xfrm>
          <a:prstGeom prst="rect">
            <a:avLst/>
          </a:prstGeom>
          <a:noFill/>
          <a:ln/>
        </p:spPr>
        <p:txBody>
          <a:bodyPr wrap="square" rtlCol="0" anchor="ctr"/>
          <a:lstStyle/>
          <a:p>
            <a:pPr indent="0" marL="0">
              <a:lnSpc>
                <a:spcPct val="115000"/>
              </a:lnSpc>
              <a:buNone/>
            </a:pPr>
            <a:r>
              <a:rPr lang="en-US" sz="1150" dirty="0">
                <a:solidFill>
                  <a:srgbClr val="1B2A4A"/>
                </a:solidFill>
                <a:latin typeface="Calibri" pitchFamily="34" charset="0"/>
                <a:ea typeface="Calibri" pitchFamily="34" charset="-122"/>
                <a:cs typeface="Calibri" pitchFamily="34" charset="-120"/>
              </a:rPr>
              <a:t>•  Manager training on the Work-Life-Balance paradox</a:t>
            </a:r>
            <a:endParaRPr lang="en-US" sz="1150" dirty="0"/>
          </a:p>
        </p:txBody>
      </p:sp>
      <p:sp>
        <p:nvSpPr>
          <p:cNvPr id="26" name="Text 24"/>
          <p:cNvSpPr/>
          <p:nvPr/>
        </p:nvSpPr>
        <p:spPr>
          <a:xfrm>
            <a:off x="457200" y="6473952"/>
            <a:ext cx="7315200" cy="274320"/>
          </a:xfrm>
          <a:prstGeom prst="rect">
            <a:avLst/>
          </a:prstGeom>
          <a:noFill/>
          <a:ln/>
        </p:spPr>
        <p:txBody>
          <a:bodyPr wrap="square" rtlCol="0" anchor="ctr"/>
          <a:lstStyle/>
          <a:p>
            <a:pPr indent="0" marL="0">
              <a:buNone/>
            </a:pPr>
            <a:r>
              <a:rPr lang="en-US" sz="1000" dirty="0">
                <a:solidFill>
                  <a:srgbClr val="A6AFC7"/>
                </a:solidFill>
                <a:latin typeface="Calibri" pitchFamily="34" charset="0"/>
                <a:ea typeface="Calibri" pitchFamily="34" charset="-122"/>
                <a:cs typeface="Calibri" pitchFamily="34" charset="-120"/>
              </a:rPr>
              <a:t>Palo Alto Networks — HR Analytics Diagnostic</a:t>
            </a:r>
            <a:endParaRPr lang="en-US" sz="1000" dirty="0"/>
          </a:p>
        </p:txBody>
      </p:sp>
      <p:sp>
        <p:nvSpPr>
          <p:cNvPr id="27" name="Text 25"/>
          <p:cNvSpPr/>
          <p:nvPr/>
        </p:nvSpPr>
        <p:spPr>
          <a:xfrm>
            <a:off x="11567160" y="6473952"/>
            <a:ext cx="457200" cy="274320"/>
          </a:xfrm>
          <a:prstGeom prst="rect">
            <a:avLst/>
          </a:prstGeom>
          <a:noFill/>
          <a:ln/>
        </p:spPr>
        <p:txBody>
          <a:bodyPr wrap="square" rtlCol="0" anchor="ctr"/>
          <a:lstStyle/>
          <a:p>
            <a:pPr algn="r" indent="0" marL="0">
              <a:buNone/>
            </a:pPr>
            <a:r>
              <a:rPr lang="en-US" sz="1000" dirty="0">
                <a:solidFill>
                  <a:srgbClr val="A6AFC7"/>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B2A4A"/>
        </a:solidFill>
      </p:bgPr>
    </p:bg>
    <p:spTree>
      <p:nvGrpSpPr>
        <p:cNvPr id="1" name=""/>
        <p:cNvGrpSpPr/>
        <p:nvPr/>
      </p:nvGrpSpPr>
      <p:grpSpPr>
        <a:xfrm>
          <a:off x="0" y="0"/>
          <a:ext cx="0" cy="0"/>
          <a:chOff x="0" y="0"/>
          <a:chExt cx="0" cy="0"/>
        </a:xfrm>
      </p:grpSpPr>
      <p:sp>
        <p:nvSpPr>
          <p:cNvPr id="2" name="Text 0"/>
          <p:cNvSpPr/>
          <p:nvPr/>
        </p:nvSpPr>
        <p:spPr>
          <a:xfrm>
            <a:off x="457200" y="365760"/>
            <a:ext cx="5486400" cy="320040"/>
          </a:xfrm>
          <a:prstGeom prst="rect">
            <a:avLst/>
          </a:prstGeom>
          <a:noFill/>
          <a:ln/>
        </p:spPr>
        <p:txBody>
          <a:bodyPr wrap="square" rtlCol="0" anchor="ctr"/>
          <a:lstStyle/>
          <a:p>
            <a:pPr indent="0" marL="0">
              <a:buNone/>
            </a:pPr>
            <a:r>
              <a:rPr lang="en-US" sz="1200" b="1" spc="200" kern="0" dirty="0">
                <a:solidFill>
                  <a:srgbClr val="8FA3D6"/>
                </a:solidFill>
                <a:latin typeface="Calibri" pitchFamily="34" charset="0"/>
                <a:ea typeface="Calibri" pitchFamily="34" charset="-122"/>
                <a:cs typeface="Calibri" pitchFamily="34" charset="-120"/>
              </a:rPr>
              <a:t>CONCLUSION</a:t>
            </a:r>
            <a:endParaRPr lang="en-US" sz="1200" dirty="0"/>
          </a:p>
        </p:txBody>
      </p:sp>
      <p:sp>
        <p:nvSpPr>
          <p:cNvPr id="3" name="Text 1"/>
          <p:cNvSpPr/>
          <p:nvPr/>
        </p:nvSpPr>
        <p:spPr>
          <a:xfrm>
            <a:off x="457200" y="914400"/>
            <a:ext cx="10058400" cy="64008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A structural challenge, not a cultural one</a:t>
            </a:r>
            <a:endParaRPr lang="en-US" sz="3000" dirty="0"/>
          </a:p>
        </p:txBody>
      </p:sp>
      <p:sp>
        <p:nvSpPr>
          <p:cNvPr id="4" name="Text 2"/>
          <p:cNvSpPr/>
          <p:nvPr/>
        </p:nvSpPr>
        <p:spPr>
          <a:xfrm>
            <a:off x="457200" y="1737360"/>
            <a:ext cx="7589520" cy="1737360"/>
          </a:xfrm>
          <a:prstGeom prst="rect">
            <a:avLst/>
          </a:prstGeom>
          <a:noFill/>
          <a:ln/>
        </p:spPr>
        <p:txBody>
          <a:bodyPr wrap="square" rtlCol="0" anchor="ctr"/>
          <a:lstStyle/>
          <a:p>
            <a:pPr indent="0" marL="0">
              <a:lnSpc>
                <a:spcPct val="130000"/>
              </a:lnSpc>
              <a:buNone/>
            </a:pPr>
            <a:r>
              <a:rPr lang="en-US" sz="1500" dirty="0">
                <a:solidFill>
                  <a:srgbClr val="C4D0EE"/>
                </a:solidFill>
                <a:latin typeface="Calibri" pitchFamily="34" charset="0"/>
                <a:ea typeface="Calibri" pitchFamily="34" charset="-122"/>
                <a:cs typeface="Calibri" pitchFamily="34" charset="-120"/>
              </a:rPr>
              <a:t>The most overloaded employees at Palo Alto Networks are simultaneously among the most engaged — and the most likely to leave. Overtime, stress-stacking, and early-tenure attrition point to workload and structure, not motivation, as the levers that matter most.</a:t>
            </a:r>
            <a:endParaRPr lang="en-US" sz="1500" dirty="0"/>
          </a:p>
        </p:txBody>
      </p:sp>
      <p:sp>
        <p:nvSpPr>
          <p:cNvPr id="5" name="Text 3"/>
          <p:cNvSpPr/>
          <p:nvPr/>
        </p:nvSpPr>
        <p:spPr>
          <a:xfrm>
            <a:off x="457200" y="3566160"/>
            <a:ext cx="7589520" cy="1463040"/>
          </a:xfrm>
          <a:prstGeom prst="rect">
            <a:avLst/>
          </a:prstGeom>
          <a:noFill/>
          <a:ln/>
        </p:spPr>
        <p:txBody>
          <a:bodyPr wrap="square" rtlCol="0" anchor="ctr"/>
          <a:lstStyle/>
          <a:p>
            <a:pPr indent="0" marL="0">
              <a:lnSpc>
                <a:spcPct val="130000"/>
              </a:lnSpc>
              <a:buNone/>
            </a:pPr>
            <a:r>
              <a:rPr lang="en-US" sz="1400" i="1" dirty="0">
                <a:solidFill>
                  <a:srgbClr val="9AA8CC"/>
                </a:solidFill>
                <a:latin typeface="Calibri" pitchFamily="34" charset="0"/>
                <a:ea typeface="Calibri" pitchFamily="34" charset="-122"/>
                <a:cs typeface="Calibri" pitchFamily="34" charset="-120"/>
              </a:rPr>
              <a:t>Proactive, metrics-driven HR management — moving from retrospective reporting to preventive early warning — is the highest-leverage opportunity to protect the human-capital investment underpinning competitive advantage.</a:t>
            </a:r>
            <a:endParaRPr lang="en-US" sz="1400" dirty="0"/>
          </a:p>
        </p:txBody>
      </p:sp>
      <p:sp>
        <p:nvSpPr>
          <p:cNvPr id="6" name="Shape 4"/>
          <p:cNvSpPr/>
          <p:nvPr/>
        </p:nvSpPr>
        <p:spPr>
          <a:xfrm>
            <a:off x="8366760" y="1737360"/>
            <a:ext cx="3337560" cy="4480560"/>
          </a:xfrm>
          <a:prstGeom prst="roundRect">
            <a:avLst>
              <a:gd name="adj" fmla="val 2466"/>
            </a:avLst>
          </a:prstGeom>
          <a:solidFill>
            <a:srgbClr val="24365C"/>
          </a:solidFill>
          <a:ln w="12700">
            <a:solidFill>
              <a:srgbClr val="3E4E78"/>
            </a:solidFill>
            <a:prstDash val="solid"/>
          </a:ln>
        </p:spPr>
      </p:sp>
      <p:sp>
        <p:nvSpPr>
          <p:cNvPr id="7" name="Text 5"/>
          <p:cNvSpPr/>
          <p:nvPr/>
        </p:nvSpPr>
        <p:spPr>
          <a:xfrm>
            <a:off x="8641080" y="1965960"/>
            <a:ext cx="2788920" cy="274320"/>
          </a:xfrm>
          <a:prstGeom prst="rect">
            <a:avLst/>
          </a:prstGeom>
          <a:noFill/>
          <a:ln/>
        </p:spPr>
        <p:txBody>
          <a:bodyPr wrap="square" rtlCol="0" anchor="ctr"/>
          <a:lstStyle/>
          <a:p>
            <a:pPr indent="0" marL="0">
              <a:buNone/>
            </a:pPr>
            <a:r>
              <a:rPr lang="en-US" sz="1100" b="1" spc="100" kern="0" dirty="0">
                <a:solidFill>
                  <a:srgbClr val="D6584F"/>
                </a:solidFill>
                <a:latin typeface="Calibri" pitchFamily="34" charset="0"/>
                <a:ea typeface="Calibri" pitchFamily="34" charset="-122"/>
                <a:cs typeface="Calibri" pitchFamily="34" charset="-120"/>
              </a:rPr>
              <a:t>KEYWORDS</a:t>
            </a:r>
            <a:endParaRPr lang="en-US" sz="1100" dirty="0"/>
          </a:p>
        </p:txBody>
      </p:sp>
      <p:sp>
        <p:nvSpPr>
          <p:cNvPr id="8" name="Text 6"/>
          <p:cNvSpPr/>
          <p:nvPr/>
        </p:nvSpPr>
        <p:spPr>
          <a:xfrm>
            <a:off x="8641080" y="2331720"/>
            <a:ext cx="2788920" cy="3749040"/>
          </a:xfrm>
          <a:prstGeom prst="rect">
            <a:avLst/>
          </a:prstGeom>
          <a:noFill/>
          <a:ln/>
        </p:spPr>
        <p:txBody>
          <a:bodyPr wrap="square" rtlCol="0" anchor="ctr"/>
          <a:lstStyle/>
          <a:p>
            <a:pPr indent="0" marL="0">
              <a:lnSpc>
                <a:spcPct val="160000"/>
              </a:lnSpc>
              <a:buNone/>
            </a:pPr>
            <a:r>
              <a:rPr lang="en-US" sz="1300" dirty="0">
                <a:solidFill>
                  <a:srgbClr val="D6DEF2"/>
                </a:solidFill>
                <a:latin typeface="Calibri" pitchFamily="34" charset="0"/>
                <a:ea typeface="Calibri" pitchFamily="34" charset="-122"/>
                <a:cs typeface="Calibri" pitchFamily="34" charset="-120"/>
              </a:rPr>
              <a:t>Employee Engagement</a:t>
            </a:r>
            <a:endParaRPr lang="en-US" sz="1300" dirty="0"/>
          </a:p>
          <a:p>
            <a:pPr indent="0" marL="0">
              <a:lnSpc>
                <a:spcPct val="160000"/>
              </a:lnSpc>
              <a:buNone/>
            </a:pPr>
            <a:r>
              <a:rPr lang="en-US" sz="1300" dirty="0">
                <a:solidFill>
                  <a:srgbClr val="D6DEF2"/>
                </a:solidFill>
                <a:latin typeface="Calibri" pitchFamily="34" charset="0"/>
                <a:ea typeface="Calibri" pitchFamily="34" charset="-122"/>
                <a:cs typeface="Calibri" pitchFamily="34" charset="-120"/>
              </a:rPr>
              <a:t>Burnout Risk</a:t>
            </a:r>
            <a:endParaRPr lang="en-US" sz="1300" dirty="0"/>
          </a:p>
          <a:p>
            <a:pPr indent="0" marL="0">
              <a:lnSpc>
                <a:spcPct val="160000"/>
              </a:lnSpc>
              <a:buNone/>
            </a:pPr>
            <a:r>
              <a:rPr lang="en-US" sz="1300" dirty="0">
                <a:solidFill>
                  <a:srgbClr val="D6DEF2"/>
                </a:solidFill>
                <a:latin typeface="Calibri" pitchFamily="34" charset="0"/>
                <a:ea typeface="Calibri" pitchFamily="34" charset="-122"/>
                <a:cs typeface="Calibri" pitchFamily="34" charset="-120"/>
              </a:rPr>
              <a:t>Attrition Analysis</a:t>
            </a:r>
            <a:endParaRPr lang="en-US" sz="1300" dirty="0"/>
          </a:p>
          <a:p>
            <a:pPr indent="0" marL="0">
              <a:lnSpc>
                <a:spcPct val="160000"/>
              </a:lnSpc>
              <a:buNone/>
            </a:pPr>
            <a:r>
              <a:rPr lang="en-US" sz="1300" dirty="0">
                <a:solidFill>
                  <a:srgbClr val="D6DEF2"/>
                </a:solidFill>
                <a:latin typeface="Calibri" pitchFamily="34" charset="0"/>
                <a:ea typeface="Calibri" pitchFamily="34" charset="-122"/>
                <a:cs typeface="Calibri" pitchFamily="34" charset="-120"/>
              </a:rPr>
              <a:t>HR Analytics</a:t>
            </a:r>
            <a:endParaRPr lang="en-US" sz="1300" dirty="0"/>
          </a:p>
          <a:p>
            <a:pPr indent="0" marL="0">
              <a:lnSpc>
                <a:spcPct val="160000"/>
              </a:lnSpc>
              <a:buNone/>
            </a:pPr>
            <a:r>
              <a:rPr lang="en-US" sz="1300" dirty="0">
                <a:solidFill>
                  <a:srgbClr val="D6DEF2"/>
                </a:solidFill>
                <a:latin typeface="Calibri" pitchFamily="34" charset="0"/>
                <a:ea typeface="Calibri" pitchFamily="34" charset="-122"/>
                <a:cs typeface="Calibri" pitchFamily="34" charset="-120"/>
              </a:rPr>
              <a:t>Work-Life Balance</a:t>
            </a:r>
            <a:endParaRPr lang="en-US" sz="1300" dirty="0"/>
          </a:p>
          <a:p>
            <a:pPr indent="0" marL="0">
              <a:lnSpc>
                <a:spcPct val="160000"/>
              </a:lnSpc>
              <a:buNone/>
            </a:pPr>
            <a:r>
              <a:rPr lang="en-US" sz="1300" dirty="0">
                <a:solidFill>
                  <a:srgbClr val="D6DEF2"/>
                </a:solidFill>
                <a:latin typeface="Calibri" pitchFamily="34" charset="0"/>
                <a:ea typeface="Calibri" pitchFamily="34" charset="-122"/>
                <a:cs typeface="Calibri" pitchFamily="34" charset="-120"/>
              </a:rPr>
              <a:t>Workload Stress</a:t>
            </a:r>
            <a:endParaRPr lang="en-US" sz="1300" dirty="0"/>
          </a:p>
          <a:p>
            <a:pPr indent="0" marL="0">
              <a:lnSpc>
                <a:spcPct val="160000"/>
              </a:lnSpc>
              <a:buNone/>
            </a:pPr>
            <a:r>
              <a:rPr lang="en-US" sz="1300" dirty="0">
                <a:solidFill>
                  <a:srgbClr val="D6DEF2"/>
                </a:solidFill>
                <a:latin typeface="Calibri" pitchFamily="34" charset="0"/>
                <a:ea typeface="Calibri" pitchFamily="34" charset="-122"/>
                <a:cs typeface="Calibri" pitchFamily="34" charset="-120"/>
              </a:rPr>
              <a:t>Exploratory Data Analysis</a:t>
            </a:r>
            <a:endParaRPr lang="en-US" sz="1300" dirty="0"/>
          </a:p>
        </p:txBody>
      </p:sp>
      <p:sp>
        <p:nvSpPr>
          <p:cNvPr id="9" name="Text 7"/>
          <p:cNvSpPr/>
          <p:nvPr/>
        </p:nvSpPr>
        <p:spPr>
          <a:xfrm>
            <a:off x="11567160" y="6473952"/>
            <a:ext cx="457200" cy="274320"/>
          </a:xfrm>
          <a:prstGeom prst="rect">
            <a:avLst/>
          </a:prstGeom>
          <a:noFill/>
          <a:ln/>
        </p:spPr>
        <p:txBody>
          <a:bodyPr wrap="square" rtlCol="0" anchor="ctr"/>
          <a:lstStyle/>
          <a:p>
            <a:pPr algn="r" indent="0" marL="0">
              <a:buNone/>
            </a:pPr>
            <a:r>
              <a:rPr lang="en-US" sz="1000" dirty="0">
                <a:solidFill>
                  <a:srgbClr val="8A96B5"/>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2026-07-13T06:08:10Z</dcterms:created>
  <dcterms:modified xsi:type="dcterms:W3CDTF">2026-07-13T06:08:10Z</dcterms:modified>
</cp:coreProperties>
</file>